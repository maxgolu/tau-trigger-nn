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6.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7.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8.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9.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0.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11.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slides/charts/chart12.xml" ContentType="application/vnd.openxmlformats-officedocument.drawingml.chart+xml"/>
  <Override PartName="/ppt/notesSlides/notesSlide42.xml" ContentType="application/vnd.openxmlformats-officedocument.presentationml.notesSlide+xml"/>
  <Override PartName="/ppt/slides/slide43.xml" ContentType="application/vnd.openxmlformats-officedocument.presentationml.slide+xml"/>
  <Override PartName="/ppt/slides/charts/chart13.xml" ContentType="application/vnd.openxmlformats-officedocument.drawingml.chart+xml"/>
  <Override PartName="/ppt/notesSlides/notesSlide43.xml" ContentType="application/vnd.openxmlformats-officedocument.presentationml.notesSlide+xml"/>
  <Override PartName="/ppt/slides/slide44.xml" ContentType="application/vnd.openxmlformats-officedocument.presentationml.slide+xml"/>
  <Override PartName="/ppt/slides/charts/chart14.xml" ContentType="application/vnd.openxmlformats-officedocument.drawingml.chart+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91f3ac696d425f" /><Relationship Type="http://schemas.openxmlformats.org/officeDocument/2006/relationships/extended-properties" Target="/docProps/app.xml" Id="R6173d5d050394f61" /><Relationship Type="http://schemas.openxmlformats.org/officeDocument/2006/relationships/officeDocument" Target="/ppt/presentation.xml" Id="R75cdae0c44ca4849" /></Relationships>
</file>

<file path=ppt/presentation.xml><?xml version="1.0" encoding="utf-8"?>
<p:presentation xmlns:p="http://schemas.openxmlformats.org/presentationml/2006/main">
  <p:sldMasterIdLst>
    <p:sldMasterId xmlns:r="http://schemas.openxmlformats.org/officeDocument/2006/relationships" id="2147483648" r:id="R2f737b7834e44381"/>
  </p:sldMasterIdLst>
  <p:notesMasterIdLst>
    <p:notesMasterId xmlns:r="http://schemas.openxmlformats.org/officeDocument/2006/relationships" r:id="R5fd2f95de62447dd"/>
  </p:notesMasterIdLst>
  <p:sldIdLst>
    <p:sldId xmlns:r="http://schemas.openxmlformats.org/officeDocument/2006/relationships" id="256" r:id="R82929732015049a3"/>
    <p:sldId xmlns:r="http://schemas.openxmlformats.org/officeDocument/2006/relationships" id="257" r:id="R04c3f40b45fb4a6e"/>
    <p:sldId xmlns:r="http://schemas.openxmlformats.org/officeDocument/2006/relationships" id="258" r:id="R3c9bafa99a404f08"/>
    <p:sldId xmlns:r="http://schemas.openxmlformats.org/officeDocument/2006/relationships" id="259" r:id="R835ec20e799e42ff"/>
    <p:sldId xmlns:r="http://schemas.openxmlformats.org/officeDocument/2006/relationships" id="260" r:id="Rebb63dd9d0e243c8"/>
    <p:sldId xmlns:r="http://schemas.openxmlformats.org/officeDocument/2006/relationships" id="261" r:id="Rec98bcd22d0540c7"/>
    <p:sldId xmlns:r="http://schemas.openxmlformats.org/officeDocument/2006/relationships" id="262" r:id="R7d6468873275413f"/>
    <p:sldId xmlns:r="http://schemas.openxmlformats.org/officeDocument/2006/relationships" id="263" r:id="R7a0eb08c9ad94dc8"/>
    <p:sldId xmlns:r="http://schemas.openxmlformats.org/officeDocument/2006/relationships" id="264" r:id="R74a2a2daf3ac4a1b"/>
    <p:sldId xmlns:r="http://schemas.openxmlformats.org/officeDocument/2006/relationships" id="265" r:id="R64ca1912ff894fb4"/>
    <p:sldId xmlns:r="http://schemas.openxmlformats.org/officeDocument/2006/relationships" id="266" r:id="R4741f05f630841a5"/>
    <p:sldId xmlns:r="http://schemas.openxmlformats.org/officeDocument/2006/relationships" id="267" r:id="R5dd99e761e744cf7"/>
    <p:sldId xmlns:r="http://schemas.openxmlformats.org/officeDocument/2006/relationships" id="268" r:id="R21f5b306f47044bb"/>
    <p:sldId xmlns:r="http://schemas.openxmlformats.org/officeDocument/2006/relationships" id="269" r:id="Rc9766b9b4ef6496c"/>
    <p:sldId xmlns:r="http://schemas.openxmlformats.org/officeDocument/2006/relationships" id="270" r:id="Rbc0c24ab44c2459d"/>
    <p:sldId xmlns:r="http://schemas.openxmlformats.org/officeDocument/2006/relationships" id="271" r:id="R4114bc2595964fc2"/>
    <p:sldId xmlns:r="http://schemas.openxmlformats.org/officeDocument/2006/relationships" id="272" r:id="R354cc076e1724570"/>
    <p:sldId xmlns:r="http://schemas.openxmlformats.org/officeDocument/2006/relationships" id="273" r:id="R4b91ae44340a4845"/>
    <p:sldId xmlns:r="http://schemas.openxmlformats.org/officeDocument/2006/relationships" id="274" r:id="R697411bd719541a5"/>
    <p:sldId xmlns:r="http://schemas.openxmlformats.org/officeDocument/2006/relationships" id="275" r:id="Raa3b746ff18b4d97"/>
    <p:sldId xmlns:r="http://schemas.openxmlformats.org/officeDocument/2006/relationships" id="276" r:id="R552f6370f73e4dd1"/>
    <p:sldId xmlns:r="http://schemas.openxmlformats.org/officeDocument/2006/relationships" id="277" r:id="R02eb000feb4f42f7"/>
    <p:sldId xmlns:r="http://schemas.openxmlformats.org/officeDocument/2006/relationships" id="278" r:id="Rd23e69de0ecb4bd6"/>
    <p:sldId xmlns:r="http://schemas.openxmlformats.org/officeDocument/2006/relationships" id="279" r:id="Rf4599ef2bf824541"/>
    <p:sldId xmlns:r="http://schemas.openxmlformats.org/officeDocument/2006/relationships" id="280" r:id="R68c5ec99b0de4a10"/>
    <p:sldId xmlns:r="http://schemas.openxmlformats.org/officeDocument/2006/relationships" id="281" r:id="R2765d3afab524454"/>
    <p:sldId xmlns:r="http://schemas.openxmlformats.org/officeDocument/2006/relationships" id="282" r:id="R7cc4a9627b1f42fa"/>
    <p:sldId xmlns:r="http://schemas.openxmlformats.org/officeDocument/2006/relationships" id="283" r:id="R762dfe194af44074"/>
    <p:sldId xmlns:r="http://schemas.openxmlformats.org/officeDocument/2006/relationships" id="284" r:id="R7702c4aa791a4816"/>
    <p:sldId xmlns:r="http://schemas.openxmlformats.org/officeDocument/2006/relationships" id="285" r:id="R6e6b1ab39c0d43a4"/>
    <p:sldId xmlns:r="http://schemas.openxmlformats.org/officeDocument/2006/relationships" id="286" r:id="R4f13e77997f74888"/>
    <p:sldId xmlns:r="http://schemas.openxmlformats.org/officeDocument/2006/relationships" id="287" r:id="Rc8d38e7cacb34a09"/>
    <p:sldId xmlns:r="http://schemas.openxmlformats.org/officeDocument/2006/relationships" id="288" r:id="R53b9799806a74395"/>
    <p:sldId xmlns:r="http://schemas.openxmlformats.org/officeDocument/2006/relationships" id="289" r:id="R45c9814fb6004fe9"/>
    <p:sldId xmlns:r="http://schemas.openxmlformats.org/officeDocument/2006/relationships" id="290" r:id="Rb20bed3d275e4183"/>
    <p:sldId xmlns:r="http://schemas.openxmlformats.org/officeDocument/2006/relationships" id="291" r:id="Ra23c01c51ea24dff"/>
    <p:sldId xmlns:r="http://schemas.openxmlformats.org/officeDocument/2006/relationships" id="292" r:id="R6c90ba8568694d5d"/>
    <p:sldId xmlns:r="http://schemas.openxmlformats.org/officeDocument/2006/relationships" id="293" r:id="R65982653296f439a"/>
    <p:sldId xmlns:r="http://schemas.openxmlformats.org/officeDocument/2006/relationships" id="294" r:id="Rcbfd1e6b4e714048"/>
    <p:sldId xmlns:r="http://schemas.openxmlformats.org/officeDocument/2006/relationships" id="295" r:id="R6d21f653478149ac"/>
    <p:sldId xmlns:r="http://schemas.openxmlformats.org/officeDocument/2006/relationships" id="296" r:id="Ra96ce8975ae94633"/>
    <p:sldId xmlns:r="http://schemas.openxmlformats.org/officeDocument/2006/relationships" id="297" r:id="Rd7c8985546b14bfa"/>
    <p:sldId xmlns:r="http://schemas.openxmlformats.org/officeDocument/2006/relationships" id="298" r:id="R22230fbde20347cd"/>
    <p:sldId xmlns:r="http://schemas.openxmlformats.org/officeDocument/2006/relationships" id="299" r:id="R4f0d1d332b5f49fe"/>
    <p:sldId xmlns:r="http://schemas.openxmlformats.org/officeDocument/2006/relationships" id="300" r:id="Re3e8f3ec114e48a0"/>
    <p:sldId xmlns:r="http://schemas.openxmlformats.org/officeDocument/2006/relationships" id="301" r:id="R6f79298f333345da"/>
    <p:sldId xmlns:r="http://schemas.openxmlformats.org/officeDocument/2006/relationships" id="302" r:id="R68077fa0994742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b09744746bc4a3c" /><Relationship Type="http://schemas.openxmlformats.org/officeDocument/2006/relationships/slideMaster" Target="/ppt/slideMasters/slideMaster1.xml" Id="R2f737b7834e44381" /><Relationship Type="http://schemas.openxmlformats.org/officeDocument/2006/relationships/notesMaster" Target="/ppt/notesMasters/notesMaster1.xml" Id="R5fd2f95de62447dd" /><Relationship Type="http://schemas.openxmlformats.org/officeDocument/2006/relationships/presProps" Target="/ppt/presProps.xml" Id="R3a9834946d5f4327" /><Relationship Type="http://schemas.openxmlformats.org/officeDocument/2006/relationships/viewProps" Target="/ppt/viewProps.xml" Id="R7b9877fcd9634451" /><Relationship Type="http://schemas.openxmlformats.org/officeDocument/2006/relationships/tableStyles" Target="/ppt/tableStyles.xml" Id="Rc2d6b4bc27374086" /><Relationship Type="http://schemas.openxmlformats.org/officeDocument/2006/relationships/slide" Target="/ppt/slides/slide1.xml" Id="R82929732015049a3" /><Relationship Type="http://schemas.openxmlformats.org/officeDocument/2006/relationships/slide" Target="/ppt/slides/slide2.xml" Id="R04c3f40b45fb4a6e" /><Relationship Type="http://schemas.openxmlformats.org/officeDocument/2006/relationships/slide" Target="/ppt/slides/slide3.xml" Id="R3c9bafa99a404f08" /><Relationship Type="http://schemas.openxmlformats.org/officeDocument/2006/relationships/slide" Target="/ppt/slides/slide4.xml" Id="R835ec20e799e42ff" /><Relationship Type="http://schemas.openxmlformats.org/officeDocument/2006/relationships/slide" Target="/ppt/slides/slide5.xml" Id="Rebb63dd9d0e243c8" /><Relationship Type="http://schemas.openxmlformats.org/officeDocument/2006/relationships/slide" Target="/ppt/slides/slide6.xml" Id="Rec98bcd22d0540c7" /><Relationship Type="http://schemas.openxmlformats.org/officeDocument/2006/relationships/slide" Target="/ppt/slides/slide7.xml" Id="R7d6468873275413f" /><Relationship Type="http://schemas.openxmlformats.org/officeDocument/2006/relationships/slide" Target="/ppt/slides/slide8.xml" Id="R7a0eb08c9ad94dc8" /><Relationship Type="http://schemas.openxmlformats.org/officeDocument/2006/relationships/slide" Target="/ppt/slides/slide9.xml" Id="R74a2a2daf3ac4a1b" /><Relationship Type="http://schemas.openxmlformats.org/officeDocument/2006/relationships/slide" Target="/ppt/slides/slide10.xml" Id="R64ca1912ff894fb4" /><Relationship Type="http://schemas.openxmlformats.org/officeDocument/2006/relationships/slide" Target="/ppt/slides/slide11.xml" Id="R4741f05f630841a5" /><Relationship Type="http://schemas.openxmlformats.org/officeDocument/2006/relationships/slide" Target="/ppt/slides/slide12.xml" Id="R5dd99e761e744cf7" /><Relationship Type="http://schemas.openxmlformats.org/officeDocument/2006/relationships/slide" Target="/ppt/slides/slide13.xml" Id="R21f5b306f47044bb" /><Relationship Type="http://schemas.openxmlformats.org/officeDocument/2006/relationships/slide" Target="/ppt/slides/slide14.xml" Id="Rc9766b9b4ef6496c" /><Relationship Type="http://schemas.openxmlformats.org/officeDocument/2006/relationships/slide" Target="/ppt/slides/slide15.xml" Id="Rbc0c24ab44c2459d" /><Relationship Type="http://schemas.openxmlformats.org/officeDocument/2006/relationships/slide" Target="/ppt/slides/slide16.xml" Id="R4114bc2595964fc2" /><Relationship Type="http://schemas.openxmlformats.org/officeDocument/2006/relationships/slide" Target="/ppt/slides/slide17.xml" Id="R354cc076e1724570" /><Relationship Type="http://schemas.openxmlformats.org/officeDocument/2006/relationships/slide" Target="/ppt/slides/slide18.xml" Id="R4b91ae44340a4845" /><Relationship Type="http://schemas.openxmlformats.org/officeDocument/2006/relationships/slide" Target="/ppt/slides/slide19.xml" Id="R697411bd719541a5" /><Relationship Type="http://schemas.openxmlformats.org/officeDocument/2006/relationships/slide" Target="/ppt/slides/slide20.xml" Id="Raa3b746ff18b4d97" /><Relationship Type="http://schemas.openxmlformats.org/officeDocument/2006/relationships/slide" Target="/ppt/slides/slide21.xml" Id="R552f6370f73e4dd1" /><Relationship Type="http://schemas.openxmlformats.org/officeDocument/2006/relationships/slide" Target="/ppt/slides/slide22.xml" Id="R02eb000feb4f42f7" /><Relationship Type="http://schemas.openxmlformats.org/officeDocument/2006/relationships/slide" Target="/ppt/slides/slide23.xml" Id="Rd23e69de0ecb4bd6" /><Relationship Type="http://schemas.openxmlformats.org/officeDocument/2006/relationships/slide" Target="/ppt/slides/slide24.xml" Id="Rf4599ef2bf824541" /><Relationship Type="http://schemas.openxmlformats.org/officeDocument/2006/relationships/slide" Target="/ppt/slides/slide25.xml" Id="R68c5ec99b0de4a10" /><Relationship Type="http://schemas.openxmlformats.org/officeDocument/2006/relationships/slide" Target="/ppt/slides/slide26.xml" Id="R2765d3afab524454" /><Relationship Type="http://schemas.openxmlformats.org/officeDocument/2006/relationships/slide" Target="/ppt/slides/slide27.xml" Id="R7cc4a9627b1f42fa" /><Relationship Type="http://schemas.openxmlformats.org/officeDocument/2006/relationships/slide" Target="/ppt/slides/slide28.xml" Id="R762dfe194af44074" /><Relationship Type="http://schemas.openxmlformats.org/officeDocument/2006/relationships/slide" Target="/ppt/slides/slide29.xml" Id="R7702c4aa791a4816" /><Relationship Type="http://schemas.openxmlformats.org/officeDocument/2006/relationships/slide" Target="/ppt/slides/slide30.xml" Id="R6e6b1ab39c0d43a4" /><Relationship Type="http://schemas.openxmlformats.org/officeDocument/2006/relationships/slide" Target="/ppt/slides/slide31.xml" Id="R4f13e77997f74888" /><Relationship Type="http://schemas.openxmlformats.org/officeDocument/2006/relationships/slide" Target="/ppt/slides/slide32.xml" Id="Rc8d38e7cacb34a09" /><Relationship Type="http://schemas.openxmlformats.org/officeDocument/2006/relationships/slide" Target="/ppt/slides/slide33.xml" Id="R53b9799806a74395" /><Relationship Type="http://schemas.openxmlformats.org/officeDocument/2006/relationships/slide" Target="/ppt/slides/slide34.xml" Id="R45c9814fb6004fe9" /><Relationship Type="http://schemas.openxmlformats.org/officeDocument/2006/relationships/slide" Target="/ppt/slides/slide35.xml" Id="Rb20bed3d275e4183" /><Relationship Type="http://schemas.openxmlformats.org/officeDocument/2006/relationships/slide" Target="/ppt/slides/slide36.xml" Id="Ra23c01c51ea24dff" /><Relationship Type="http://schemas.openxmlformats.org/officeDocument/2006/relationships/slide" Target="/ppt/slides/slide37.xml" Id="R6c90ba8568694d5d" /><Relationship Type="http://schemas.openxmlformats.org/officeDocument/2006/relationships/slide" Target="/ppt/slides/slide38.xml" Id="R65982653296f439a" /><Relationship Type="http://schemas.openxmlformats.org/officeDocument/2006/relationships/slide" Target="/ppt/slides/slide39.xml" Id="Rcbfd1e6b4e714048" /><Relationship Type="http://schemas.openxmlformats.org/officeDocument/2006/relationships/slide" Target="/ppt/slides/slide40.xml" Id="R6d21f653478149ac" /><Relationship Type="http://schemas.openxmlformats.org/officeDocument/2006/relationships/slide" Target="/ppt/slides/slide41.xml" Id="Ra96ce8975ae94633" /><Relationship Type="http://schemas.openxmlformats.org/officeDocument/2006/relationships/slide" Target="/ppt/slides/slide42.xml" Id="Rd7c8985546b14bfa" /><Relationship Type="http://schemas.openxmlformats.org/officeDocument/2006/relationships/slide" Target="/ppt/slides/slide43.xml" Id="R22230fbde20347cd" /><Relationship Type="http://schemas.openxmlformats.org/officeDocument/2006/relationships/slide" Target="/ppt/slides/slide44.xml" Id="R4f0d1d332b5f49fe" /><Relationship Type="http://schemas.openxmlformats.org/officeDocument/2006/relationships/slide" Target="/ppt/slides/slide45.xml" Id="Re3e8f3ec114e48a0" /><Relationship Type="http://schemas.openxmlformats.org/officeDocument/2006/relationships/slide" Target="/ppt/slides/slide46.xml" Id="R6f79298f333345da" /><Relationship Type="http://schemas.openxmlformats.org/officeDocument/2006/relationships/slide" Target="/ppt/slides/slide47.xml" Id="R68077fa0994742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82b7c24c7f48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fd96c11ae64209" /><Relationship Type="http://schemas.openxmlformats.org/officeDocument/2006/relationships/notesMaster" Target="/ppt/notesMasters/notesMaster1.xml" Id="Rb665290a093746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92748f613142c5" /><Relationship Type="http://schemas.openxmlformats.org/officeDocument/2006/relationships/notesMaster" Target="/ppt/notesMasters/notesMaster1.xml" Id="R7528ddec575d41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1e11d30a8c4b3f" /><Relationship Type="http://schemas.openxmlformats.org/officeDocument/2006/relationships/notesMaster" Target="/ppt/notesMasters/notesMaster1.xml" Id="R1763014df21c49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e8feeef36744fb" /><Relationship Type="http://schemas.openxmlformats.org/officeDocument/2006/relationships/notesMaster" Target="/ppt/notesMasters/notesMaster1.xml" Id="R69727a17f0284a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f4d09732254cbf" /><Relationship Type="http://schemas.openxmlformats.org/officeDocument/2006/relationships/notesMaster" Target="/ppt/notesMasters/notesMaster1.xml" Id="R008dc6f7f31541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52e858e54b47b4" /><Relationship Type="http://schemas.openxmlformats.org/officeDocument/2006/relationships/notesMaster" Target="/ppt/notesMasters/notesMaster1.xml" Id="R340544c0ae9348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21c60fabef4d37" /><Relationship Type="http://schemas.openxmlformats.org/officeDocument/2006/relationships/notesMaster" Target="/ppt/notesMasters/notesMaster1.xml" Id="Rbad211e5361248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1a17794bc44e39" /><Relationship Type="http://schemas.openxmlformats.org/officeDocument/2006/relationships/notesMaster" Target="/ppt/notesMasters/notesMaster1.xml" Id="R0413f4a2a68542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2bcf1f770d4ff4" /><Relationship Type="http://schemas.openxmlformats.org/officeDocument/2006/relationships/notesMaster" Target="/ppt/notesMasters/notesMaster1.xml" Id="R989f7127d8fc4f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c2f7b058e948d8" /><Relationship Type="http://schemas.openxmlformats.org/officeDocument/2006/relationships/notesMaster" Target="/ppt/notesMasters/notesMaster1.xml" Id="R15dc7ea6dc5644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c9b2b7d0c543f9" /><Relationship Type="http://schemas.openxmlformats.org/officeDocument/2006/relationships/notesMaster" Target="/ppt/notesMasters/notesMaster1.xml" Id="R4d913713771044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00b7b50a454a8c" /><Relationship Type="http://schemas.openxmlformats.org/officeDocument/2006/relationships/notesMaster" Target="/ppt/notesMasters/notesMaster1.xml" Id="Re4150c7605d244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df54ca3913411e" /><Relationship Type="http://schemas.openxmlformats.org/officeDocument/2006/relationships/notesMaster" Target="/ppt/notesMasters/notesMaster1.xml" Id="Rb4d12224c9f54a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6e5ff8a0b04a79" /><Relationship Type="http://schemas.openxmlformats.org/officeDocument/2006/relationships/notesMaster" Target="/ppt/notesMasters/notesMaster1.xml" Id="Rfbd1106ac30945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3012527a2f4a70" /><Relationship Type="http://schemas.openxmlformats.org/officeDocument/2006/relationships/notesMaster" Target="/ppt/notesMasters/notesMaster1.xml" Id="Rd29bda7f12324e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2a698fd70743ac" /><Relationship Type="http://schemas.openxmlformats.org/officeDocument/2006/relationships/notesMaster" Target="/ppt/notesMasters/notesMaster1.xml" Id="R4a285f8c8166444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074ddb5b92448a" /><Relationship Type="http://schemas.openxmlformats.org/officeDocument/2006/relationships/notesMaster" Target="/ppt/notesMasters/notesMaster1.xml" Id="R71aab7eab4b8488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58e5fabcf7046b7" /><Relationship Type="http://schemas.openxmlformats.org/officeDocument/2006/relationships/notesMaster" Target="/ppt/notesMasters/notesMaster1.xml" Id="Ra3b325bd370047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18d0cf1383146df" /><Relationship Type="http://schemas.openxmlformats.org/officeDocument/2006/relationships/notesMaster" Target="/ppt/notesMasters/notesMaster1.xml" Id="R5f628d16a90b40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b61cd27625d450f" /><Relationship Type="http://schemas.openxmlformats.org/officeDocument/2006/relationships/notesMaster" Target="/ppt/notesMasters/notesMaster1.xml" Id="R28ec799c0ab14d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434874ac2d4c90" /><Relationship Type="http://schemas.openxmlformats.org/officeDocument/2006/relationships/notesMaster" Target="/ppt/notesMasters/notesMaster1.xml" Id="R9393b434e9c2406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5d9877e37014f70" /><Relationship Type="http://schemas.openxmlformats.org/officeDocument/2006/relationships/notesMaster" Target="/ppt/notesMasters/notesMaster1.xml" Id="R4f46f941fe144c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c573c4d98eb45b7" /><Relationship Type="http://schemas.openxmlformats.org/officeDocument/2006/relationships/notesMaster" Target="/ppt/notesMasters/notesMaster1.xml" Id="R24d541a20c904f5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52f6a1c20414c2b" /><Relationship Type="http://schemas.openxmlformats.org/officeDocument/2006/relationships/notesMaster" Target="/ppt/notesMasters/notesMaster1.xml" Id="Re0b95fd0bcab40f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be25e4fe6814147" /><Relationship Type="http://schemas.openxmlformats.org/officeDocument/2006/relationships/notesMaster" Target="/ppt/notesMasters/notesMaster1.xml" Id="Rc28dba2836104c7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1f185d801874d5a" /><Relationship Type="http://schemas.openxmlformats.org/officeDocument/2006/relationships/notesMaster" Target="/ppt/notesMasters/notesMaster1.xml" Id="R8f0bd0ce379442f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c1686ecbfe54dd3" /><Relationship Type="http://schemas.openxmlformats.org/officeDocument/2006/relationships/notesMaster" Target="/ppt/notesMasters/notesMaster1.xml" Id="Ra199b291a7b14ac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41f57b2c4b4457f" /><Relationship Type="http://schemas.openxmlformats.org/officeDocument/2006/relationships/notesMaster" Target="/ppt/notesMasters/notesMaster1.xml" Id="Rdff3f1f79e18464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79f000f56964a9b" /><Relationship Type="http://schemas.openxmlformats.org/officeDocument/2006/relationships/notesMaster" Target="/ppt/notesMasters/notesMaster1.xml" Id="R2a8cba7f95e640d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6b79901c67c4b8a" /><Relationship Type="http://schemas.openxmlformats.org/officeDocument/2006/relationships/notesMaster" Target="/ppt/notesMasters/notesMaster1.xml" Id="Reb09b04774b0493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11ad549fa71406f" /><Relationship Type="http://schemas.openxmlformats.org/officeDocument/2006/relationships/notesMaster" Target="/ppt/notesMasters/notesMaster1.xml" Id="R6350498d104b447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3f80fafe95a41ed" /><Relationship Type="http://schemas.openxmlformats.org/officeDocument/2006/relationships/notesMaster" Target="/ppt/notesMasters/notesMaster1.xml" Id="Rdf12c892c3844aa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e8aac38ecf74e20" /><Relationship Type="http://schemas.openxmlformats.org/officeDocument/2006/relationships/notesMaster" Target="/ppt/notesMasters/notesMaster1.xml" Id="R2c4ba6cbf418456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8a0151107e542aa" /><Relationship Type="http://schemas.openxmlformats.org/officeDocument/2006/relationships/notesMaster" Target="/ppt/notesMasters/notesMaster1.xml" Id="R5ab3563750b24bc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930641e266145e9" /><Relationship Type="http://schemas.openxmlformats.org/officeDocument/2006/relationships/notesMaster" Target="/ppt/notesMasters/notesMaster1.xml" Id="R0c239e5e831f482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40d3953f3ee4c15" /><Relationship Type="http://schemas.openxmlformats.org/officeDocument/2006/relationships/notesMaster" Target="/ppt/notesMasters/notesMaster1.xml" Id="R33303047151543a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7f6f4a2897543d2" /><Relationship Type="http://schemas.openxmlformats.org/officeDocument/2006/relationships/notesMaster" Target="/ppt/notesMasters/notesMaster1.xml" Id="Ra9af0ddf087a4d3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034d654ab72449b" /><Relationship Type="http://schemas.openxmlformats.org/officeDocument/2006/relationships/notesMaster" Target="/ppt/notesMasters/notesMaster1.xml" Id="R04f7a3939d5a473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38e0144e2354479" /><Relationship Type="http://schemas.openxmlformats.org/officeDocument/2006/relationships/notesMaster" Target="/ppt/notesMasters/notesMaster1.xml" Id="R6bd66cdd60e9446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85a9f6e88b14e49" /><Relationship Type="http://schemas.openxmlformats.org/officeDocument/2006/relationships/notesMaster" Target="/ppt/notesMasters/notesMaster1.xml" Id="Rac201e26198e4f2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a3904e56dc64665" /><Relationship Type="http://schemas.openxmlformats.org/officeDocument/2006/relationships/notesMaster" Target="/ppt/notesMasters/notesMaster1.xml" Id="Rc7945ca1c06f4b0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79f32316fd64af0" /><Relationship Type="http://schemas.openxmlformats.org/officeDocument/2006/relationships/notesMaster" Target="/ppt/notesMasters/notesMaster1.xml" Id="Rca939fde543c4b7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eb29507b0bf414b" /><Relationship Type="http://schemas.openxmlformats.org/officeDocument/2006/relationships/notesMaster" Target="/ppt/notesMasters/notesMaster1.xml" Id="Rc52b2852e9534ce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91446ef59c943a9" /><Relationship Type="http://schemas.openxmlformats.org/officeDocument/2006/relationships/notesMaster" Target="/ppt/notesMasters/notesMaster1.xml" Id="Rcd2398fc4f2242c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a6d9424163244d4" /><Relationship Type="http://schemas.openxmlformats.org/officeDocument/2006/relationships/notesMaster" Target="/ppt/notesMasters/notesMaster1.xml" Id="Rbfa5aee6fb134f6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6d7aa2864364ce0" /><Relationship Type="http://schemas.openxmlformats.org/officeDocument/2006/relationships/notesMaster" Target="/ppt/notesMasters/notesMaster1.xml" Id="R7aa9a1b9405e47b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60aadd8260c4ed6" /><Relationship Type="http://schemas.openxmlformats.org/officeDocument/2006/relationships/notesMaster" Target="/ppt/notesMasters/notesMaster1.xml" Id="R2aea4344acb547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talk explains why we moved from scoring one TOB at a time to studying pairs of TOBs from the same event.</a:t>
            </a:r>
          </a:p>
          <a:p xmlns:a="http://schemas.openxmlformats.org/drawingml/2006/main">
            <a:endParaRPr/>
          </a:p>
          <a:p xmlns:a="http://schemas.openxmlformats.org/drawingml/2006/main">
            <a:r>
              <a:t>The presentation has three parts. First, I define the event-level problem and the deterministic baseline. Second, I show the small measured-pT-only model that we used to validate the complete comparison procedure. Third, I show what the first controlled representation experiments found.</a:t>
            </a:r>
          </a:p>
          <a:p xmlns:a="http://schemas.openxmlformats.org/drawingml/2006/main">
            <a:endParaRPr/>
          </a:p>
          <a:p xmlns:a="http://schemas.openxmlformats.org/drawingml/2006/main">
            <a:r>
              <a:t>The pT-only network was a control rather than a proposed final model. It allowed us to test pair creation, one-score-per-pair inference, maximum aggregation, independent threshold calibration, and event-level comparison. That machinery worked. The simple input did not beat the baseline. The later validation studies found that calorimeter shower information and event-level pT context improve the result.</a:t>
            </a:r>
          </a:p>
          <a:p xmlns:a="http://schemas.openxmlformats.org/drawingml/2006/main">
            <a:endParaRPr/>
          </a:p>
          <a:p xmlns:a="http://schemas.openxmlformats.org/drawingml/2006/main">
            <a:r>
              <a:t>Throughout the talk, one pair always means two TOBs from the same event. An event produces up to six pair scores, and the largest pair score becomes the event score.</a:t>
            </a:r>
          </a:p>
          <a:p xmlns:a="http://schemas.openxmlformats.org/drawingml/2006/main">
            <a:endParaRPr/>
          </a:p>
          <a:p xmlns:a="http://schemas.openxmlformats.org/drawingml/2006/main">
            <a:r>
              <a:t>[Public references]</a:t>
            </a:r>
          </a:p>
          <a:p xmlns:a="http://schemas.openxmlformats.org/drawingml/2006/main">
            <a:r>
              <a:t>- README.md</a:t>
            </a:r>
          </a:p>
          <a:p xmlns:a="http://schemas.openxmlformats.org/drawingml/2006/main">
            <a:r>
              <a:t>- results/data_summary.json</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approach processes every TOB separately. The event decision is then based on the second-highest object score, because a two-tau event needs two objects to pass.</a:t>
            </a:r>
          </a:p>
          <a:p xmlns:a="http://schemas.openxmlformats.org/drawingml/2006/main">
            <a:r>
              <a:t/>
            </a:r>
            <a:endParaRPr/>
          </a:p>
          <a:p xmlns:a="http://schemas.openxmlformats.org/drawingml/2006/main">
            <a:r>
              <a:t>The pair proposal changes the unit processed by the neural network. One model evaluation receives two TOBs from the same event and returns one score for the statement that both members are tau-like.</a:t>
            </a:r>
          </a:p>
          <a:p xmlns:a="http://schemas.openxmlformats.org/drawingml/2006/main">
            <a:r>
              <a:t/>
            </a:r>
            <a:endParaRPr/>
          </a:p>
          <a:p xmlns:a="http://schemas.openxmlformats.org/drawingml/2006/main">
            <a:r>
              <a:t>The selected method keeps every finite TOB. It forms every unordered same-event pair, scores every pair with the same network, and uses the largest pair score as the neural event score. For example, six finite TOBs produce fifteen pairs.</a:t>
            </a:r>
          </a:p>
          <a:p xmlns:a="http://schemas.openxmlformats.org/drawingml/2006/main">
            <a:r>
              <a:t/>
            </a:r>
            <a:endParaRPr/>
          </a:p>
          <a:p xmlns:a="http://schemas.openxmlformats.org/drawingml/2006/main">
            <a:r>
              <a:t>The model still processes one pair at a time; it does not consume the complete event in one network call. Event-level information can be supplied separately where declared.</a:t>
            </a:r>
          </a:p>
          <a:p xmlns:a="http://schemas.openxmlformats.org/drawingml/2006/main">
            <a:r>
              <a:t/>
            </a:r>
            <a:endParaRPr/>
          </a:p>
          <a:p xmlns:a="http://schemas.openxmlformats.org/drawingml/2006/main">
            <a:r>
              <a:t>The research question is whether combining two showers before the decision provides useful information that independent object scoring misses.</a:t>
            </a:r>
          </a:p>
          <a:p xmlns:a="http://schemas.openxmlformats.org/drawingml/2006/main">
            <a:r>
              <a:t/>
            </a:r>
          </a:p>
          <a:p xmlns:a="http://schemas.openxmlformats.org/drawingml/2006/main">
            <a:r>
              <a:t>[Public references]</a:t>
            </a:r>
          </a:p>
          <a:p xmlns:a="http://schemas.openxmlformats.org/drawingml/2006/main">
            <a:r>
              <a:t>- README.md</a:t>
            </a:r>
          </a:p>
          <a:p xmlns:a="http://schemas.openxmlformats.org/drawingml/2006/main">
            <a:r>
              <a:t>- src/pair_data.py</a:t>
            </a:r>
          </a:p>
          <a:p xmlns:a="http://schemas.openxmlformats.org/drawingml/2006/main">
            <a:r>
              <a:t>- src/pair_models.py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TOB is one trigger object reconstructed from a local calorimeter region. The stored data provide up to six TOB slots for each event.</a:t>
            </a:r>
          </a:p>
          <a:p xmlns:a="http://schemas.openxmlformats.org/drawingml/2006/main">
            <a:r>
              <a:t/>
            </a:r>
            <a:endParaRPr/>
          </a:p>
          <a:p xmlns:a="http://schemas.openxmlformats.org/drawingml/2006/main">
            <a:r>
              <a:t>The selected method keeps every TOB with finite measured transverse momentum. We still rank the TOBs from highest to lowest measured pT so that pair members have a reproducible order. Exact ties use the smaller tob_index first; this index is not supplied to the model as a physics feature.</a:t>
            </a:r>
          </a:p>
          <a:p xmlns:a="http://schemas.openxmlformats.org/drawingml/2006/main">
            <a:r>
              <a:t/>
            </a:r>
            <a:endParaRPr/>
          </a:p>
          <a:p xmlns:a="http://schemas.openxmlformats.org/drawingml/2006/main">
            <a:r>
              <a:t>We then form every unordered same-event pair. Two finite TOBs produce one pair, four produce six, and six produce fifteen. Pair construction never mixes events and never includes the same unordered pair twice.</a:t>
            </a:r>
          </a:p>
          <a:p xmlns:a="http://schemas.openxmlformats.org/drawingml/2006/main">
            <a:r>
              <a:t/>
            </a:r>
            <a:endParaRPr/>
          </a:p>
          <a:p xmlns:a="http://schemas.openxmlformats.org/drawingml/2006/main">
            <a:r>
              <a:t>During training, stored labels are used to keep same-label teaching pairs. During validation and later inference, labels are unavailable and every finite pair is scored.</a:t>
            </a:r>
          </a:p>
          <a:p xmlns:a="http://schemas.openxmlformats.org/drawingml/2006/main">
            <a:r>
              <a:t/>
            </a:r>
            <a:endParaRPr/>
          </a:p>
          <a:p xmlns:a="http://schemas.openxmlformats.org/drawingml/2006/main">
            <a:r>
              <a:t>All reported background false-positive rates and signal efficiencies count complete events, not pairs.</a:t>
            </a:r>
          </a:p>
          <a:p xmlns:a="http://schemas.openxmlformats.org/drawingml/2006/main">
            <a:r>
              <a:t/>
            </a:r>
          </a:p>
          <a:p xmlns:a="http://schemas.openxmlformats.org/drawingml/2006/main">
            <a:r>
              <a:t>Measured tob_pt remains in raw MeV inside the pipeline. GeV conversion is used only for presentation where stated.</a:t>
            </a:r>
          </a:p>
          <a:p xmlns:a="http://schemas.openxmlformats.org/drawingml/2006/main">
            <a:r>
              <a:t/>
            </a:r>
          </a:p>
          <a:p xmlns:a="http://schemas.openxmlformats.org/drawingml/2006/main">
            <a:r>
              <a:t>[Public references]</a:t>
            </a:r>
          </a:p>
          <a:p xmlns:a="http://schemas.openxmlformats.org/drawingml/2006/main">
            <a:r>
              <a:t>- src/pair_data.py</a:t>
            </a:r>
          </a:p>
          <a:p xmlns:a="http://schemas.openxmlformats.org/drawingml/2006/main">
            <a:r>
              <a:t>- src/prepare_pair_data.py</a:t>
            </a:r>
          </a:p>
          <a:p xmlns:a="http://schemas.openxmlformats.org/drawingml/2006/main">
            <a:r>
              <a:t>- tests/test_all_finite_equal_event.py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selected TOB has a five-layer coarse calorimeter tensor. Every layer is stored as a three-by-three grid, so one TOB contributes 45 coarse cell values.</a:t>
            </a:r>
          </a:p>
          <a:p xmlns:a="http://schemas.openxmlformats.org/drawingml/2006/main">
            <a:endParaRPr/>
          </a:p>
          <a:p xmlns:a="http://schemas.openxmlformats.org/drawingml/2006/main">
            <a:r>
              <a:t>The five layers describe different detector depths. Their layer identity matters because the shower develops differently across the calorimeter. Equal array shapes do not mean that a cell at the same row and column covers the same physical region in every layer.</a:t>
            </a:r>
          </a:p>
          <a:p xmlns:a="http://schemas.openxmlformats.org/drawingml/2006/main">
            <a:endParaRPr/>
          </a:p>
          <a:p xmlns:a="http://schemas.openxmlformats.org/drawingml/2006/main">
            <a:r>
              <a:t>The data also contain measured pT, eta, phi, and a higher-resolution twelve-by-twelve EM2 tensor. These sources support several representation families, but the first controlled batch will not combine every possible feature. It begins with raw coarse cells and verified layer-preserving summaries.</a:t>
            </a:r>
          </a:p>
          <a:p xmlns:a="http://schemas.openxmlformats.org/drawingml/2006/main">
            <a:endParaRPr/>
          </a:p>
          <a:p xmlns:a="http://schemas.openxmlformats.org/drawingml/2006/main">
            <a:r>
              <a:t>[Public references]</a:t>
            </a:r>
          </a:p>
          <a:p xmlns:a="http://schemas.openxmlformats.org/drawingml/2006/main">
            <a:r>
              <a:t>- src/pair_features.py</a:t>
            </a:r>
          </a:p>
          <a:p xmlns:a="http://schemas.openxmlformats.org/drawingml/2006/main">
            <a:r>
              <a:t>- src/prepare_pair_data.py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deterministic baseline does not use a neural network. It ranks the selected TOBs by measured pT and uses the second-highest value as the event score.</a:t>
            </a:r>
          </a:p>
          <a:p xmlns:a="http://schemas.openxmlformats.org/drawingml/2006/main">
            <a:endParaRPr/>
          </a:p>
          <a:p xmlns:a="http://schemas.openxmlformats.org/drawingml/2006/main">
            <a:r>
              <a:t>There is an equivalent pair expression. For every pair, take the smaller of the two measured pT values. Then take the maximum of those pair values. The best pair is the pair formed by the two highest-pT TOBs, and its smaller member is exactly the second-highest TOB.</a:t>
            </a:r>
          </a:p>
          <a:p xmlns:a="http://schemas.openxmlformats.org/drawingml/2006/main">
            <a:endParaRPr/>
          </a:p>
          <a:p xmlns:a="http://schemas.openxmlformats.org/drawingml/2006/main">
            <a:r>
              <a:t>We verified this equality event by event, including shuffled rows, ties, interleaved event identifiers, more than four TOBs, non-finite values, and events with fewer than two valid TOBs. Short events receive a non-passing score.</a:t>
            </a:r>
          </a:p>
          <a:p xmlns:a="http://schemas.openxmlformats.org/drawingml/2006/main">
            <a:endParaRPr/>
          </a:p>
          <a:p xmlns:a="http://schemas.openxmlformats.org/drawingml/2006/main">
            <a:r>
              <a:t>This equality validates the deterministic pairing mechanics. It does not prove that maximum aggregation is optimal for arbitrary learned scores.</a:t>
            </a:r>
          </a:p>
          <a:p xmlns:a="http://schemas.openxmlformats.org/drawingml/2006/main">
            <a:endParaRPr/>
          </a:p>
          <a:p xmlns:a="http://schemas.openxmlformats.org/drawingml/2006/main">
            <a:r>
              <a:t>[Public references]</a:t>
            </a:r>
          </a:p>
          <a:p xmlns:a="http://schemas.openxmlformats.org/drawingml/2006/main">
            <a:r>
              <a:t>- src/pair_data.py</a:t>
            </a:r>
          </a:p>
          <a:p xmlns:a="http://schemas.openxmlformats.org/drawingml/2006/main">
            <a:r>
              <a:t>- tests/test_pair_data.py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implementation kept only the four highest-pT TOBs and therefore evaluated at most six pairs. That was a useful controlled starting point, but it was not the strongest method.</a:t>
            </a:r>
          </a:p>
          <a:p xmlns:a="http://schemas.openxmlformats.org/drawingml/2006/main">
            <a:r>
              <a:t/>
            </a:r>
            <a:endParaRPr/>
          </a:p>
          <a:p xmlns:a="http://schemas.openxmlformats.org/drawingml/2006/main">
            <a:r>
              <a:t>The selected validation method keeps every finite TOB. If an event has n finite TOBs, it produces n times n minus one divided by two unordered pairs. With six finite TOBs, that is fifteen pairs.</a:t>
            </a:r>
          </a:p>
          <a:p xmlns:a="http://schemas.openxmlformats.org/drawingml/2006/main">
            <a:r>
              <a:t/>
            </a:r>
            <a:endParaRPr/>
          </a:p>
          <a:p xmlns:a="http://schemas.openxmlformats.org/drawingml/2006/main">
            <a:r>
              <a:t>This change applies to both training and inference. It is not a training-only augmentation. Once training is finished, the frozen network also scores all fifteen pairs for a six-TOB event.</a:t>
            </a:r>
          </a:p>
          <a:p xmlns:a="http://schemas.openxmlformats.org/drawingml/2006/main">
            <a:r>
              <a:t/>
            </a:r>
            <a:endParaRPr/>
          </a:p>
          <a:p xmlns:a="http://schemas.openxmlformats.org/drawingml/2006/main">
            <a:r>
              <a:t>Events with fewer than two finite TOBs produce no pair and receive a non-passing neural score.</a:t>
            </a:r>
          </a:p>
          <a:p xmlns:a="http://schemas.openxmlformats.org/drawingml/2006/main">
            <a:r>
              <a:t/>
            </a:r>
            <a:endParaRPr/>
          </a:p>
          <a:p xmlns:a="http://schemas.openxmlformats.org/drawingml/2006/main">
            <a:r>
              <a:t>The earlier top-four method remains in the presentation as a historical reference because it shows how the study progressed. The selected model description from this point onward uses all finite pairs.</a:t>
            </a:r>
          </a:p>
          <a:p xmlns:a="http://schemas.openxmlformats.org/drawingml/2006/main">
            <a:r>
              <a:t/>
            </a:r>
          </a:p>
          <a:p xmlns:a="http://schemas.openxmlformats.org/drawingml/2006/main">
            <a:r>
              <a:t>[Public references]</a:t>
            </a:r>
          </a:p>
          <a:p xmlns:a="http://schemas.openxmlformats.org/drawingml/2006/main">
            <a:r>
              <a:t>- README.md</a:t>
            </a:r>
          </a:p>
          <a:p xmlns:a="http://schemas.openxmlformats.org/drawingml/2006/main">
            <a:r>
              <a:t>- src/pair_data.py</a:t>
            </a:r>
          </a:p>
          <a:p xmlns:a="http://schemas.openxmlformats.org/drawingml/2006/main">
            <a:r>
              <a:t>- configs/pair_highres_all_finite_equal_event/config.json</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combinatorics of the selected method.</a:t>
            </a:r>
          </a:p>
          <a:p xmlns:a="http://schemas.openxmlformats.org/drawingml/2006/main">
            <a:r>
              <a:t/>
            </a:r>
            <a:endParaRPr/>
          </a:p>
          <a:p xmlns:a="http://schemas.openxmlformats.org/drawingml/2006/main">
            <a:r>
              <a:t>With six finite TOBs, the unordered pairs are zero-one, zero-two, zero-three, zero-four, zero-five, one-two, and so on, for fifteen pairs in total. Reversing a pair does not create another example.</a:t>
            </a:r>
          </a:p>
          <a:p xmlns:a="http://schemas.openxmlformats.org/drawingml/2006/main">
            <a:r>
              <a:t/>
            </a:r>
            <a:endParaRPr/>
          </a:p>
          <a:p xmlns:a="http://schemas.openxmlformats.org/drawingml/2006/main">
            <a:r>
              <a:t>The higher-pT member is stored in slot L and the lower-pT member in slot S. Exact pT ties use tob_index only to make the storage order deterministic.</a:t>
            </a:r>
          </a:p>
          <a:p xmlns:a="http://schemas.openxmlformats.org/drawingml/2006/main">
            <a:r>
              <a:t/>
            </a:r>
            <a:endParaRPr/>
          </a:p>
          <a:p xmlns:a="http://schemas.openxmlformats.org/drawingml/2006/main">
            <a:r>
              <a:t>Training and inference use the same complete finite-pair construction, but the labels have different roles. During training, labels identify same-label teaching pairs: zero-plus-zero teaches a negative pair and one-plus-one teaches a positive pair. Mixed zero-plus-one pairs are excluded from the selected training objective. During inference, no labels are available, so every finite pair is scored.</a:t>
            </a:r>
          </a:p>
          <a:p xmlns:a="http://schemas.openxmlformats.org/drawingml/2006/main">
            <a:r>
              <a:t/>
            </a:r>
            <a:endParaRPr/>
          </a:p>
          <a:p xmlns:a="http://schemas.openxmlformats.org/drawingml/2006/main">
            <a:r>
              <a:t>An event with many pairs must not dominate training only because it has more combinations. The selected loss first averages the pair losses within each event and then averages across events. Each event therefore has equal total influence on the update.</a:t>
            </a:r>
          </a:p>
          <a:p xmlns:a="http://schemas.openxmlformats.org/drawingml/2006/main">
            <a:r>
              <a:t/>
            </a:r>
          </a:p>
          <a:p xmlns:a="http://schemas.openxmlformats.org/drawingml/2006/main">
            <a:r>
              <a:t>[Public references]</a:t>
            </a:r>
          </a:p>
          <a:p xmlns:a="http://schemas.openxmlformats.org/drawingml/2006/main">
            <a:r>
              <a:t>- src/pair_data.py</a:t>
            </a:r>
          </a:p>
          <a:p xmlns:a="http://schemas.openxmlformats.org/drawingml/2006/main">
            <a:r>
              <a:t>- src/prepare_pair_data.py</a:t>
            </a:r>
          </a:p>
          <a:p xmlns:a="http://schemas.openxmlformats.org/drawingml/2006/main">
            <a:r>
              <a:t>- src/pair_train.py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model evaluation receives exactly one canonical pair. The input contains one representation for member L and one for member S. It does not receive the full event or the other pairs.</a:t>
            </a:r>
          </a:p>
          <a:p xmlns:a="http://schemas.openxmlformats.org/drawingml/2006/main">
            <a:endParaRPr/>
          </a:p>
          <a:p xmlns:a="http://schemas.openxmlformats.org/drawingml/2006/main">
            <a:r>
              <a:t>The model returns one raw binary logit. Applying the sigmoid gives q_ij, a score between zero and one for the operational target that both TOBs have positive labels.</a:t>
            </a:r>
          </a:p>
          <a:p xmlns:a="http://schemas.openxmlformats.org/drawingml/2006/main">
            <a:endParaRPr/>
          </a:p>
          <a:p xmlns:a="http://schemas.openxmlformats.org/drawingml/2006/main">
            <a:r>
              <a:t>This target counts positive TOB labels. The export does not contain unique generator-tau identities, so the score must not be described as a verified probability of two distinct generator particles.</a:t>
            </a:r>
          </a:p>
          <a:p xmlns:a="http://schemas.openxmlformats.org/drawingml/2006/main">
            <a:endParaRPr/>
          </a:p>
          <a:p xmlns:a="http://schemas.openxmlformats.org/drawingml/2006/main">
            <a:r>
              <a:t>The same trained model and weights score every pair. Later shared-encoder experiments will process both members with the same encoder before a small pair head. The first representation comparison will freeze that architecture so that only the input information changes.</a:t>
            </a:r>
          </a:p>
          <a:p xmlns:a="http://schemas.openxmlformats.org/drawingml/2006/main">
            <a:endParaRPr/>
          </a:p>
          <a:p xmlns:a="http://schemas.openxmlformats.org/drawingml/2006/main">
            <a:r>
              <a:t>[Public references]</a:t>
            </a:r>
          </a:p>
          <a:p xmlns:a="http://schemas.openxmlformats.org/drawingml/2006/main">
            <a:r>
              <a:t>- src/pair_models.py</a:t>
            </a:r>
          </a:p>
          <a:p xmlns:a="http://schemas.openxmlformats.org/drawingml/2006/main">
            <a:r>
              <a:t>- src/pair_predict.py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event can produce one, three, or six pair scores. We reduce them to one event score by taking the maximum.</a:t>
            </a:r>
          </a:p>
          <a:p xmlns:a="http://schemas.openxmlformats.org/drawingml/2006/main">
            <a:endParaRPr/>
          </a:p>
          <a:p xmlns:a="http://schemas.openxmlformats.org/drawingml/2006/main">
            <a:r>
              <a:t>This implements the candidate rule that an event may pass when any pair looks like a two-positive-TOB pair. The maximum is separate from the neural architecture. The model scores pairs; the aggregation utility scores events.</a:t>
            </a:r>
          </a:p>
          <a:p xmlns:a="http://schemas.openxmlformats.org/drawingml/2006/main">
            <a:endParaRPr/>
          </a:p>
          <a:p xmlns:a="http://schemas.openxmlformats.org/drawingml/2006/main">
            <a:r>
              <a:t>Events with no pair receive negative infinity. They remain in the background denominator and in the applicable signal denominators, but they never pass.</a:t>
            </a:r>
          </a:p>
          <a:p xmlns:a="http://schemas.openxmlformats.org/drawingml/2006/main">
            <a:endParaRPr/>
          </a:p>
          <a:p xmlns:a="http://schemas.openxmlformats.org/drawingml/2006/main">
            <a:r>
              <a:t>Every threshold is applied with score greater than or equal to threshold, and tied scores stay together. The pair-prediction and event-prediction tables remain separate from the frozen event manifest.</a:t>
            </a:r>
          </a:p>
          <a:p xmlns:a="http://schemas.openxmlformats.org/drawingml/2006/main">
            <a:endParaRPr/>
          </a:p>
          <a:p xmlns:a="http://schemas.openxmlformats.org/drawingml/2006/main">
            <a:r>
              <a:t>[Public references]</a:t>
            </a:r>
          </a:p>
          <a:p xmlns:a="http://schemas.openxmlformats.org/drawingml/2006/main">
            <a:r>
              <a:t>- src/pair_predict.py</a:t>
            </a:r>
          </a:p>
          <a:p xmlns:a="http://schemas.openxmlformats.org/drawingml/2006/main">
            <a:r>
              <a:t>- tests/test_pair_predict.py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and the network produce different kinds of event scores. The baseline is measured pT in raw MeV. The network score is a probability-like number between zero and one.</a:t>
            </a:r>
          </a:p>
          <a:p xmlns:a="http://schemas.openxmlformats.org/drawingml/2006/main">
            <a:endParaRPr/>
          </a:p>
          <a:p xmlns:a="http://schemas.openxmlformats.org/drawingml/2006/main">
            <a:r>
              <a:t>Therefore, sharing one numerical threshold would be meaningless. We calibrate each method independently using background events and choose the least restrictive threshold that accepts no more than 0.5 percent of those events.</a:t>
            </a:r>
          </a:p>
          <a:p xmlns:a="http://schemas.openxmlformats.org/drawingml/2006/main">
            <a:endParaRPr/>
          </a:p>
          <a:p xmlns:a="http://schemas.openxmlformats.org/drawingml/2006/main">
            <a:r>
              <a:t>Ties stay together. If accepting the highest tied score would exceed the budget, the threshold may move immediately above that score and accept zero events.</a:t>
            </a:r>
          </a:p>
          <a:p xmlns:a="http://schemas.openxmlformats.org/drawingml/2006/main">
            <a:endParaRPr/>
          </a:p>
          <a:p xmlns:a="http://schemas.openxmlformats.org/drawingml/2006/main">
            <a:r>
              <a:t>The baseline fold thresholds are calculated once and reused. A learned temporary threshold is specific to candidate, seed, checkpoint, and calibration fold. After checkpoint selection, each retained seed model receives its own full-validation threshold.</a:t>
            </a:r>
          </a:p>
          <a:p xmlns:a="http://schemas.openxmlformats.org/drawingml/2006/main">
            <a:endParaRPr/>
          </a:p>
          <a:p xmlns:a="http://schemas.openxmlformats.org/drawingml/2006/main">
            <a:r>
              <a:t>[Public references]</a:t>
            </a:r>
          </a:p>
          <a:p xmlns:a="http://schemas.openxmlformats.org/drawingml/2006/main">
            <a:r>
              <a:t>- src/pair_evaluate.py</a:t>
            </a:r>
          </a:p>
          <a:p xmlns:a="http://schemas.openxmlformats.org/drawingml/2006/main">
            <a:r>
              <a:t>- src/operating_point.py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compresses the completed infrastructure work into the facts needed for the scientific story.</a:t>
            </a:r>
          </a:p>
          <a:p xmlns:a="http://schemas.openxmlformats.org/drawingml/2006/main">
            <a:endParaRPr/>
          </a:p>
          <a:p xmlns:a="http://schemas.openxmlformats.org/drawingml/2006/main">
            <a:r>
              <a:t>The audit accounted for 321,426 source events and verified the operational TOB labels. It froze the event split, preserved no-pair events, and established three event populations: all signal-sample events, pair-observable events, and operationally pair-eligible events.</a:t>
            </a:r>
          </a:p>
          <a:p xmlns:a="http://schemas.openxmlformats.org/drawingml/2006/main">
            <a:endParaRPr/>
          </a:p>
          <a:p xmlns:a="http://schemas.openxmlformats.org/drawingml/2006/main">
            <a:r>
              <a:t>The pipeline constructs only same-event pairs, preserves identity, rejects missing or duplicate predictions, and reconstructs one score for every requested event. The operating-point procedure calibrates methods separately at the same event-level background false-positive-rate limit.</a:t>
            </a:r>
          </a:p>
          <a:p xmlns:a="http://schemas.openxmlformats.org/drawingml/2006/main">
            <a:endParaRPr/>
          </a:p>
          <a:p xmlns:a="http://schemas.openxmlformats.org/drawingml/2006/main">
            <a:r>
              <a:t>The important scientific limitation is also fixed. The data support operational zero, one, and two positive-TOB pair labels, but they do not verify unique generator-tau identity. Inclusive leading and sub-leading generator-pT plots are therefore excluded unless new upstream truth records become available.</a:t>
            </a:r>
          </a:p>
          <a:p xmlns:a="http://schemas.openxmlformats.org/drawingml/2006/main">
            <a:endParaRPr/>
          </a:p>
          <a:p xmlns:a="http://schemas.openxmlformats.org/drawingml/2006/main">
            <a:r>
              <a:t>[Public references]</a:t>
            </a:r>
          </a:p>
          <a:p xmlns:a="http://schemas.openxmlformats.org/drawingml/2006/main">
            <a:r>
              <a:t>- results/data_summary.json</a:t>
            </a:r>
          </a:p>
          <a:p xmlns:a="http://schemas.openxmlformats.org/drawingml/2006/main">
            <a:r>
              <a:t>- src/prepare_pair_data.py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diagnostic deliberately used only the two measured pT values. The higher member pT and lower member pT formed the two inputs. Phase 5 fitted one mean and scale per column using the complete eligible training population, and every seed reused those frozen values.</a:t>
            </a:r>
          </a:p>
          <a:p xmlns:a="http://schemas.openxmlformats.org/drawingml/2006/main">
            <a:endParaRPr/>
          </a:p>
          <a:p xmlns:a="http://schemas.openxmlformats.org/drawingml/2006/main">
            <a:r>
              <a:t>The neural network had two inputs, one hidden layer with eight ReLU units, and one output logit. It trained with unweighted binary cross-entropy. A positive training pair contained two positive TOB labels.</a:t>
            </a:r>
          </a:p>
          <a:p xmlns:a="http://schemas.openxmlformats.org/drawingml/2006/main">
            <a:endParaRPr/>
          </a:p>
          <a:p xmlns:a="http://schemas.openxmlformats.org/drawingml/2006/main">
            <a:r>
              <a:t>The production training population contained 1,143,864 pairs: 25,464 positives and 1,118,400 negatives. Each seed trained for twenty epochs and produced twenty checkpoints.</a:t>
            </a:r>
          </a:p>
          <a:p xmlns:a="http://schemas.openxmlformats.org/drawingml/2006/main">
            <a:endParaRPr/>
          </a:p>
          <a:p xmlns:a="http://schemas.openxmlformats.org/drawingml/2006/main">
            <a:r>
              <a:t>At event level, the maximum pair probability became the event score. This simple model tested the complete path from audited pairs to event-level operating-point comparison.</a:t>
            </a:r>
          </a:p>
          <a:p xmlns:a="http://schemas.openxmlformats.org/drawingml/2006/main">
            <a:endParaRPr/>
          </a:p>
          <a:p xmlns:a="http://schemas.openxmlformats.org/drawingml/2006/main">
            <a:r>
              <a:t>[Public references]</a:t>
            </a:r>
          </a:p>
          <a:p xmlns:a="http://schemas.openxmlformats.org/drawingml/2006/main">
            <a:r>
              <a:t>- configs/pair_pt_control/</a:t>
            </a:r>
          </a:p>
          <a:p xmlns:a="http://schemas.openxmlformats.org/drawingml/2006/main">
            <a:r>
              <a:t>- src/pair_models.py</a:t>
            </a:r>
          </a:p>
          <a:p xmlns:a="http://schemas.openxmlformats.org/drawingml/2006/main">
            <a:r>
              <a:t>- src/pair_train.py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two-input network acts as a simple control. If this small model produced wrong counts, constant predictions, non-finite losses, incorrect event maxima, or unfair thresholds, richer models would be impossible to interpret.</a:t>
            </a:r>
          </a:p>
          <a:p xmlns:a="http://schemas.openxmlformats.org/drawingml/2006/main">
            <a:endParaRPr/>
          </a:p>
          <a:p xmlns:a="http://schemas.openxmlformats.org/drawingml/2006/main">
            <a:r>
              <a:t>Because the input and architecture are so simple, most representation and capacity questions remain outside this diagnostic. Its purpose is to validate the common machinery that later models will reuse.</a:t>
            </a:r>
          </a:p>
          <a:p xmlns:a="http://schemas.openxmlformats.org/drawingml/2006/main">
            <a:endParaRPr/>
          </a:p>
          <a:p xmlns:a="http://schemas.openxmlformats.org/drawingml/2006/main">
            <a:r>
              <a:t>A successful diagnostic therefore requires stable training, traceable predictions, correct aggregation, independent calibration, and reproducibility. It does not require the model to beat the deterministic baseline.</a:t>
            </a:r>
          </a:p>
          <a:p xmlns:a="http://schemas.openxmlformats.org/drawingml/2006/main">
            <a:endParaRPr/>
          </a:p>
          <a:p xmlns:a="http://schemas.openxmlformats.org/drawingml/2006/main">
            <a:r>
              <a:t>If the pT-only model underperforms, that can reflect the deliberately limited representation or the pair-level training objective. It does not by itself invalidate the comparison.</a:t>
            </a:r>
          </a:p>
          <a:p xmlns:a="http://schemas.openxmlformats.org/drawingml/2006/main">
            <a:endParaRPr/>
          </a:p>
          <a:p xmlns:a="http://schemas.openxmlformats.org/drawingml/2006/main">
            <a:r>
              <a:t>[Public references]</a:t>
            </a:r>
          </a:p>
          <a:p xmlns:a="http://schemas.openxmlformats.org/drawingml/2006/main">
            <a:r>
              <a:t>- README.md</a:t>
            </a:r>
          </a:p>
          <a:p xmlns:a="http://schemas.openxmlformats.org/drawingml/2006/main">
            <a:r>
              <a:t>- tests/test_pair_validate.py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graph shows training error over the twenty epochs for seeds 42, 123, and 456.</a:t>
            </a:r>
          </a:p>
          <a:p xmlns:a="http://schemas.openxmlformats.org/drawingml/2006/main">
            <a:endParaRPr/>
          </a:p>
          <a:p xmlns:a="http://schemas.openxmlformats.org/drawingml/2006/main">
            <a:r>
              <a:t>The horizontal axis is the epoch. The vertical axis is the average binary cross-entropy on the full training-pair population. Lower values indicate that the network fits the binary pair labels better.</a:t>
            </a:r>
          </a:p>
          <a:p xmlns:a="http://schemas.openxmlformats.org/drawingml/2006/main">
            <a:endParaRPr/>
          </a:p>
          <a:p xmlns:a="http://schemas.openxmlformats.org/drawingml/2006/main">
            <a:r>
              <a:t>All three curves fall sharply after the first epoch and then settle near the same level. The curves remain finite, and none of the seeds diverges. This tells us that the fixed training recipe behaves consistently across initializations.</a:t>
            </a:r>
          </a:p>
          <a:p xmlns:a="http://schemas.openxmlformats.org/drawingml/2006/main">
            <a:endParaRPr/>
          </a:p>
          <a:p xmlns:a="http://schemas.openxmlformats.org/drawingml/2006/main">
            <a:r>
              <a:t>The graph does not select a checkpoint and does not measure signal efficiency. The flatter later epochs can still differ at the event operating point, which is why Phase 7 evaluates every saved checkpoint on validation events.</a:t>
            </a:r>
          </a:p>
          <a:p xmlns:a="http://schemas.openxmlformats.org/drawingml/2006/main">
            <a:endParaRPr/>
          </a:p>
          <a:p xmlns:a="http://schemas.openxmlformats.org/drawingml/2006/main">
            <a:r>
              <a:t>[Public references]</a:t>
            </a:r>
          </a:p>
          <a:p xmlns:a="http://schemas.openxmlformats.org/drawingml/2006/main">
            <a:r>
              <a:t>- results/pt_control/training_curves.csv</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graph shows why the final training epoch was not automatically retained.</a:t>
            </a:r>
          </a:p>
          <a:p xmlns:a="http://schemas.openxmlformats.org/drawingml/2006/main">
            <a:endParaRPr/>
          </a:p>
          <a:p xmlns:a="http://schemas.openxmlformats.org/drawingml/2006/main">
            <a:r>
              <a:t>The horizontal axis is checkpoint epoch. The vertical axis is pair-eligible signal-event efficiency measured by cross-fitting at the target background operating point. Each colored line represents one model seed.</a:t>
            </a:r>
          </a:p>
          <a:p xmlns:a="http://schemas.openxmlformats.org/drawingml/2006/main">
            <a:endParaRPr/>
          </a:p>
          <a:p xmlns:a="http://schemas.openxmlformats.org/drawingml/2006/main">
            <a:r>
              <a:t>For every checkpoint, a threshold is calibrated on background fold A and evaluated on fold B, then the direction is reversed. The held-out accepted signal counts are pooled. The selected epoch maximizes that pooled eligible-signal count under the frozen tie rules.</a:t>
            </a:r>
          </a:p>
          <a:p xmlns:a="http://schemas.openxmlformats.org/drawingml/2006/main">
            <a:endParaRPr/>
          </a:p>
          <a:p xmlns:a="http://schemas.openxmlformats.org/drawingml/2006/main">
            <a:r>
              <a:t>The selected checkpoints are epoch 4 for seed 42, epoch 5 for seed 123, and epoch 18 for seed 456. The different choices show that minimum training loss and operating-point event efficiency are not the same criterion.</a:t>
            </a:r>
          </a:p>
          <a:p xmlns:a="http://schemas.openxmlformats.org/drawingml/2006/main">
            <a:endParaRPr/>
          </a:p>
          <a:p xmlns:a="http://schemas.openxmlformats.org/drawingml/2006/main">
            <a:r>
              <a:t>This is validation-based checkpoint selection. It does not use the final test outcomes.</a:t>
            </a:r>
          </a:p>
          <a:p xmlns:a="http://schemas.openxmlformats.org/drawingml/2006/main">
            <a:endParaRPr/>
          </a:p>
          <a:p xmlns:a="http://schemas.openxmlformats.org/drawingml/2006/main">
            <a:r>
              <a:t>[Public references]</a:t>
            </a:r>
          </a:p>
          <a:p xmlns:a="http://schemas.openxmlformats.org/drawingml/2006/main">
            <a:r>
              <a:t>- results/pt_control/checkpoint_selection.csv</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bar charts compare the deterministic baseline with the three selected pT-only seed models at independently calibrated event-level operating points.</a:t>
            </a:r>
          </a:p>
          <a:p xmlns:a="http://schemas.openxmlformats.org/drawingml/2006/main">
            <a:endParaRPr/>
          </a:p>
          <a:p xmlns:a="http://schemas.openxmlformats.org/drawingml/2006/main">
            <a:r>
              <a:t>The left chart uses the operational pair-eligible signal denominator. The baseline accepts 60.23 percent. The learned seeds accept between 56.61 and 57.55 percent.</a:t>
            </a:r>
          </a:p>
          <a:p xmlns:a="http://schemas.openxmlformats.org/drawingml/2006/main">
            <a:endParaRPr/>
          </a:p>
          <a:p xmlns:a="http://schemas.openxmlformats.org/drawingml/2006/main">
            <a:r>
              <a:t>The right chart uses the inclusive signal-sample denominator. This means accepted signal-sample events divided by every signal-sample event in the validation split, including ineligible and no-pair events. The baseline accepts 34.39 percent. The learned seeds accept between 32.13 and 32.71 percent.</a:t>
            </a:r>
          </a:p>
          <a:p xmlns:a="http://schemas.openxmlformats.org/drawingml/2006/main">
            <a:endParaRPr/>
          </a:p>
          <a:p xmlns:a="http://schemas.openxmlformats.org/drawingml/2006/main">
            <a:r>
              <a:t>The numerical model and baseline thresholds differ because their scores have different scales. The comparison remains fair because each system was calibrated independently to the same empirical background-event false-positive-rate limit.</a:t>
            </a:r>
          </a:p>
          <a:p xmlns:a="http://schemas.openxmlformats.org/drawingml/2006/main">
            <a:endParaRPr/>
          </a:p>
          <a:p xmlns:a="http://schemas.openxmlformats.org/drawingml/2006/main">
            <a:r>
              <a:t>The result shows that this two-scalar representation did not improve the event decision. It does not show that all pair models will underperform.</a:t>
            </a:r>
          </a:p>
          <a:p xmlns:a="http://schemas.openxmlformats.org/drawingml/2006/main">
            <a:endParaRPr/>
          </a:p>
          <a:p xmlns:a="http://schemas.openxmlformats.org/drawingml/2006/main">
            <a:r>
              <a:t>[Public references]</a:t>
            </a:r>
          </a:p>
          <a:p xmlns:a="http://schemas.openxmlformats.org/drawingml/2006/main">
            <a:r>
              <a:t>- results/pt_control/validation_summary.csv</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diagnostic produced two separate conclusions.</a:t>
            </a:r>
          </a:p>
          <a:p xmlns:a="http://schemas.openxmlformats.org/drawingml/2006/main">
            <a:endParaRPr/>
          </a:p>
          <a:p xmlns:a="http://schemas.openxmlformats.org/drawingml/2006/main">
            <a:r>
              <a:t>Mechanically, the pipeline passed. Pair and event counts reconciled, maximum aggregation was exact, independent calibration worked, cross-fitting executed correctly, and saved outputs remained traceable.</a:t>
            </a:r>
          </a:p>
          <a:p xmlns:a="http://schemas.openxmlformats.org/drawingml/2006/main">
            <a:endParaRPr/>
          </a:p>
          <a:p xmlns:a="http://schemas.openxmlformats.org/drawingml/2006/main">
            <a:r>
              <a:t>Scientifically, the measured-pT-only representation remained below the deterministic measured-pT baseline. This is not surprising: the baseline directly implements the required two-object pT logic, while the small network learned pair labels with binary cross-entropy.</a:t>
            </a:r>
          </a:p>
          <a:p xmlns:a="http://schemas.openxmlformats.org/drawingml/2006/main">
            <a:endParaRPr/>
          </a:p>
          <a:p xmlns:a="http://schemas.openxmlformats.org/drawingml/2006/main">
            <a:r>
              <a:t>The correct programme decision is to keep the validated comparison machinery and reject the two-scalar input as a competitive final representation. The next scientific question is whether calorimeter information from both TOBs improves the event decision.</a:t>
            </a:r>
          </a:p>
          <a:p xmlns:a="http://schemas.openxmlformats.org/drawingml/2006/main">
            <a:endParaRPr/>
          </a:p>
          <a:p xmlns:a="http://schemas.openxmlformats.org/drawingml/2006/main">
            <a:r>
              <a:t>The test set remains outside model and research-choice selection.</a:t>
            </a:r>
          </a:p>
          <a:p xmlns:a="http://schemas.openxmlformats.org/drawingml/2006/main">
            <a:endParaRPr/>
          </a:p>
          <a:p xmlns:a="http://schemas.openxmlformats.org/drawingml/2006/main">
            <a:r>
              <a:t>[Public references]</a:t>
            </a:r>
          </a:p>
          <a:p xmlns:a="http://schemas.openxmlformats.org/drawingml/2006/main">
            <a:r>
              <a:t>- results/pt_control/</a:t>
            </a:r>
          </a:p>
          <a:p xmlns:a="http://schemas.openxmlformats.org/drawingml/2006/main">
            <a:r>
              <a:t>- src/pair_validate.py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pT-only result leaves representation as the next scientific question.</a:t>
            </a:r>
          </a:p>
          <a:p xmlns:a="http://schemas.openxmlformats.org/drawingml/2006/main">
            <a:endParaRPr/>
          </a:p>
          <a:p xmlns:a="http://schemas.openxmlformats.org/drawingml/2006/main">
            <a:r>
              <a:t>One approach preserves the full five-layer coarse tensor from each TOB. That gives an uncompressed reference for how much useful calorimeter information is available.</a:t>
            </a:r>
          </a:p>
          <a:p xmlns:a="http://schemas.openxmlformats.org/drawingml/2006/main">
            <a:endParaRPr/>
          </a:p>
          <a:p xmlns:a="http://schemas.openxmlformats.org/drawingml/2006/main">
            <a:r>
              <a:t>The second approach replaces the cells with a much smaller vector of verified per-layer summaries. This is more compact and interpretable, but it may discard spatial information.</a:t>
            </a:r>
          </a:p>
          <a:p xmlns:a="http://schemas.openxmlformats.org/drawingml/2006/main">
            <a:endParaRPr/>
          </a:p>
          <a:p xmlns:a="http://schemas.openxmlformats.org/drawingml/2006/main">
            <a:r>
              <a:t>Measured pT creates a paired comparison inside each family: raw cells with and without pT, and layer summaries with and without pT. This isolates whether explicit pT adds value beyond the calorimeter representation.</a:t>
            </a:r>
          </a:p>
          <a:p xmlns:a="http://schemas.openxmlformats.org/drawingml/2006/main">
            <a:endParaRPr/>
          </a:p>
          <a:p xmlns:a="http://schemas.openxmlformats.org/drawingml/2006/main">
            <a:r>
              <a:t>During the first batch, the target, loss, training weighting, model seeds, pair-to-event maximum, and validation procedure remain unchanged. A performance difference can therefore be attributed to the input representation.</a:t>
            </a:r>
          </a:p>
          <a:p xmlns:a="http://schemas.openxmlformats.org/drawingml/2006/main">
            <a:endParaRPr/>
          </a:p>
          <a:p xmlns:a="http://schemas.openxmlformats.org/drawingml/2006/main">
            <a:r>
              <a:t>[Public references]</a:t>
            </a:r>
          </a:p>
          <a:p xmlns:a="http://schemas.openxmlformats.org/drawingml/2006/main">
            <a:r>
              <a:t>- src/pair_features.py</a:t>
            </a:r>
          </a:p>
          <a:p xmlns:a="http://schemas.openxmlformats.org/drawingml/2006/main">
            <a:r>
              <a:t>- configs/pair_raw_cells/</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training data only. It examined 153 safe scalar features across all 1,143,864 eligible training pairs from 197,699 events. It did not score validation or test events, choose a checkpoint, calibrate a model threshold, or measure final trigger efficiency.</a:t>
            </a:r>
          </a:p>
          <a:p xmlns:a="http://schemas.openxmlformats.org/drawingml/2006/main">
            <a:endParaRPr/>
          </a:p>
          <a:p xmlns:a="http://schemas.openxmlformats.org/drawingml/2006/main">
            <a:r>
              <a:t>For this analysis, a positive pair means that both TOBs have the verified operational positive label. Every other pair is treated as negative. The analysis asks how well one feature by itself separates those two groups.</a:t>
            </a:r>
          </a:p>
          <a:p xmlns:a="http://schemas.openxmlformats.org/drawingml/2006/main">
            <a:endParaRPr/>
          </a:p>
          <a:p xmlns:a="http://schemas.openxmlformats.org/drawingml/2006/main">
            <a:r>
              <a:t>The left graph summarizes one representative feature from each information family. The horizontal scale is AUC, a simple measure of how well one variable separates positive pairs from negative pairs. An AUC of 0.5 means no separation beyond chance. An AUC of 1.0 would mean perfect separation. The orientation was chosen so that larger values always mean stronger separation.</a:t>
            </a:r>
          </a:p>
          <a:p xmlns:a="http://schemas.openxmlformats.org/drawingml/2006/main">
            <a:endParaRPr/>
          </a:p>
          <a:p xmlns:a="http://schemas.openxmlformats.org/drawingml/2006/main">
            <a:r>
              <a:t>Measured pT is the strongest individual signal. The representative shown here is the lower member pT, with an AUC of 0.951. Pair geometry is represented by absolute delta phi or acoplanarity, with an AUC of 0.903. EM2 energy is represented by the best three-by-three energy sum, at about 0.898. Shower shape is represented by normalized EM2 width, at 0.820.</a:t>
            </a:r>
          </a:p>
          <a:p xmlns:a="http://schemas.openxmlformats.org/drawingml/2006/main">
            <a:endParaRPr/>
          </a:p>
          <a:p xmlns:a="http://schemas.openxmlformats.org/drawingml/2006/main">
            <a:r>
              <a:t>This tells us two things. First, the pair label is strongly connected to measured energy, which agrees with the strong deterministic pT baseline. Second, geometry and calorimeter shower information also contain useful separation, so richer pair inputs are worth testing.</a:t>
            </a:r>
          </a:p>
          <a:p xmlns:a="http://schemas.openxmlformats.org/drawingml/2006/main">
            <a:endParaRPr/>
          </a:p>
          <a:p xmlns:a="http://schemas.openxmlformats.org/drawingml/2006/main">
            <a:r>
              <a:t>The right panel shows why we should not simply combine every high-ranked variable. Each line connects two variables with an absolute rank correlation of one, meaning that they rank the training pairs in exactly the same order.</a:t>
            </a:r>
          </a:p>
          <a:p xmlns:a="http://schemas.openxmlformats.org/drawingml/2006/main">
            <a:endParaRPr/>
          </a:p>
          <a:p xmlns:a="http://schemas.openxmlformats.org/drawingml/2006/main">
            <a:r>
              <a:t>Pair minimum pT is exactly the lower-member pT. Pair maximum pT is exactly the higher-member pT. Absolute delta phi and acoplanarity contain the same angular information with opposite direction. EM2 total energy and the coarse EM2 sum have identical rankings in this export.</a:t>
            </a:r>
          </a:p>
          <a:p xmlns:a="http://schemas.openxmlformats.org/drawingml/2006/main">
            <a:endParaRPr/>
          </a:p>
          <a:p xmlns:a="http://schemas.openxmlformats.org/drawingml/2006/main">
            <a:r>
              <a:t>Including both members of each pair would add input size without adding independent information. The complete correlation study also found several strongly related event-level pT summaries.</a:t>
            </a:r>
          </a:p>
          <a:p xmlns:a="http://schemas.openxmlformats.org/drawingml/2006/main">
            <a:endParaRPr/>
          </a:p>
          <a:p xmlns:a="http://schemas.openxmlformats.org/drawingml/2006/main">
            <a:r>
              <a:t>The conclusion is deliberately limited. This analysis helped prioritize the representation experiments: compare raw cells with layer summaries, test measured pT explicitly, later add one geometry feature, and preserve full high-resolution EM2 as a richer direction. A strong individual AUC does not prove that the feature improves a trained model, and correlation does not prove causation. Only the controlled validation comparison can select the representation.</a:t>
            </a:r>
          </a:p>
          <a:p xmlns:a="http://schemas.openxmlformats.org/drawingml/2006/main">
            <a:endParaRPr/>
          </a:p>
          <a:p xmlns:a="http://schemas.openxmlformats.org/drawingml/2006/main">
            <a:r>
              <a:t>[Public references]</a:t>
            </a:r>
          </a:p>
          <a:p xmlns:a="http://schemas.openxmlformats.org/drawingml/2006/main">
            <a:r>
              <a:t>- results/training_feature_analysis/feature_ranking.csv</a:t>
            </a:r>
          </a:p>
          <a:p xmlns:a="http://schemas.openxmlformats.org/drawingml/2006/main">
            <a:r>
              <a:t>- results/training_feature_analysis/redundant_features.csv</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replaces the internal letter-number labels with descriptive names.</a:t>
            </a:r>
          </a:p>
          <a:p xmlns:a="http://schemas.openxmlformats.org/drawingml/2006/main">
            <a:endParaRPr/>
          </a:p>
          <a:p xmlns:a="http://schemas.openxmlformats.org/drawingml/2006/main">
            <a:r>
              <a:t>Raw cells contains 45 coarse calorimeter values from member L followed by 45 from member S. Raw cells plus measured pT adds one member-local pT value after each 45-value tensor block.</a:t>
            </a:r>
          </a:p>
          <a:p xmlns:a="http://schemas.openxmlformats.org/drawingml/2006/main">
            <a:endParaRPr/>
          </a:p>
          <a:p xmlns:a="http://schemas.openxmlformats.org/drawingml/2006/main">
            <a:r>
              <a:t>Layer summaries contains sixteen verified values per member: five active-cell counts, five layer sums, five dominance values, and one EM2 containment fraction. The pT version adds one measured pT value for each member.</a:t>
            </a:r>
          </a:p>
          <a:p xmlns:a="http://schemas.openxmlformats.org/drawingml/2006/main">
            <a:endParaRPr/>
          </a:p>
          <a:p xmlns:a="http://schemas.openxmlformats.org/drawingml/2006/main">
            <a:r>
              <a:t>The cross-layer summed grid would reduce each TOB from 45 values to nine by adding cells with the same array indices across layers. It remains conditional because equal array indices may not correspond to equal physical detector regions.</a:t>
            </a:r>
          </a:p>
          <a:p xmlns:a="http://schemas.openxmlformats.org/drawingml/2006/main">
            <a:endParaRPr/>
          </a:p>
          <a:p xmlns:a="http://schemas.openxmlformats.org/drawingml/2006/main">
            <a:r>
              <a:t>The raw input is an offline scientific reference. If 90 values later prove unsuitable for deployment, its role still remains useful because it measures what compact representations need to preserve.</a:t>
            </a:r>
          </a:p>
          <a:p xmlns:a="http://schemas.openxmlformats.org/drawingml/2006/main">
            <a:endParaRPr/>
          </a:p>
          <a:p xmlns:a="http://schemas.openxmlformats.org/drawingml/2006/main">
            <a:r>
              <a:t>[Public references]</a:t>
            </a:r>
          </a:p>
          <a:p xmlns:a="http://schemas.openxmlformats.org/drawingml/2006/main">
            <a:r>
              <a:t>- src/pair_features.py</a:t>
            </a:r>
          </a:p>
          <a:p xmlns:a="http://schemas.openxmlformats.org/drawingml/2006/main">
            <a:r>
              <a:t>- tests/test_pair_features.py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cells is the uncompressed five-layer coarse-tensor reference. It contains exactly 90 values: the C-order flattened 5-by-3-by-3 tensor for L followed by the corresponding tensor for S.</a:t>
            </a:r>
          </a:p>
          <a:p xmlns:a="http://schemas.openxmlformats.org/drawingml/2006/main">
            <a:endParaRPr/>
          </a:p>
          <a:p xmlns:a="http://schemas.openxmlformats.org/drawingml/2006/main">
            <a:r>
              <a:t>Raw cells plus measured pT contains 92 values. The layout is member-local: 45 cells for L, then pT for L, followed by 45 cells for S and pT for S. Measured pT remains in raw MeV.</a:t>
            </a:r>
          </a:p>
          <a:p xmlns:a="http://schemas.openxmlformats.org/drawingml/2006/main">
            <a:endParaRPr/>
          </a:p>
          <a:p xmlns:a="http://schemas.openxmlformats.org/drawingml/2006/main">
            <a:r>
              <a:t>The mapping tests reconstruct both source tensors exactly, preserve layer and cell order, remain unchanged when truth columns change, and bind every vector to its pair identity.</a:t>
            </a:r>
          </a:p>
          <a:p xmlns:a="http://schemas.openxmlformats.org/drawingml/2006/main">
            <a:endParaRPr/>
          </a:p>
          <a:p xmlns:a="http://schemas.openxmlformats.org/drawingml/2006/main">
            <a:r>
              <a:t>Both candidates passed on the complete and eligible training populations. They have not yet been normalized, encoded, trained, or evaluated. The mapping result proves input correctness, not model performance.</a:t>
            </a:r>
          </a:p>
          <a:p xmlns:a="http://schemas.openxmlformats.org/drawingml/2006/main">
            <a:endParaRPr/>
          </a:p>
          <a:p xmlns:a="http://schemas.openxmlformats.org/drawingml/2006/main">
            <a:r>
              <a:t>[Public references]</a:t>
            </a:r>
          </a:p>
          <a:p xmlns:a="http://schemas.openxmlformats.org/drawingml/2006/main">
            <a:r>
              <a:t>- src/pair_features.py</a:t>
            </a:r>
          </a:p>
          <a:p xmlns:a="http://schemas.openxmlformats.org/drawingml/2006/main">
            <a:r>
              <a:t>- tests/test_pair_features.py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layer-summary representation uses sixteen values for each member.</a:t>
            </a:r>
          </a:p>
          <a:p xmlns:a="http://schemas.openxmlformats.org/drawingml/2006/main">
            <a:endParaRPr/>
          </a:p>
          <a:p xmlns:a="http://schemas.openxmlformats.org/drawingml/2006/main">
            <a:r>
              <a:t>For every coarse layer, it stores the total energy, a dominance quantity that compares the largest cell with the rest of the layer, and the number of cells above ten percent of the layer maximum. The final value is the fraction of the high-resolution EM2 energy captured by the best contiguous three-by-three window.</a:t>
            </a:r>
          </a:p>
          <a:p xmlns:a="http://schemas.openxmlformats.org/drawingml/2006/main">
            <a:endParaRPr/>
          </a:p>
          <a:p xmlns:a="http://schemas.openxmlformats.org/drawingml/2006/main">
            <a:r>
              <a:t>The pair vector keeps the two member summary blocks separate, giving 32 values. The pT version inserts measured pT after each member's sixteen summaries, giving 34 values.</a:t>
            </a:r>
          </a:p>
          <a:p xmlns:a="http://schemas.openxmlformats.org/drawingml/2006/main">
            <a:endParaRPr/>
          </a:p>
          <a:p xmlns:a="http://schemas.openxmlformats.org/drawingml/2006/main">
            <a:r>
              <a:t>Independent hand-calculated examples verified the formulas before comparison with the authenticated registered feature functions. Production mapping found zero mismatches and zero non-finite outputs. The pT extension preserved every summary block exactly.</a:t>
            </a:r>
          </a:p>
          <a:p xmlns:a="http://schemas.openxmlformats.org/drawingml/2006/main">
            <a:endParaRPr/>
          </a:p>
          <a:p xmlns:a="http://schemas.openxmlformats.org/drawingml/2006/main">
            <a:r>
              <a:t>These results prove that the candidate vectors are correctly mapped. They do not yet tell us whether summaries retain enough information to match the raw cells or beat the deterministic baseline.</a:t>
            </a:r>
          </a:p>
          <a:p xmlns:a="http://schemas.openxmlformats.org/drawingml/2006/main">
            <a:endParaRPr/>
          </a:p>
          <a:p xmlns:a="http://schemas.openxmlformats.org/drawingml/2006/main">
            <a:r>
              <a:t>[Public references]</a:t>
            </a:r>
          </a:p>
          <a:p xmlns:a="http://schemas.openxmlformats.org/drawingml/2006/main">
            <a:r>
              <a:t>- src/pair_features.py</a:t>
            </a:r>
          </a:p>
          <a:p xmlns:a="http://schemas.openxmlformats.org/drawingml/2006/main">
            <a:r>
              <a:t>- tests/test_pair_features.py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considered a very compact representation that adds the five values stored at the same row and column across detector layers. This would reduce one TOB from 45 values to nine.</a:t>
            </a:r>
          </a:p>
          <a:p xmlns:a="http://schemas.openxmlformats.org/drawingml/2006/main">
            <a:endParaRPr/>
          </a:p>
          <a:p xmlns:a="http://schemas.openxmlformats.org/drawingml/2006/main">
            <a:r>
              <a:t>A simple analogy is adding pixels from five maps shown at different zoom levels. Every map may be a three-by-three image around the same centre, but pixel zero-zero can cover a different-sized region in each map. Adding those pixels creates a number, but the number may not represent one common physical area.</a:t>
            </a:r>
          </a:p>
          <a:p xmlns:a="http://schemas.openxmlformats.org/drawingml/2006/main">
            <a:endParaRPr/>
          </a:p>
          <a:p xmlns:a="http://schemas.openxmlformats.org/drawingml/2006/main">
            <a:r>
              <a:t>The detector documentation indicates that the layers retain different native granularities. The five-layer axis is not a spatial axis. The proposed sum would also remove the information about which detector depth produced the energy.</a:t>
            </a:r>
          </a:p>
          <a:p xmlns:a="http://schemas.openxmlformats.org/drawingml/2006/main">
            <a:endParaRPr/>
          </a:p>
          <a:p xmlns:a="http://schemas.openxmlformats.org/drawingml/2006/main">
            <a:r>
              <a:t>The strict rule is therefore to include this compact candidate only if explicit preprocessing evidence proves resampling onto a common physical grid. Otherwise, we exclude it and retain the sound alternatives that preserve layer identity.</a:t>
            </a:r>
          </a:p>
          <a:p xmlns:a="http://schemas.openxmlformats.org/drawingml/2006/main">
            <a:endParaRPr/>
          </a:p>
          <a:p xmlns:a="http://schemas.openxmlformats.org/drawingml/2006/main">
            <a:r>
              <a:t>[Public references]</a:t>
            </a:r>
          </a:p>
          <a:p xmlns:a="http://schemas.openxmlformats.org/drawingml/2006/main">
            <a:r>
              <a:t>- src/pair_features.py</a:t>
            </a:r>
          </a:p>
          <a:p xmlns:a="http://schemas.openxmlformats.org/drawingml/2006/main">
            <a:r>
              <a:t>- tests/test_pair_features.py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descriptive candidates have now passed their mapping gates: raw cells, raw cells plus measured pT, layer summaries, and layer summaries plus measured pT.</a:t>
            </a:r>
          </a:p>
          <a:p xmlns:a="http://schemas.openxmlformats.org/drawingml/2006/main">
            <a:endParaRPr/>
          </a:p>
          <a:p xmlns:a="http://schemas.openxmlformats.org/drawingml/2006/main">
            <a:r>
              <a:t>Each mapping reconciles the complete 1,292,919 training-pair inventory and the 1,143,864 eligible training-pair population. Every mapped value is finite, and validation or test semantic inputs were not interpreted.</a:t>
            </a:r>
          </a:p>
          <a:p xmlns:a="http://schemas.openxmlformats.org/drawingml/2006/main">
            <a:endParaRPr/>
          </a:p>
          <a:p xmlns:a="http://schemas.openxmlformats.org/drawingml/2006/main">
            <a:r>
              <a:t>These are data-mapping results. They establish that each pair vector contains the intended two TOBs in the intended order. The raw-cell-plus-pT and summary-plus-pT candidates later entered the validation screen. The pT-free forms remain mapped scientific references and have not been trained as standalone comparison candidates.</a:t>
            </a:r>
          </a:p>
          <a:p xmlns:a="http://schemas.openxmlformats.org/drawingml/2006/main">
            <a:endParaRPr/>
          </a:p>
          <a:p xmlns:a="http://schemas.openxmlformats.org/drawingml/2006/main">
            <a:r>
              <a:t>The validation results shown next come only after these mapping checks, training-only analysis, candidate-specific normalization, and a common model and selection contract were fixed.</a:t>
            </a:r>
          </a:p>
          <a:p xmlns:a="http://schemas.openxmlformats.org/drawingml/2006/main">
            <a:endParaRPr/>
          </a:p>
          <a:p xmlns:a="http://schemas.openxmlformats.org/drawingml/2006/main">
            <a:r>
              <a:t>[Public references]</a:t>
            </a:r>
          </a:p>
          <a:p xmlns:a="http://schemas.openxmlformats.org/drawingml/2006/main">
            <a:r>
              <a:t>- src/pair_features.py</a:t>
            </a:r>
          </a:p>
          <a:p xmlns:a="http://schemas.openxmlformats.org/drawingml/2006/main">
            <a:r>
              <a:t>- src/prepare_pair_data.py</a:t>
            </a:r>
          </a:p>
          <a:p xmlns:a="http://schemas.openxmlformats.org/drawingml/2006/main">
            <a:r>
              <a:t>- tests/test_prepare_pair_data.py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8B was the first substantive representation experiment.</a:t>
            </a:r>
          </a:p>
          <a:p xmlns:a="http://schemas.openxmlformats.org/drawingml/2006/main">
            <a:endParaRPr/>
          </a:p>
          <a:p xmlns:a="http://schemas.openxmlformats.org/drawingml/2006/main">
            <a:r>
              <a:t>One model example remains one canonical pair. The candidate supplies a member vector for L and one for S. A candidate-specific normalizer is fitted using eligible training pairs only. The same physical feature uses the same fitted transformation in both member slots.</a:t>
            </a:r>
          </a:p>
          <a:p xmlns:a="http://schemas.openxmlformats.org/drawingml/2006/main">
            <a:endParaRPr/>
          </a:p>
          <a:p xmlns:a="http://schemas.openxmlformats.org/drawingml/2006/main">
            <a:r>
              <a:t>The target, loss, pair weighting, training schedule, maximum aggregation, and validation procedure remained fixed. The first screen used seed 42. The promoted candidates were then repeated with seeds 42, 123, and 456. The only changed factor within each comparison was the representation and its required input dimension.</a:t>
            </a:r>
          </a:p>
          <a:p xmlns:a="http://schemas.openxmlformats.org/drawingml/2006/main">
            <a:endParaRPr/>
          </a:p>
          <a:p xmlns:a="http://schemas.openxmlformats.org/drawingml/2006/main">
            <a:r>
              <a:t>Checkpoint selection uses pair-eligible event efficiency at no more than 0.5 percent event-level background FPR. Representation selection uses inclusive signal-sample event efficiency at that operating point. Inclusive means accepted signal-sample events divided by every signal-sample event in the evaluated split, including ineligible and no-pair events.</a:t>
            </a:r>
          </a:p>
          <a:p xmlns:a="http://schemas.openxmlformats.org/drawingml/2006/main">
            <a:endParaRPr/>
          </a:p>
          <a:p xmlns:a="http://schemas.openxmlformats.org/drawingml/2006/main">
            <a:r>
              <a:t>The baseline fold thresholds are calculated once and reused. Every learned candidate, seed, checkpoint, and calibration fold receives its appropriate independent temporary threshold. The test outcomes remain unopened.</a:t>
            </a:r>
          </a:p>
          <a:p xmlns:a="http://schemas.openxmlformats.org/drawingml/2006/main">
            <a:endParaRPr/>
          </a:p>
          <a:p xmlns:a="http://schemas.openxmlformats.org/drawingml/2006/main">
            <a:r>
              <a:t>[Public references]</a:t>
            </a:r>
          </a:p>
          <a:p xmlns:a="http://schemas.openxmlformats.org/drawingml/2006/main">
            <a:r>
              <a:t>- src/pair_train.py</a:t>
            </a:r>
          </a:p>
          <a:p xmlns:a="http://schemas.openxmlformats.org/drawingml/2006/main">
            <a:r>
              <a:t>- src/pair_validate.py</a:t>
            </a:r>
          </a:p>
          <a:p xmlns:a="http://schemas.openxmlformats.org/drawingml/2006/main">
            <a:r>
              <a:t>- configs/pair_rep_raw_cells_pt/</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means that the event passes the trigger selection we are studying.</a:t>
            </a:r>
          </a:p>
          <a:p xmlns:a="http://schemas.openxmlformats.org/drawingml/2006/main">
            <a:r>
              <a:t/>
            </a:r>
            <a:endParaRPr/>
          </a:p>
          <a:p xmlns:a="http://schemas.openxmlformats.org/drawingml/2006/main">
            <a:r>
              <a:t>The reported percentage is event-level signal efficiency. It is not classification accuracy, pair accuracy, TOB efficiency, or the percentage of truth taus identified.</a:t>
            </a:r>
          </a:p>
          <a:p xmlns:a="http://schemas.openxmlformats.org/drawingml/2006/main">
            <a:r>
              <a:t/>
            </a:r>
            <a:endParaRPr/>
          </a:p>
          <a:p xmlns:a="http://schemas.openxmlformats.org/drawingml/2006/main">
            <a:r>
              <a:t>For example: At a background-event false-positive rate of at most 0.5%, the system accepts approximately 44% of the signal-sample events.</a:t>
            </a:r>
          </a:p>
          <a:p xmlns:a="http://schemas.openxmlformats.org/drawingml/2006/main">
            <a:r>
              <a:t/>
            </a:r>
            <a:endParaRPr/>
          </a:p>
          <a:p xmlns:a="http://schemas.openxmlformats.org/drawingml/2006/main">
            <a:r>
              <a:t>In simple terms, it keeps approximately 44 of every 100 signal events while incorrectly accepting at most approximately 5 of every 1,000 background events.</a:t>
            </a:r>
          </a:p>
          <a:p xmlns:a="http://schemas.openxmlformats.org/drawingml/2006/main">
            <a:r>
              <a:t/>
            </a:r>
            <a:endParaRPr/>
          </a:p>
          <a:p xmlns:a="http://schemas.openxmlformats.org/drawingml/2006/main">
            <a:r>
              <a:t>Each method receives its own threshold so that all methods are compared under the same background 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multi-seed validation result from the pair-representation programme.</a:t>
            </a:r>
          </a:p>
          <a:p xmlns:a="http://schemas.openxmlformats.org/drawingml/2006/main">
            <a:endParaRPr/>
          </a:p>
          <a:p xmlns:a="http://schemas.openxmlformats.org/drawingml/2006/main">
            <a:r>
              <a:t>The vertical quantity represented by each bar is inclusive signal-sample event efficiency. In plain language, this is the fraction of all signal-sample validation events that pass. The denominator includes events that were excluded from pair training and events that produce no valid pair.</a:t>
            </a:r>
          </a:p>
          <a:p xmlns:a="http://schemas.openxmlformats.org/drawingml/2006/main">
            <a:endParaRPr/>
          </a:p>
          <a:p xmlns:a="http://schemas.openxmlformats.org/drawingml/2006/main">
            <a:r>
              <a:t>Every method receives its own threshold. The deterministic baseline accepts 123 of 24,835 validation-background events, which is 0.4953 percent. Every selected learned seed model accepts 124 background events, which is 0.4993 percent. The thresholds have different numerical values because the baseline score is measured pT and the model score is a neural logit.</a:t>
            </a:r>
          </a:p>
          <a:p xmlns:a="http://schemas.openxmlformats.org/drawingml/2006/main">
            <a:endParaRPr/>
          </a:p>
          <a:p xmlns:a="http://schemas.openxmlformats.org/drawingml/2006/main">
            <a:r>
              <a:t>The baseline reaches 34.39 percent inclusive efficiency. The raw coarse-cell representation with measured member pT reaches a three-seed mean of 40.94 percent, with a 0.31-percentage-point seed standard deviation.</a:t>
            </a:r>
          </a:p>
          <a:p xmlns:a="http://schemas.openxmlformats.org/drawingml/2006/main">
            <a:endParaRPr/>
          </a:p>
          <a:p xmlns:a="http://schemas.openxmlformats.org/drawingml/2006/main">
            <a:r>
              <a:t>The compact normalized EM2 summary representation includes member pT and the event's second-highest measured pT. It reaches 42.01 percent, with a 0.19-point seed standard deviation.</a:t>
            </a:r>
          </a:p>
          <a:p xmlns:a="http://schemas.openxmlformats.org/drawingml/2006/main">
            <a:endParaRPr/>
          </a:p>
          <a:p xmlns:a="http://schemas.openxmlformats.org/drawingml/2006/main">
            <a:r>
              <a:t>The leading representation uses raw EM2 dominance, the high-resolution EM2 best-three-by-three fraction, measured member pT, and the event's second-highest measured pT. It reaches 42.46 percent, with a 0.62-point seed standard deviation. Its mean difference from the baseline is 8.07 percentage points.</a:t>
            </a:r>
          </a:p>
          <a:p xmlns:a="http://schemas.openxmlformats.org/drawingml/2006/main">
            <a:endParaRPr/>
          </a:p>
          <a:p xmlns:a="http://schemas.openxmlformats.org/drawingml/2006/main">
            <a:r>
              <a:t>All candidates use the same shared-member encoder, ordered member fusion, binary target, unweighted pair loss, maximum pair-to-event aggregation, training schedule, and validation procedure. This makes the input information the controlled difference.</a:t>
            </a:r>
          </a:p>
          <a:p xmlns:a="http://schemas.openxmlformats.org/drawingml/2006/main">
            <a:endParaRPr/>
          </a:p>
          <a:p xmlns:a="http://schemas.openxmlformats.org/drawingml/2006/main">
            <a:r>
              <a:t>The conclusion is limited to the current validation sample. The programme examined several candidates on these validation events, so protected confirmation and an unbiased final sample are still required. The test set remains unopened.</a:t>
            </a:r>
          </a:p>
          <a:p xmlns:a="http://schemas.openxmlformats.org/drawingml/2006/main">
            <a:endParaRPr/>
          </a:p>
          <a:p xmlns:a="http://schemas.openxmlformats.org/drawingml/2006/main">
            <a:r>
              <a:t>[Public references]</a:t>
            </a:r>
          </a:p>
          <a:p xmlns:a="http://schemas.openxmlformats.org/drawingml/2006/main">
            <a:r>
              <a:t>- results/representation_study/representation_validation.csv</a:t>
            </a:r>
          </a:p>
          <a:p xmlns:a="http://schemas.openxmlformats.org/drawingml/2006/main">
            <a:r>
              <a:t>- results/plots/representation_validation.png</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 asked a broader representation question than the preceding experiment.</a:t>
            </a:r>
          </a:p>
          <a:p xmlns:a="http://schemas.openxmlformats.org/drawingml/2006/main">
            <a:r>
              <a:t/>
            </a:r>
            <a:endParaRPr/>
          </a:p>
          <a:p xmlns:a="http://schemas.openxmlformats.org/drawingml/2006/main">
            <a:r>
              <a:t>We compared twenty-two ways to describe the two TOBs while using one fixed pair model. The same member encoder and the same learned weights processed the higher-pT member and the lower-pT member.</a:t>
            </a:r>
          </a:p>
          <a:p xmlns:a="http://schemas.openxmlformats.org/drawingml/2006/main">
            <a:r>
              <a:t/>
            </a:r>
            <a:endParaRPr/>
          </a:p>
          <a:p xmlns:a="http://schemas.openxmlformats.org/drawingml/2006/main">
            <a:r>
              <a:t>The two member embeddings were combined symmetrically. The model used their sum and their absolute difference. Exchanging the two pair members therefore produced the same combined representation.</a:t>
            </a:r>
          </a:p>
          <a:p xmlns:a="http://schemas.openxmlformats.org/drawingml/2006/main">
            <a:r>
              <a:t/>
            </a:r>
            <a:endParaRPr/>
          </a:p>
          <a:p xmlns:a="http://schemas.openxmlformats.org/drawingml/2006/main">
            <a:r>
              <a:t>The binary target, unweighted loss, training recipe, maximum pair-to-event aggregation and independently calibrated event thresholds remained fixed. Only the input representation changed.</a:t>
            </a:r>
          </a:p>
          <a:p xmlns:a="http://schemas.openxmlformats.org/drawingml/2006/main">
            <a:r>
              <a:t/>
            </a:r>
            <a:endParaRPr/>
          </a:p>
          <a:p xmlns:a="http://schemas.openxmlformats.org/drawingml/2006/main">
            <a:r>
              <a:t>The first screen used seed 42. Nineteen representations did not justify further work and were closed. Three representative family checks were then trained and evaluated with seeds 42, 123 and 456.</a:t>
            </a:r>
          </a:p>
          <a:p xmlns:a="http://schemas.openxmlformats.org/drawingml/2006/main">
            <a:r>
              <a:t/>
            </a:r>
            <a:endParaRPr/>
          </a:p>
          <a:p xmlns:a="http://schemas.openxmlformats.org/drawingml/2006/main">
            <a:r>
              <a:t>The three checks were: all forty-five coarse calorimeter cells from each TOB; the same cells with each member's measured pT; and a compact set of EM2 shower measurements with measured pT.</a:t>
            </a:r>
          </a:p>
          <a:p xmlns:a="http://schemas.openxmlformats.org/drawingml/2006/main">
            <a:r>
              <a:t/>
            </a:r>
          </a:p>
          <a:p xmlns:a="http://schemas.openxmlformats.org/drawingml/2006/main">
            <a:r>
              <a:t>These values should not be numerically merged with the preceding representation experiment. That earlier experiment used a different encoder and pair-combination design. This slide begins a separate controlled screen.</a:t>
            </a:r>
          </a:p>
          <a:p xmlns:a="http://schemas.openxmlformats.org/drawingml/2006/main">
            <a:r>
              <a:t/>
            </a:r>
          </a:p>
          <a:p xmlns:a="http://schemas.openxmlformats.org/drawingml/2006/main">
            <a:r>
              <a:t>All results here come from adaptive validation. The test sample remained unopened.</a:t>
            </a:r>
          </a:p>
          <a:p xmlns:a="http://schemas.openxmlformats.org/drawingml/2006/main">
            <a:r>
              <a:t/>
            </a:r>
          </a:p>
          <a:p xmlns:a="http://schemas.openxmlformats.org/drawingml/2006/main">
            <a:r>
              <a:t>[Public references]</a:t>
            </a:r>
          </a:p>
          <a:p xmlns:a="http://schemas.openxmlformats.org/drawingml/2006/main">
            <a:r>
              <a:t>- results/representation_reproduction/seed42_scalar_coarse_screen.csv</a:t>
            </a:r>
          </a:p>
          <a:p xmlns:a="http://schemas.openxmlformats.org/drawingml/2006/main">
            <a:r>
              <a:t>- configs/pair_coarse_cells_shared/</a:t>
            </a:r>
          </a:p>
          <a:p xmlns:a="http://schemas.openxmlformats.org/drawingml/2006/main">
            <a:r>
              <a:t>- configs/pair_coarse_cells_pt_shared/</a:t>
            </a:r>
          </a:p>
          <a:p xmlns:a="http://schemas.openxmlformats.org/drawingml/2006/main">
            <a:r>
              <a:t>- configs/pair_compact_em2_pt_shared/</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graph compares the three reproduced representation families with the deterministic baseline.</a:t>
            </a:r>
          </a:p>
          <a:p xmlns:a="http://schemas.openxmlformats.org/drawingml/2006/main">
            <a:r>
              <a:t/>
            </a:r>
            <a:endParaRPr/>
          </a:p>
          <a:p xmlns:a="http://schemas.openxmlformats.org/drawingml/2006/main">
            <a:r>
              <a:t>Inclusive signal-sample efficiency means accepted signal-sample events divided by all signal-sample events in the validation split. Events that were not eligible for pair training and events with no valid pair remain in the denominator.</a:t>
            </a:r>
          </a:p>
          <a:p xmlns:a="http://schemas.openxmlformats.org/drawingml/2006/main">
            <a:r>
              <a:t/>
            </a:r>
            <a:endParaRPr/>
          </a:p>
          <a:p xmlns:a="http://schemas.openxmlformats.org/drawingml/2006/main">
            <a:r>
              <a:t>Every candidate and the baseline received its own event-level threshold. Each threshold accepts no more than 0.5 percent of validation background events. The numerical thresholds differ because the score scales differ.</a:t>
            </a:r>
          </a:p>
          <a:p xmlns:a="http://schemas.openxmlformats.org/drawingml/2006/main">
            <a:r>
              <a:t/>
            </a:r>
            <a:endParaRPr/>
          </a:p>
          <a:p xmlns:a="http://schemas.openxmlformats.org/drawingml/2006/main">
            <a:r>
              <a:t>The baseline efficiency is 34.392 percent.</a:t>
            </a:r>
          </a:p>
          <a:p xmlns:a="http://schemas.openxmlformats.org/drawingml/2006/main">
            <a:r>
              <a:t/>
            </a:r>
            <a:endParaRPr/>
          </a:p>
          <a:p xmlns:a="http://schemas.openxmlformats.org/drawingml/2006/main">
            <a:r>
              <a:t>The compact EM2 shower measurements plus measured pT reach 40.249, 40.468 and 40.057 percent for seeds 42, 123 and 456. Their mean is 40.258 percent, a gain of 5.866 percentage points over the baseline.</a:t>
            </a:r>
          </a:p>
          <a:p xmlns:a="http://schemas.openxmlformats.org/drawingml/2006/main">
            <a:r>
              <a:t/>
            </a:r>
            <a:endParaRPr/>
          </a:p>
          <a:p xmlns:a="http://schemas.openxmlformats.org/drawingml/2006/main">
            <a:r>
              <a:t>The raw coarse cells without measured pT reach 41.125, 40.879 and 40.318 percent. Their mean is 40.774 percent, a gain of 6.382 points.</a:t>
            </a:r>
          </a:p>
          <a:p xmlns:a="http://schemas.openxmlformats.org/drawingml/2006/main">
            <a:r>
              <a:t/>
            </a:r>
            <a:endParaRPr/>
          </a:p>
          <a:p xmlns:a="http://schemas.openxmlformats.org/drawingml/2006/main">
            <a:r>
              <a:t>The raw coarse cells with measured pT reach 40.892, 41.043 and 40.619 percent. Their mean is 40.851 percent, a gain of 6.459 points.</a:t>
            </a:r>
          </a:p>
          <a:p xmlns:a="http://schemas.openxmlformats.org/drawingml/2006/main">
            <a:r>
              <a:t/>
            </a:r>
            <a:endParaRPr/>
          </a:p>
          <a:p xmlns:a="http://schemas.openxmlformats.org/drawingml/2006/main">
            <a:r>
              <a:t>Adding measured pT to the raw cells changes the three-seed mean by only 0.077 percentage points. The ordering also changes across seeds: raw cells without pT lead for seed 42, while raw cells with pT lead for seeds 123 and 456. We therefore do not claim a reproducible pT gain in this fixed model.</a:t>
            </a:r>
          </a:p>
          <a:p xmlns:a="http://schemas.openxmlformats.org/drawingml/2006/main">
            <a:r>
              <a:t/>
            </a:r>
            <a:endParaRPr/>
          </a:p>
          <a:p xmlns:a="http://schemas.openxmlformats.org/drawingml/2006/main">
            <a:r>
              <a:t>None of these three candidates displaced the later high-resolution reference. Also, the 44.15-percent frozen seed-42 comparator used inside this screen must not be confused with the later 44.76-percent three-seed hybrid mean. They come from different comparison contexts.</a:t>
            </a:r>
          </a:p>
          <a:p xmlns:a="http://schemas.openxmlformats.org/drawingml/2006/main">
            <a:r>
              <a:t/>
            </a:r>
          </a:p>
          <a:p xmlns:a="http://schemas.openxmlformats.org/drawingml/2006/main">
            <a:r>
              <a:t>These are adaptive-validation results. The test sample remained unopened.</a:t>
            </a:r>
          </a:p>
          <a:p xmlns:a="http://schemas.openxmlformats.org/drawingml/2006/main">
            <a:r>
              <a:t/>
            </a:r>
          </a:p>
          <a:p xmlns:a="http://schemas.openxmlformats.org/drawingml/2006/main">
            <a:r>
              <a:t>[Public references]</a:t>
            </a:r>
          </a:p>
          <a:p xmlns:a="http://schemas.openxmlformats.org/drawingml/2006/main">
            <a:r>
              <a:t>- results/representation_reproduction/global_validation.csv</a:t>
            </a:r>
          </a:p>
          <a:p xmlns:a="http://schemas.openxmlformats.org/drawingml/2006/main">
            <a:r>
              <a:t>- results/representation_reproduction/global_summary.csv</a:t>
            </a:r>
          </a:p>
          <a:p xmlns:a="http://schemas.openxmlformats.org/drawingml/2006/main">
            <a:r>
              <a:t>- results/representation_reproduction/representation_reproduction_global.png</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graph asks whether the global efficiency gain appears consistently across measured-energy regions.</a:t>
            </a:r>
          </a:p>
          <a:p xmlns:a="http://schemas.openxmlformats.org/drawingml/2006/main">
            <a:r>
              <a:t/>
            </a:r>
            <a:endParaRPr/>
          </a:p>
          <a:p xmlns:a="http://schemas.openxmlformats.org/drawingml/2006/main">
            <a:r>
              <a:t>Each bar is the mean candidate-minus-baseline efficiency difference across seeds 42, 123 and 456. Positive values mean the pair model accepts more signal events than the deterministic baseline in that region. Negative values mean it accepts fewer.</a:t>
            </a:r>
          </a:p>
          <a:p xmlns:a="http://schemas.openxmlformats.org/drawingml/2006/main">
            <a:r>
              <a:t/>
            </a:r>
            <a:endParaRPr/>
          </a:p>
          <a:p xmlns:a="http://schemas.openxmlformats.org/drawingml/2006/main">
            <a:r>
              <a:t>For raw cells without measured pT, the mean differences are plus 15.73 points at 10 to 25 GeV, plus 18.51 points at 25 to 60 GeV and minus 3.28 points at 60 GeV and above.</a:t>
            </a:r>
          </a:p>
          <a:p xmlns:a="http://schemas.openxmlformats.org/drawingml/2006/main">
            <a:r>
              <a:t/>
            </a:r>
            <a:endParaRPr/>
          </a:p>
          <a:p xmlns:a="http://schemas.openxmlformats.org/drawingml/2006/main">
            <a:r>
              <a:t>For raw cells with measured pT, the corresponding differences are plus 15.82, plus 17.82 and minus 2.77 points.</a:t>
            </a:r>
          </a:p>
          <a:p xmlns:a="http://schemas.openxmlformats.org/drawingml/2006/main">
            <a:r>
              <a:t/>
            </a:r>
            <a:endParaRPr/>
          </a:p>
          <a:p xmlns:a="http://schemas.openxmlformats.org/drawingml/2006/main">
            <a:r>
              <a:t>For compact EM2 shower measurements with measured pT, the differences are plus 14.27, plus 16.14 and minus 2.21 points.</a:t>
            </a:r>
          </a:p>
          <a:p xmlns:a="http://schemas.openxmlformats.org/drawingml/2006/main">
            <a:r>
              <a:t/>
            </a:r>
            <a:endParaRPr/>
          </a:p>
          <a:p xmlns:a="http://schemas.openxmlformats.org/drawingml/2006/main">
            <a:r>
              <a:t>Every individual seed has a negative high-energy difference for every one of the three candidates. The compact representation has the smallest mean high-energy deficit, but it also has the weakest inclusive efficiency. We therefore cannot select it simply because one conditional region is less negative.</a:t>
            </a:r>
          </a:p>
          <a:p xmlns:a="http://schemas.openxmlformats.org/drawingml/2006/main">
            <a:r>
              <a:t/>
            </a:r>
            <a:endParaRPr/>
          </a:p>
          <a:p xmlns:a="http://schemas.openxmlformats.org/drawingml/2006/main">
            <a:r>
              <a:t>The energy coordinate is a conditional matched-member diagnostic. It uses the stored matched-member information available for the operationally defined pair population. It is not inclusive efficiency for two independently verified generator-level tau particles.</a:t>
            </a:r>
          </a:p>
          <a:p xmlns:a="http://schemas.openxmlformats.org/drawingml/2006/main">
            <a:r>
              <a:t/>
            </a:r>
            <a:endParaRPr/>
          </a:p>
          <a:p xmlns:a="http://schemas.openxmlformats.org/drawingml/2006/main">
            <a:r>
              <a:t>The existing high-resolution pair model remains the working reference. The next controlled studies examine a normalized high-resolution image channel, source ablations, pair geometry, the shared MLP or CNN encoder and model depth or capacity.</a:t>
            </a:r>
          </a:p>
          <a:p xmlns:a="http://schemas.openxmlformats.org/drawingml/2006/main">
            <a:r>
              <a:t/>
            </a:r>
            <a:endParaRPr/>
          </a:p>
          <a:p xmlns:a="http://schemas.openxmlformats.org/drawingml/2006/main">
            <a:r>
              <a:t>These are adaptive-validation results. The test sample remained unopened.</a:t>
            </a:r>
          </a:p>
          <a:p xmlns:a="http://schemas.openxmlformats.org/drawingml/2006/main">
            <a:r>
              <a:t/>
            </a:r>
          </a:p>
          <a:p xmlns:a="http://schemas.openxmlformats.org/drawingml/2006/main">
            <a:r>
              <a:t>[Public references]</a:t>
            </a:r>
          </a:p>
          <a:p xmlns:a="http://schemas.openxmlformats.org/drawingml/2006/main">
            <a:r>
              <a:t>- results/representation_reproduction/energy_region_deltas.csv</a:t>
            </a:r>
          </a:p>
          <a:p xmlns:a="http://schemas.openxmlformats.org/drawingml/2006/main">
            <a:r>
              <a:t>- results/representation_reproduction/representation_reproduction_energy_regions.png</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asks where the validation improvement comes from. The study uses a controlled two-by-two comparison. The model, target, loss, training settings, seeds, fusion, aggregation, and validation procedure stay fixed. Only two information sources are switched on or off.</a:t>
            </a:r>
          </a:p>
          <a:p xmlns:a="http://schemas.openxmlformats.org/drawingml/2006/main">
            <a:endParaRPr/>
          </a:p>
          <a:p xmlns:a="http://schemas.openxmlformats.org/drawingml/2006/main">
            <a:r>
              <a:t>Member pT means the measured pT of the two TOBs in the pair. With only those two values, mean inclusive validation efficiency is 33.08 percent. This remains below the 34.39-percent deterministic baseline.</a:t>
            </a:r>
          </a:p>
          <a:p xmlns:a="http://schemas.openxmlformats.org/drawingml/2006/main">
            <a:endParaRPr/>
          </a:p>
          <a:p xmlns:a="http://schemas.openxmlformats.org/drawingml/2006/main">
            <a:r>
              <a:t>Event context means the event's second-highest measured TOB pT. Adding this event-level value to member pT increases the mean efficiency to 36.48 percent. In the current historical-style layout, the same context value is duplicated in both member blocks. A later clean study will place one copy at the pair head.</a:t>
            </a:r>
          </a:p>
          <a:p xmlns:a="http://schemas.openxmlformats.org/drawingml/2006/main">
            <a:endParaRPr/>
          </a:p>
          <a:p xmlns:a="http://schemas.openxmlformats.org/drawingml/2006/main">
            <a:r>
              <a:t>Shower information means two EM2 quantities for each member: raw EM2 dominance and the fraction of the high-resolution EM2 image captured by the best contiguous three-by-three window. Adding those shower quantities without event context increases the mean efficiency to 37.34 percent.</a:t>
            </a:r>
          </a:p>
          <a:p xmlns:a="http://schemas.openxmlformats.org/drawingml/2006/main">
            <a:endParaRPr/>
          </a:p>
          <a:p xmlns:a="http://schemas.openxmlformats.org/drawingml/2006/main">
            <a:r>
              <a:t>Supplying both shower information and event context reaches 42.46 percent. The measured factorial interaction is positive by 1.72 percentage points. This means that the combined improvement is larger than the sum expected from treating the two additions independently.</a:t>
            </a:r>
          </a:p>
          <a:p xmlns:a="http://schemas.openxmlformats.org/drawingml/2006/main">
            <a:endParaRPr/>
          </a:p>
          <a:p xmlns:a="http://schemas.openxmlformats.org/drawingml/2006/main">
            <a:r>
              <a:t>The study therefore shows that neither source alone explains the full gain. The member shower and event-level energy information reinforce one another inside this trained model.</a:t>
            </a:r>
          </a:p>
          <a:p xmlns:a="http://schemas.openxmlformats.org/drawingml/2006/main">
            <a:endParaRPr/>
          </a:p>
          <a:p xmlns:a="http://schemas.openxmlformats.org/drawingml/2006/main">
            <a:r>
              <a:t>This is an empirical model-performance interaction. It is not a proof of a causal detector-physics mechanism. These remain validation results, and the current duplicated placement of event context is not assumed to be final. No test outcomes were accessed.</a:t>
            </a:r>
          </a:p>
          <a:p xmlns:a="http://schemas.openxmlformats.org/drawingml/2006/main">
            <a:endParaRPr/>
          </a:p>
          <a:p xmlns:a="http://schemas.openxmlformats.org/drawingml/2006/main">
            <a:r>
              <a:t>[Public references]</a:t>
            </a:r>
          </a:p>
          <a:p xmlns:a="http://schemas.openxmlformats.org/drawingml/2006/main">
            <a:r>
              <a:t>- results/representation_study/gain_source_effects.csv</a:t>
            </a:r>
          </a:p>
          <a:p xmlns:a="http://schemas.openxmlformats.org/drawingml/2006/main">
            <a:r>
              <a:t>- results/plots/representation_gain_sources.png</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contains two sequential controlled comparisons using the leading representation from the preceding study.</a:t>
            </a:r>
          </a:p>
          <a:p xmlns:a="http://schemas.openxmlformats.org/drawingml/2006/main">
            <a:endParaRPr/>
          </a:p>
          <a:p xmlns:a="http://schemas.openxmlformats.org/drawingml/2006/main">
            <a:r>
              <a:t>Binary output asks one question: are both TOBs positively labelled, or not? Three-class output predicts zero, one, or two positively labelled TOBs. For event scoring, the three-class model uses the probability of class two.</a:t>
            </a:r>
          </a:p>
          <a:p xmlns:a="http://schemas.openxmlformats.org/drawingml/2006/main">
            <a:endParaRPr/>
          </a:p>
          <a:p xmlns:a="http://schemas.openxmlformats.org/drawingml/2006/main">
            <a:r>
              <a:t>With ordered fusion, the higher-pT member embedding is concatenated before the lower-pT member embedding. Changing only the output from binary to three classes moves the three-seed mean inclusive efficiency from 42.457 percent to 42.539 percent. The increase is only 0.082 percentage points.</a:t>
            </a:r>
          </a:p>
          <a:p xmlns:a="http://schemas.openxmlformats.org/drawingml/2006/main">
            <a:endParaRPr/>
          </a:p>
          <a:p xmlns:a="http://schemas.openxmlformats.org/drawingml/2006/main">
            <a:r>
              <a:t>Symmetric fusion combines the two member embeddings using their sum and absolute difference. Exchanging the members therefore leaves the pair representation unchanged. Changing only fusion from ordered to symmetric gives 42.425 percent, which is 0.114 points below the ordered three-class model.</a:t>
            </a:r>
          </a:p>
          <a:p xmlns:a="http://schemas.openxmlformats.org/drawingml/2006/main">
            <a:endParaRPr/>
          </a:p>
          <a:p xmlns:a="http://schemas.openxmlformats.org/drawingml/2006/main">
            <a:r>
              <a:t>The seed standard deviations range from approximately 0.55 to 0.87 percentage points. The observed output and fusion differences are much smaller than that seed-to-seed variation. The available evidence therefore does not establish that three-class output is better than binary output, or that ordered fusion is better than symmetric fusion.</a:t>
            </a:r>
          </a:p>
          <a:p xmlns:a="http://schemas.openxmlformats.org/drawingml/2006/main">
            <a:endParaRPr/>
          </a:p>
          <a:p xmlns:a="http://schemas.openxmlformats.org/drawingml/2006/main">
            <a:r>
              <a:t>The frozen sequential ranking rule retains the ordered three-class model as the working reference because it has the highest numerical mean. This is a continuation rule rather than a scientific claim that the alternative designs are inferior.</a:t>
            </a:r>
          </a:p>
          <a:p xmlns:a="http://schemas.openxmlformats.org/drawingml/2006/main">
            <a:endParaRPr/>
          </a:p>
          <a:p xmlns:a="http://schemas.openxmlformats.org/drawingml/2006/main">
            <a:r>
              <a:t>All variants still exceed the deterministic baseline for every seed. Protected confirmation remains pending, and the test set remains unopened.</a:t>
            </a:r>
          </a:p>
          <a:p xmlns:a="http://schemas.openxmlformats.org/drawingml/2006/main">
            <a:endParaRPr/>
          </a:p>
          <a:p xmlns:a="http://schemas.openxmlformats.org/drawingml/2006/main">
            <a:r>
              <a:t>[Public references]</a:t>
            </a:r>
          </a:p>
          <a:p xmlns:a="http://schemas.openxmlformats.org/drawingml/2006/main">
            <a:r>
              <a:t>- results/representation_study/representation_validation.csv</a:t>
            </a:r>
          </a:p>
          <a:p xmlns:a="http://schemas.openxmlformats.org/drawingml/2006/main">
            <a:r>
              <a:t>- results/plots/output_and_fusion_validation.png</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how the retained high-resolution network summarizes one TOB before two TOBs are combined.</a:t>
            </a:r>
          </a:p>
          <a:p xmlns:a="http://schemas.openxmlformats.org/drawingml/2006/main">
            <a:r>
              <a:t/>
            </a:r>
            <a:endParaRPr/>
          </a:p>
          <a:p xmlns:a="http://schemas.openxmlformats.org/drawingml/2006/main">
            <a:r>
              <a:t>The image branch receives two versions of the same twelve-by-twelve EM2 image. One keeps the absolute energy. The other keeps the signed spatial pattern after normalization. A shared convolutional branch looks for local energy patterns and produces one hundred image values.</a:t>
            </a:r>
          </a:p>
          <a:p xmlns:a="http://schemas.openxmlformats.org/drawingml/2006/main">
            <a:r>
              <a:t/>
            </a:r>
            <a:endParaRPr/>
          </a:p>
          <a:p xmlns:a="http://schemas.openxmlformats.org/drawingml/2006/main">
            <a:r>
              <a:t>The scalar branch receives forty-seven measurements: forty-five coarse calorimeter cells, the member's measured pT and one EM2 containment fraction. A small shared dense network converts them into sixteen learned values.</a:t>
            </a:r>
          </a:p>
          <a:p xmlns:a="http://schemas.openxmlformats.org/drawingml/2006/main">
            <a:r>
              <a:t/>
            </a:r>
            <a:endParaRPr/>
          </a:p>
          <a:p xmlns:a="http://schemas.openxmlformats.org/drawingml/2006/main">
            <a:r>
              <a:t>The image and scalar outputs are combined and compressed into one sixteen-number summary of the TOB. The same learned weights process both members of every pair.</a:t>
            </a:r>
          </a:p>
          <a:p xmlns:a="http://schemas.openxmlformats.org/drawingml/2006/main">
            <a:r>
              <a:t/>
            </a:r>
            <a:endParaRPr/>
          </a:p>
          <a:p xmlns:a="http://schemas.openxmlformats.org/drawingml/2006/main">
            <a:r>
              <a:t>We also compared three vector encoders across three vector representations. The summary representation preferred a residual MLP, coarse cells with pT preferred named-feature attention, and coarse cells without pT showed almost no difference. The strongest vector result was 41.18 percent, below the high-resolution reference, so the retained member encoder did not change.</a:t>
            </a:r>
          </a:p>
          <a:p xmlns:a="http://schemas.openxmlformats.org/drawingml/2006/main">
            <a:r>
              <a:t/>
            </a:r>
            <a:endParaRPr/>
          </a:p>
          <a:p xmlns:a="http://schemas.openxmlformats.org/drawingml/2006/main">
            <a:r>
              <a:t>This means the encoder study was informative even though it produced no new leader: it showed that the best processing method depends on the input representation.</a:t>
            </a:r>
          </a:p>
          <a:p xmlns:a="http://schemas.openxmlformats.org/drawingml/2006/main">
            <a:r>
              <a:t/>
            </a:r>
            <a:endParaRPr/>
          </a:p>
          <a:p xmlns:a="http://schemas.openxmlformats.org/drawingml/2006/main">
            <a:r>
              <a:t>[Public references]</a:t>
            </a:r>
          </a:p>
          <a:p xmlns:a="http://schemas.openxmlformats.org/drawingml/2006/main">
            <a:r>
              <a:t>- src/pair_models.py</a:t>
            </a:r>
          </a:p>
          <a:p xmlns:a="http://schemas.openxmlformats.org/drawingml/2006/main">
            <a:r>
              <a:t>- results/vector_encoder_interaction/summary.csv</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the retained pair network used by the selected all-finite method.</a:t>
            </a:r>
          </a:p>
          <a:p xmlns:a="http://schemas.openxmlformats.org/drawingml/2006/main">
            <a:r>
              <a:t/>
            </a:r>
            <a:endParaRPr/>
          </a:p>
          <a:p xmlns:a="http://schemas.openxmlformats.org/drawingml/2006/main">
            <a:r>
              <a:t>The network receives one pair at a time. L is the higher-measured-pT member and S is the lower-measured-pT member. These names define storage order; the two sides do not have different networks.</a:t>
            </a:r>
          </a:p>
          <a:p xmlns:a="http://schemas.openxmlformats.org/drawingml/2006/main">
            <a:r>
              <a:t/>
            </a:r>
            <a:endParaRPr/>
          </a:p>
          <a:p xmlns:a="http://schemas.openxmlformats.org/drawingml/2006/main">
            <a:r>
              <a:t>Each member supplies two twelve-by-twelve EM2 image views and forty-seven scalar measurements. The two members use the same image-CNN weights and the same scalar-network weights. Each member becomes one sixteen-number learned summary.</a:t>
            </a:r>
          </a:p>
          <a:p xmlns:a="http://schemas.openxmlformats.org/drawingml/2006/main">
            <a:r>
              <a:t/>
            </a:r>
            <a:endParaRPr/>
          </a:p>
          <a:p xmlns:a="http://schemas.openxmlformats.org/drawingml/2006/main">
            <a:r>
              <a:t>The pair head receives the two sixteen-number summaries and one event-level measured-pT value. It converts these thirty-three numbers into one pair score.</a:t>
            </a:r>
          </a:p>
          <a:p xmlns:a="http://schemas.openxmlformats.org/drawingml/2006/main">
            <a:r>
              <a:t/>
            </a:r>
            <a:endParaRPr/>
          </a:p>
          <a:p xmlns:a="http://schemas.openxmlformats.org/drawingml/2006/main">
            <a:r>
              <a:t>The same 4,357-parameter network scores every finite pair. Six finite TOBs therefore require fifteen pair evaluations. The largest pair score becomes the neural event score.</a:t>
            </a:r>
          </a:p>
          <a:p xmlns:a="http://schemas.openxmlformats.org/drawingml/2006/main">
            <a:r>
              <a:t/>
            </a:r>
            <a:endParaRPr/>
          </a:p>
          <a:p xmlns:a="http://schemas.openxmlformats.org/drawingml/2006/main">
            <a:r>
              <a:t>The complete event decision also has a direct measured-pT route. The neural and pT thresholds are calibrated jointly under one total background allowance.</a:t>
            </a:r>
          </a:p>
          <a:p xmlns:a="http://schemas.openxmlformats.org/drawingml/2006/main">
            <a:r>
              <a:t/>
            </a:r>
            <a:endParaRPr/>
          </a:p>
          <a:p xmlns:a="http://schemas.openxmlformats.org/drawingml/2006/main">
            <a:r>
              <a:t>The network architecture is unchanged from the earlier top-four reference. The latest gain comes from showing the same network all finite pairs and giving every event equal total influence during training.</a:t>
            </a:r>
          </a:p>
          <a:p xmlns:a="http://schemas.openxmlformats.org/drawingml/2006/main">
            <a:r>
              <a:t/>
            </a:r>
            <a:endParaRPr/>
          </a:p>
          <a:p xmlns:a="http://schemas.openxmlformats.org/drawingml/2006/main">
            <a:r>
              <a:t>[Public references]</a:t>
            </a:r>
          </a:p>
          <a:p xmlns:a="http://schemas.openxmlformats.org/drawingml/2006/main">
            <a:r>
              <a:t>- src/pair_models.py</a:t>
            </a:r>
          </a:p>
          <a:p xmlns:a="http://schemas.openxmlformats.org/drawingml/2006/main">
            <a:r>
              <a:t>- src/pair_train.py</a:t>
            </a:r>
          </a:p>
          <a:p xmlns:a="http://schemas.openxmlformats.org/drawingml/2006/main">
            <a:r>
              <a:t>- configs/pair_highres_all_finite_equal_event/config.json</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graph asks whether the validation improvement occurs in the same way across the energy range.</a:t>
            </a:r>
          </a:p>
          <a:p xmlns:a="http://schemas.openxmlformats.org/drawingml/2006/main">
            <a:endParaRPr/>
          </a:p>
          <a:p xmlns:a="http://schemas.openxmlformats.org/drawingml/2006/main">
            <a:r>
              <a:t>The horizontal axis divides a conditional set of 3,651 operationally eligible validation events into three energy regions. For each event, we select one deterministic pair whose two members both carry positive operational TOB labels. We then use the lower of the two TOB-associated truth_pt values to place the event in an energy region.</a:t>
            </a:r>
          </a:p>
          <a:p xmlns:a="http://schemas.openxmlformats.org/drawingml/2006/main">
            <a:endParaRPr/>
          </a:p>
          <a:p xmlns:a="http://schemas.openxmlformats.org/drawingml/2006/main">
            <a:r>
              <a:t>This is the closest pair-study analogue to the single-object study's single-object signal-efficiency curve versus truth transverse momentum. the single-object study measured his curve on truth-matched tau objects. Here our counting unit remains an event, because the pair system makes an event decision.</a:t>
            </a:r>
          </a:p>
          <a:p xmlns:a="http://schemas.openxmlformats.org/drawingml/2006/main">
            <a:endParaRPr/>
          </a:p>
          <a:p xmlns:a="http://schemas.openxmlformats.org/drawingml/2006/main">
            <a:r>
              <a:t>The current export does not verify that the two positive TOB rows correspond to two distinct generator-level tau particles. For that reason, I describe this as conditional event efficiency versus the lower associated member truth_pt. I do not call it an inclusive two-generator-tau turn-on curve.</a:t>
            </a:r>
          </a:p>
          <a:p xmlns:a="http://schemas.openxmlformats.org/drawingml/2006/main">
            <a:endParaRPr/>
          </a:p>
          <a:p xmlns:a="http://schemas.openxmlformats.org/drawingml/2006/main">
            <a:r>
              <a:t>Why use this conditional diagnostic? The global efficiency can hide a model that gains many low-energy events while losing some high-energy events. The plot lets us locate that trade-off in an operationally relevant subset, using the same style of energy-dependent check that guided the single-object study.</a:t>
            </a:r>
          </a:p>
          <a:p xmlns:a="http://schemas.openxmlformats.org/drawingml/2006/main">
            <a:endParaRPr/>
          </a:p>
          <a:p xmlns:a="http://schemas.openxmlformats.org/drawingml/2006/main">
            <a:r>
              <a:t>The grey bars are the deterministic second-highest-measured-pT baseline. The blue bars are the mean of the three high-resolution model seeds. At 10 to 25 GeV, the model improves by 22.0 percentage points. At 25 to 60 GeV, it improves by 21.0 points. At 60 GeV and above, it is 2.6 points below the baseline.</a:t>
            </a:r>
          </a:p>
          <a:p xmlns:a="http://schemas.openxmlformats.org/drawingml/2006/main">
            <a:endParaRPr/>
          </a:p>
          <a:p xmlns:a="http://schemas.openxmlformats.org/drawingml/2006/main">
            <a:r>
              <a:t>The thresholds were not changed for these regions. Each selected seed model kept its full-validation threshold, calibrated at no more than 0.5 percent background-event FPR. The regional plot only divides the already evaluated signal events.</a:t>
            </a:r>
          </a:p>
          <a:p xmlns:a="http://schemas.openxmlformats.org/drawingml/2006/main">
            <a:endParaRPr/>
          </a:p>
          <a:p xmlns:a="http://schemas.openxmlformats.org/drawingml/2006/main">
            <a:r>
              <a:t>This result changed the next question. The pair model had demonstrated substantial useful information, but we needed to preserve the low and medium-energy gains while recovering the high-energy plateau.</a:t>
            </a:r>
          </a:p>
          <a:p xmlns:a="http://schemas.openxmlformats.org/drawingml/2006/main">
            <a:endParaRPr/>
          </a:p>
          <a:p xmlns:a="http://schemas.openxmlformats.org/drawingml/2006/main">
            <a:r>
              <a:t>[Public references]</a:t>
            </a:r>
          </a:p>
          <a:p xmlns:a="http://schemas.openxmlformats.org/drawingml/2006/main">
            <a:r>
              <a:t>- results/high_resolution/high_resolution_energy_regions.csv</a:t>
            </a:r>
          </a:p>
          <a:p xmlns:a="http://schemas.openxmlformats.org/drawingml/2006/main">
            <a:r>
              <a:t>- results/plots/high_resolution_energy_regions.png</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summarizes the chronological attempt to close the high-energy gap. Every number is the mean model-minus-baseline difference in the conditional 60 GeV and above region. Positive values mean that the candidate accepted a larger fraction of these events than the baseline. Negative values mean that it accepted fewer.</a:t>
            </a:r>
          </a:p>
          <a:p xmlns:a="http://schemas.openxmlformats.org/drawingml/2006/main">
            <a:endParaRPr/>
          </a:p>
          <a:p xmlns:a="http://schemas.openxmlformats.org/drawingml/2006/main">
            <a:r>
              <a:t>The original high-resolution model was 2.57 percentage points below the baseline in this region.</a:t>
            </a:r>
          </a:p>
          <a:p xmlns:a="http://schemas.openxmlformats.org/drawingml/2006/main">
            <a:endParaRPr/>
          </a:p>
          <a:p xmlns:a="http://schemas.openxmlformats.org/drawingml/2006/main">
            <a:r>
              <a:t>Inverse-frequency weighting gave more emphasis to positive training pairs in less common energy regions. It reduced the mean deficit to 0.89 points, but every seed still remained below the baseline.</a:t>
            </a:r>
          </a:p>
          <a:p xmlns:a="http://schemas.openxmlformats.org/drawingml/2006/main">
            <a:endParaRPr/>
          </a:p>
          <a:p xmlns:a="http://schemas.openxmlformats.org/drawingml/2006/main">
            <a:r>
              <a:t>The predefined power-law weighting with exponent minus one reduced the deficit further to 0.69 points. It was the strongest weighting direction, but its point estimate still remained negative for all three seeds.</a:t>
            </a:r>
          </a:p>
          <a:p xmlns:a="http://schemas.openxmlformats.org/drawingml/2006/main">
            <a:endParaRPr/>
          </a:p>
          <a:p xmlns:a="http://schemas.openxmlformats.org/drawingml/2006/main">
            <a:r>
              <a:t>The last bar uses a different idea. It combines a raw-cell neural decision with a measured-pT decision using an OR. The two branches share one jointly calibrated background budget. This candidate reached a positive mean point difference of about 0.30 percentage points, and every seed's point estimate was positive.</a:t>
            </a:r>
          </a:p>
          <a:p xmlns:a="http://schemas.openxmlformats.org/drawingml/2006/main">
            <a:endParaRPr/>
          </a:p>
          <a:p xmlns:a="http://schemas.openxmlformats.org/drawingml/2006/main">
            <a:r>
              <a:t>This does not mean the final result is confirmed. The high-energy differences are small, and every paired high-energy confidence interval includes zero. The candidate passed the predeclared point-estimate gate on the adaptive validation data and became eligible for protected confirmation.</a:t>
            </a:r>
          </a:p>
          <a:p xmlns:a="http://schemas.openxmlformats.org/drawingml/2006/main">
            <a:endParaRPr/>
          </a:p>
          <a:p xmlns:a="http://schemas.openxmlformats.org/drawingml/2006/main">
            <a:r>
              <a:t>The useful conclusion from this sequence is narrower. Weighting moved the model in the correct direction, while restoring an explicit measured-pT branch was the first tested design to cross the baseline point estimate in every region. This sequence did not isolate network capacity, so it does not support a conclusion about whether a larger network would solve the gap.</a:t>
            </a:r>
          </a:p>
          <a:p xmlns:a="http://schemas.openxmlformats.org/drawingml/2006/main">
            <a:endParaRPr/>
          </a:p>
          <a:p xmlns:a="http://schemas.openxmlformats.org/drawingml/2006/main">
            <a:r>
              <a:t>[Public references]</a:t>
            </a:r>
          </a:p>
          <a:p xmlns:a="http://schemas.openxmlformats.org/drawingml/2006/main">
            <a:r>
              <a:t>- results/high_energy_recovery/recovery_candidates.csv</a:t>
            </a:r>
          </a:p>
          <a:p xmlns:a="http://schemas.openxmlformats.org/drawingml/2006/main">
            <a:r>
              <a:t>- results/plots/high_energy_recovery.png</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explains the candidate that first produced a positive point difference in every energy region.</a:t>
            </a:r>
          </a:p>
          <a:p xmlns:a="http://schemas.openxmlformats.org/drawingml/2006/main">
            <a:endParaRPr/>
          </a:p>
          <a:p xmlns:a="http://schemas.openxmlformats.org/drawingml/2006/main">
            <a:r>
              <a:t>The upper branch is the closest direct pair translation of the single-object study's raw-cell neural model. Its input contains forty-five coarse calorimeter cells from the higher-pT member and forty-five from the lower-pT member. The flat neural network has layers ninety to thirty-two to sixteen to one. It does not receive measured pT or event context.</a:t>
            </a:r>
          </a:p>
          <a:p xmlns:a="http://schemas.openxmlformats.org/drawingml/2006/main">
            <a:endParaRPr/>
          </a:p>
          <a:p xmlns:a="http://schemas.openxmlformats.org/drawingml/2006/main">
            <a:r>
              <a:t>The lower branch is deterministic. For each pair, it takes the lower measured pT of the two members and compares it with a threshold called C. This pair-level pT decision is equivalent to the event's second-highest measured-pT logic after taking the OR over all same-event pairs.</a:t>
            </a:r>
          </a:p>
          <a:p xmlns:a="http://schemas.openxmlformats.org/drawingml/2006/main">
            <a:endParaRPr/>
          </a:p>
          <a:p xmlns:a="http://schemas.openxmlformats.org/drawingml/2006/main">
            <a:r>
              <a:t>A pair passes when either the neural score exceeds threshold t or the lower member pT exceeds threshold C. The event passes when any real same-event pair passes.</a:t>
            </a:r>
          </a:p>
          <a:p xmlns:a="http://schemas.openxmlformats.org/drawingml/2006/main">
            <a:endParaRPr/>
          </a:p>
          <a:p xmlns:a="http://schemas.openxmlformats.org/drawingml/2006/main">
            <a:r>
              <a:t>The important fairness rule is that the branches do not receive separate background allowances. We jointly choose C and t so that the complete union accepts no more than 0.5 percent of background events. When both branches accept the same event, it counts once.</a:t>
            </a:r>
          </a:p>
          <a:p xmlns:a="http://schemas.openxmlformats.org/drawingml/2006/main">
            <a:endParaRPr/>
          </a:p>
          <a:p xmlns:a="http://schemas.openxmlformats.org/drawingml/2006/main">
            <a:r>
              <a:t>Why can the OR help? The measured-pT branch preserves the strong high-energy behavior of the deterministic baseline. The neural branch uses calorimeter shower information and can accept additional tau-like events that fall below the pT threshold. The two branches therefore make partially different decisions.</a:t>
            </a:r>
          </a:p>
          <a:p xmlns:a="http://schemas.openxmlformats.org/drawingml/2006/main">
            <a:endParaRPr/>
          </a:p>
          <a:p xmlns:a="http://schemas.openxmlformats.org/drawingml/2006/main">
            <a:r>
              <a:t>This candidate is simpler than the high-resolution CNN direction. Its neural branch has 3,457 parameters and uses only the two raw coarse tensors. It is valuable because it closely follows the successful logic used in the single-object programme while retaining the pair-based event construction.</a:t>
            </a:r>
          </a:p>
          <a:p xmlns:a="http://schemas.openxmlformats.org/drawingml/2006/main">
            <a:endParaRPr/>
          </a:p>
          <a:p xmlns:a="http://schemas.openxmlformats.org/drawingml/2006/main">
            <a:r>
              <a:t>[Public references]</a:t>
            </a:r>
          </a:p>
          <a:p xmlns:a="http://schemas.openxmlformats.org/drawingml/2006/main">
            <a:r>
              <a:t>- src/pair_classifiers.py</a:t>
            </a:r>
          </a:p>
          <a:p xmlns:a="http://schemas.openxmlformats.org/drawingml/2006/main">
            <a:r>
              <a:t>- src/pair_or_validate.py</a:t>
            </a:r>
          </a:p>
          <a:p xmlns:a="http://schemas.openxmlformats.org/drawingml/2006/main">
            <a:r>
              <a:t>- tests/test_pair_classifiers.py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validation result for the raw-cell neural branch combined with the measured-pT branch.</a:t>
            </a:r>
          </a:p>
          <a:p xmlns:a="http://schemas.openxmlformats.org/drawingml/2006/main">
            <a:endParaRPr/>
          </a:p>
          <a:p xmlns:a="http://schemas.openxmlformats.org/drawingml/2006/main">
            <a:r>
              <a:t>The graph has one panel for each model seed. Within every panel, the grey bar is the deterministic baseline and the orange bar is the jointly calibrated OR. The three energy regions use the same conditional matched-member definition as the preceding energy slide.</a:t>
            </a:r>
          </a:p>
          <a:p xmlns:a="http://schemas.openxmlformats.org/drawingml/2006/main">
            <a:endParaRPr/>
          </a:p>
          <a:p xmlns:a="http://schemas.openxmlformats.org/drawingml/2006/main">
            <a:r>
              <a:t>At low and medium energy, every seed shows a clear point-estimate improvement. At 60 GeV and above, the gains are much smaller but remain positive: plus 0.076, plus 0.457, and plus 0.381 percentage points for seeds 42, 123, and 456.</a:t>
            </a:r>
          </a:p>
          <a:p xmlns:a="http://schemas.openxmlformats.org/drawingml/2006/main">
            <a:endParaRPr/>
          </a:p>
          <a:p xmlns:a="http://schemas.openxmlformats.org/drawingml/2006/main">
            <a:r>
              <a:t>The inclusive signal-sample validation efficiency also improves for every seed. The changes relative to the 34.39-percent baseline are plus 2.83, plus 4.85, and plus 4.37 percentage points.</a:t>
            </a:r>
          </a:p>
          <a:p xmlns:a="http://schemas.openxmlformats.org/drawingml/2006/main">
            <a:endParaRPr/>
          </a:p>
          <a:p xmlns:a="http://schemas.openxmlformats.org/drawingml/2006/main">
            <a:r>
              <a:t>Every union accepts 124 of 24,835 background events, or 0.4993 percent. The pT and neural branches are jointly calibrated, and overlap counts once. This is why the comparison respects the same global background-event budget as the baseline.</a:t>
            </a:r>
          </a:p>
          <a:p xmlns:a="http://schemas.openxmlformats.org/drawingml/2006/main">
            <a:endParaRPr/>
          </a:p>
          <a:p xmlns:a="http://schemas.openxmlformats.org/drawingml/2006/main">
            <a:r>
              <a:t>The result passed the predeclared adaptive-validation point-estimate gate: positive inclusive, low, medium, and high differences for all three seeds. However, all three paired high-energy confidence intervals include zero. The high-energy advantage is therefore uncertain rather than established.</a:t>
            </a:r>
          </a:p>
          <a:p xmlns:a="http://schemas.openxmlformats.org/drawingml/2006/main">
            <a:endParaRPr/>
          </a:p>
          <a:p xmlns:a="http://schemas.openxmlformats.org/drawingml/2006/main">
            <a:r>
              <a:t>This slide records a milestone in the research path. It shows the first tested pair design that crossed the baseline point estimate throughout the energy range. It does not claim final promotion. Protected confirmation on a genuinely untouched population remains necessary before treating the result as confirmed.</a:t>
            </a:r>
          </a:p>
          <a:p xmlns:a="http://schemas.openxmlformats.org/drawingml/2006/main">
            <a:endParaRPr/>
          </a:p>
          <a:p xmlns:a="http://schemas.openxmlformats.org/drawingml/2006/main">
            <a:r>
              <a:t>[Public references]</a:t>
            </a:r>
          </a:p>
          <a:p xmlns:a="http://schemas.openxmlformats.org/drawingml/2006/main">
            <a:r>
              <a:t>- results/pair_or/pair_or_validation.csv</a:t>
            </a:r>
          </a:p>
          <a:p xmlns:a="http://schemas.openxmlformats.org/drawingml/2006/main">
            <a:r>
              <a:t>- results/pair_or/pair_or_energy_regions.csv</a:t>
            </a:r>
          </a:p>
          <a:p xmlns:a="http://schemas.openxmlformats.org/drawingml/2006/main">
            <a:r>
              <a:t>- results/plots/pair_or_validation.png</a:t>
            </a:r>
          </a:p>
          <a:p xmlns:a="http://schemas.openxmlformats.org/drawingml/2006/main">
            <a:r>
              <a:t>- results/plots/pair_or_energy_regions.png</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the complete selected event decision.</a:t>
            </a:r>
          </a:p>
          <a:p xmlns:a="http://schemas.openxmlformats.org/drawingml/2006/main">
            <a:r>
              <a:t/>
            </a:r>
            <a:endParaRPr/>
          </a:p>
          <a:p xmlns:a="http://schemas.openxmlformats.org/drawingml/2006/main">
            <a:r>
              <a:t>First, the frozen neural network scores every finite same-event pair. The maximum of those pair scores becomes the neural event score.</a:t>
            </a:r>
          </a:p>
          <a:p xmlns:a="http://schemas.openxmlformats.org/drawingml/2006/main">
            <a:r>
              <a:t/>
            </a:r>
            <a:endParaRPr/>
          </a:p>
          <a:p xmlns:a="http://schemas.openxmlformats.org/drawingml/2006/main">
            <a:r>
              <a:t>Second, the direct measured-pT branch uses the event's second-highest finite TOB pT. This protects the reliable high-energy behavior of the deterministic baseline.</a:t>
            </a:r>
          </a:p>
          <a:p xmlns:a="http://schemas.openxmlformats.org/drawingml/2006/main">
            <a:r>
              <a:t/>
            </a:r>
            <a:endParaRPr/>
          </a:p>
          <a:p xmlns:a="http://schemas.openxmlformats.org/drawingml/2006/main">
            <a:r>
              <a:t>The event passes when either route passes. The two routes do not receive separate background allowances. Their thresholds are chosen jointly so that the complete union accepts no more than 0.5 percent of validation background events.</a:t>
            </a:r>
          </a:p>
          <a:p xmlns:a="http://schemas.openxmlformats.org/drawingml/2006/main">
            <a:r>
              <a:t/>
            </a:r>
            <a:endParaRPr/>
          </a:p>
          <a:p xmlns:a="http://schemas.openxmlformats.org/drawingml/2006/main">
            <a:r>
              <a:t>The pair network may receive the event second-highest pT as context, while the direct branch uses the same observable as a separate decision route. These roles are distinct.</a:t>
            </a:r>
          </a:p>
          <a:p xmlns:a="http://schemas.openxmlformats.org/drawingml/2006/main">
            <a:r>
              <a:t/>
            </a:r>
            <a:endParaRPr/>
          </a:p>
          <a:p xmlns:a="http://schemas.openxmlformats.org/drawingml/2006/main">
            <a:r>
              <a:t>In the selected all-finite method, a six-TOB event produces fifteen neural pair scores. Training and inference use the same finite-pair population. The difference is that training labels define the teaching loss, while inference uses no labels.</a:t>
            </a:r>
          </a:p>
          <a:p xmlns:a="http://schemas.openxmlformats.org/drawingml/2006/main">
            <a:r>
              <a:t/>
            </a:r>
            <a:endParaRPr/>
          </a:p>
          <a:p xmlns:a="http://schemas.openxmlformats.org/drawingml/2006/main">
            <a:r>
              <a:t>[Public references]</a:t>
            </a:r>
          </a:p>
          <a:p xmlns:a="http://schemas.openxmlformats.org/drawingml/2006/main">
            <a:r>
              <a:t>- src/pair_classifiers.py</a:t>
            </a:r>
          </a:p>
          <a:p xmlns:a="http://schemas.openxmlformats.org/drawingml/2006/main">
            <a:r>
              <a:t>- src/pair_data.py</a:t>
            </a:r>
          </a:p>
          <a:p xmlns:a="http://schemas.openxmlformats.org/drawingml/2006/main">
            <a:r>
              <a:t>- configs/pair_highres_all_finite_equal_event/config.json</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experiment checks whether measured pT genuinely helps and where it enters the system.</a:t>
            </a:r>
          </a:p>
          <a:p xmlns:a="http://schemas.openxmlformats.org/drawingml/2006/main">
            <a:endParaRPr/>
          </a:p>
          <a:p xmlns:a="http://schemas.openxmlformats.org/drawingml/2006/main">
            <a:r>
              <a:t>Member pT means the measured pT supplied separately for each of the two TOBs. Event pT means the event's second-highest measured TOB pT, supplied once to the pair-combining network.</a:t>
            </a:r>
          </a:p>
          <a:p xmlns:a="http://schemas.openxmlformats.org/drawingml/2006/main">
            <a:endParaRPr/>
          </a:p>
          <a:p xmlns:a="http://schemas.openxmlformats.org/drawingml/2006/main">
            <a:r>
              <a:t>Each square reports the mean inclusive signal-sample event-efficiency difference from the deterministic baseline across seeds 42, 123 and 456. Every comparison uses the same event-level background operating-point limit. Positive values mean that the candidate accepts a larger fraction of validation signal-sample events than the baseline.</a:t>
            </a:r>
          </a:p>
          <a:p xmlns:a="http://schemas.openxmlformats.org/drawingml/2006/main">
            <a:endParaRPr/>
          </a:p>
          <a:p xmlns:a="http://schemas.openxmlformats.org/drawingml/2006/main">
            <a:r>
              <a:t>The left plot shows the neural decision without the external protection branch. Without either pT input, the neural model improves on the baseline by 7.38 percentage points. Adding only member pT changes little. Adding event pT raises the mean gain to 9.54 points. Using both gives the strongest neural-only result at 10.42 points.</a:t>
            </a:r>
          </a:p>
          <a:p xmlns:a="http://schemas.openxmlformats.org/drawingml/2006/main">
            <a:endParaRPr/>
          </a:p>
          <a:p xmlns:a="http://schemas.openxmlformats.org/drawingml/2006/main">
            <a:r>
              <a:t>The right plot shows the complete hybrid decision. Neither pT input alone reproduces the strongest result. The clear maximum appears when member and event pT are both available, at 10.36 percentage points above the baseline.</a:t>
            </a:r>
          </a:p>
          <a:p xmlns:a="http://schemas.openxmlformats.org/drawingml/2006/main">
            <a:endParaRPr/>
          </a:p>
          <a:p xmlns:a="http://schemas.openxmlformats.org/drawingml/2006/main">
            <a:r>
              <a:t>This shows that supplying both inputs does not prevent the network from learning. If the repeated pT information confused the network or overwhelmed the calorimeter information, the both-input cell would perform worse. Instead, it produces the strongest inclusive validation result in both plots.</a:t>
            </a:r>
          </a:p>
          <a:p xmlns:a="http://schemas.openxmlformats.org/drawingml/2006/main">
            <a:endParaRPr/>
          </a:p>
          <a:p xmlns:a="http://schemas.openxmlformats.org/drawingml/2006/main">
            <a:r>
              <a:t>This does not prove that the neural response to pT is perfect. An earlier controlled poisoning test changed measured pT after member ordering and found that the neural score could move in an undesirable direction. Overall efficiency and the detailed response to one variable are different questions. The direct deterministic branch protects against that detailed weakness.</a:t>
            </a:r>
          </a:p>
          <a:p xmlns:a="http://schemas.openxmlformats.org/drawingml/2006/main">
            <a:endParaRPr/>
          </a:p>
          <a:p xmlns:a="http://schemas.openxmlformats.org/drawingml/2006/main">
            <a:r>
              <a:t>The hybrid does not materially increase the inclusive gain beyond the strongest neural-only configuration. Its main purpose is to protect high-energy behavior while retaining the neural model's low- and medium-energy gains.</a:t>
            </a:r>
          </a:p>
          <a:p xmlns:a="http://schemas.openxmlformats.org/drawingml/2006/main">
            <a:endParaRPr/>
          </a:p>
          <a:p xmlns:a="http://schemas.openxmlformats.org/drawingml/2006/main">
            <a:r>
              <a:t>These are validation results. The independent post-result and reporting reviews passed, and the test set remains unopened. The result guides the next controlled study but is not yet a final unbiased test result.</a:t>
            </a:r>
          </a:p>
          <a:p xmlns:a="http://schemas.openxmlformats.org/drawingml/2006/main">
            <a:endParaRPr/>
          </a:p>
          <a:p xmlns:a="http://schemas.openxmlformats.org/drawingml/2006/main">
            <a:r>
              <a:t>This experiment established that both measured-pT pathways help this model family. The next experiment asks a narrower question: is the current event second-highest-pT context actually the best context variable, or can another event description improve it?</a:t>
            </a:r>
          </a:p>
          <a:p xmlns:a="http://schemas.openxmlformats.org/drawingml/2006/main">
            <a:endParaRPr/>
          </a:p>
          <a:p xmlns:a="http://schemas.openxmlformats.org/drawingml/2006/main">
            <a:r>
              <a:t>[Public references]</a:t>
            </a:r>
          </a:p>
          <a:p xmlns:a="http://schemas.openxmlformats.org/drawingml/2006/main">
            <a:r>
              <a:t>- configs/pair_highres_member_pt_event_pt/</a:t>
            </a:r>
          </a:p>
          <a:p xmlns:a="http://schemas.openxmlformats.org/drawingml/2006/main">
            <a:r>
              <a:t>- configs/pair_highres_member_pt_no_event_pt/</a:t>
            </a:r>
          </a:p>
          <a:p xmlns:a="http://schemas.openxmlformats.org/drawingml/2006/main">
            <a:r>
              <a:t>- configs/pair_highres_no_member_pt_event_pt/</a:t>
            </a:r>
          </a:p>
          <a:p xmlns:a="http://schemas.openxmlformats.org/drawingml/2006/main">
            <a:r>
              <a:t>- configs/pair_highres_no_member_pt_no_event_pt/</a:t>
            </a:r>
          </a:p>
          <a:p xmlns:a="http://schemas.openxmlformats.org/drawingml/2006/main">
            <a:r>
              <a:t>- results/pt_factorial/summary.csv</a:t>
            </a:r>
          </a:p>
          <a:p xmlns:a="http://schemas.openxmlformats.org/drawingml/2006/main">
            <a:r>
              <a:t>- results/pt_factorial/validation_metrics.csv</a:t>
            </a:r>
          </a:p>
          <a:p xmlns:a="http://schemas.openxmlformats.org/drawingml/2006/main">
            <a:r>
              <a:t>- results/high_resolution_pt_or/</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in the project, we studied how to describe each individual TOB.</a:t>
            </a:r>
          </a:p>
          <a:p xmlns:a="http://schemas.openxmlformats.org/drawingml/2006/main">
            <a:endParaRPr/>
          </a:p>
          <a:p xmlns:a="http://schemas.openxmlformats.org/drawingml/2006/main">
            <a:r>
              <a:t>That work compared coarse calorimeter cells, compact shower summaries, measured pT and the high-resolution EM2 image. It produced the current high-resolution TOB representation.</a:t>
            </a:r>
          </a:p>
          <a:p xmlns:a="http://schemas.openxmlformats.org/drawingml/2006/main">
            <a:endParaRPr/>
          </a:p>
          <a:p xmlns:a="http://schemas.openxmlformats.org/drawingml/2006/main">
            <a:r>
              <a:t>This slide begins a different study. We are not reopening the calorimeter-representation question. The new question is whether the network needs a better description of how its selected pair fits into the rest of the event.</a:t>
            </a:r>
          </a:p>
          <a:p xmlns:a="http://schemas.openxmlformats.org/drawingml/2006/main">
            <a:endParaRPr/>
          </a:p>
          <a:p xmlns:a="http://schemas.openxmlformats.org/drawingml/2006/main">
            <a:r>
              <a:t>We defined seven alternatives.</a:t>
            </a:r>
          </a:p>
          <a:p xmlns:a="http://schemas.openxmlformats.org/drawingml/2006/main">
            <a:endParaRPr/>
          </a:p>
          <a:p xmlns:a="http://schemas.openxmlformats.org/drawingml/2006/main">
            <a:r>
              <a:t>The first gives the network the total measured pT of all finite TOBs in the event. This describes the event's overall activity.</a:t>
            </a:r>
          </a:p>
          <a:p xmlns:a="http://schemas.openxmlformats.org/drawingml/2006/main">
            <a:endParaRPr/>
          </a:p>
          <a:p xmlns:a="http://schemas.openxmlformats.org/drawingml/2006/main">
            <a:r>
              <a:t>The second gives it the highest measured pT belonging to a selected TOB outside the current pair. This indicates whether another strong object competes with the chosen pair.</a:t>
            </a:r>
          </a:p>
          <a:p xmlns:a="http://schemas.openxmlformats.org/drawingml/2006/main">
            <a:endParaRPr/>
          </a:p>
          <a:p xmlns:a="http://schemas.openxmlformats.org/drawingml/2006/main">
            <a:r>
              <a:t>The third gives it the total measured pT outside the pair, rather than only the strongest outside object.</a:t>
            </a:r>
          </a:p>
          <a:p xmlns:a="http://schemas.openxmlformats.org/drawingml/2006/main">
            <a:endParaRPr/>
          </a:p>
          <a:p xmlns:a="http://schemas.openxmlformats.org/drawingml/2006/main">
            <a:r>
              <a:t>The fourth describes the pair relatively: what fraction of the event's total measured pT belongs to these two TOBs.</a:t>
            </a:r>
          </a:p>
          <a:p xmlns:a="http://schemas.openxmlformats.org/drawingml/2006/main">
            <a:endParaRPr/>
          </a:p>
          <a:p xmlns:a="http://schemas.openxmlformats.org/drawingml/2006/main">
            <a:r>
              <a:t>The fifth measures how strongly the top-four pT is concentrated in the leading objects.</a:t>
            </a:r>
          </a:p>
          <a:p xmlns:a="http://schemas.openxmlformats.org/drawingml/2006/main">
            <a:endParaRPr/>
          </a:p>
          <a:p xmlns:a="http://schemas.openxmlformats.org/drawingml/2006/main">
            <a:r>
              <a:t>The sixth measures how evenly or unevenly pT is distributed among the top four TOBs.</a:t>
            </a:r>
          </a:p>
          <a:p xmlns:a="http://schemas.openxmlformats.org/drawingml/2006/main">
            <a:endParaRPr/>
          </a:p>
          <a:p xmlns:a="http://schemas.openxmlformats.org/drawingml/2006/main">
            <a:r>
              <a:t>The seventh changes the representation of the two pair members themselves. Instead of supplying their two measured pT values separately, it supplies the pair's total pT and the balance between the two members.</a:t>
            </a:r>
          </a:p>
          <a:p xmlns:a="http://schemas.openxmlformats.org/drawingml/2006/main">
            <a:endParaRPr/>
          </a:p>
          <a:p xmlns:a="http://schemas.openxmlformats.org/drawingml/2006/main">
            <a:r>
              <a:t>These alternatives are evaluated separately. We do not add all seven quantities to one large model.</a:t>
            </a:r>
          </a:p>
          <a:p xmlns:a="http://schemas.openxmlformats.org/drawingml/2006/main">
            <a:endParaRPr/>
          </a:p>
          <a:p xmlns:a="http://schemas.openxmlformats.org/drawingml/2006/main">
            <a:r>
              <a:t>Only the declared pT-context input changes. The calorimeter information, network architecture, training target, loss, training events, number of epochs and three random seeds remain fixed. Any later performance difference can therefore be attributed to the changed pT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graph shows the completed shared validation comparison. The values are the mean inclusive signal-sample event efficiency across model seeds 42, 123 and 456.</a:t>
            </a:r>
          </a:p>
          <a:p xmlns:a="http://schemas.openxmlformats.org/drawingml/2006/main">
            <a:endParaRPr/>
          </a:p>
          <a:p xmlns:a="http://schemas.openxmlformats.org/drawingml/2006/main">
            <a:r>
              <a:t>Inclusive signal-sample event efficiency means the fraction of all signal-sample events in validation that pass the complete event decision. It includes events that were not eligible for pair training and events with no valid pair.</a:t>
            </a:r>
          </a:p>
          <a:p xmlns:a="http://schemas.openxmlformats.org/drawingml/2006/main">
            <a:endParaRPr/>
          </a:p>
          <a:p xmlns:a="http://schemas.openxmlformats.org/drawingml/2006/main">
            <a:r>
              <a:t>Every learned candidate received its own independently calibrated threshold. Each threshold was required to accept no more than 0.5 percent of validation background events. The deterministic baseline was calibrated separately because its score has a different scale.</a:t>
            </a:r>
          </a:p>
          <a:p xmlns:a="http://schemas.openxmlformats.org/drawingml/2006/main">
            <a:endParaRPr/>
          </a:p>
          <a:p xmlns:a="http://schemas.openxmlformats.org/drawingml/2006/main">
            <a:r>
              <a:t>The grey reference value is the deterministic second-highest-pT baseline, at 34.392 percent. All seven context alternatives remained above that baseline in every required seed and energy region. This confirms that none of these substitutions destroyed the useful learned calorimeter decision.</a:t>
            </a:r>
          </a:p>
          <a:p xmlns:a="http://schemas.openxmlformats.org/drawingml/2006/main">
            <a:endParaRPr/>
          </a:p>
          <a:p xmlns:a="http://schemas.openxmlformats.org/drawingml/2006/main">
            <a:r>
              <a:t>However, none exceeded the current model, which uses the two member-pT values and the event second-highest pT. Its mean validation efficiency is 44.756 percent.</a:t>
            </a:r>
          </a:p>
          <a:p xmlns:a="http://schemas.openxmlformats.org/drawingml/2006/main">
            <a:endParaRPr/>
          </a:p>
          <a:p xmlns:a="http://schemas.openxmlformats.org/drawingml/2006/main">
            <a:r>
              <a:t>The closest alternative replaces the separate member-pT inputs with pair sum and balance. It reaches 44.519 percent, which is 0.237 percentage points below the current model.</a:t>
            </a:r>
          </a:p>
          <a:p xmlns:a="http://schemas.openxmlformats.org/drawingml/2006/main">
            <a:endParaRPr/>
          </a:p>
          <a:p xmlns:a="http://schemas.openxmlformats.org/drawingml/2006/main">
            <a:r>
              <a:t>This result does not mean that the alternatives contain no useful information. It means that replacing one pT-context description at a time did not improve this fixed model under the controlled comparison.</a:t>
            </a:r>
          </a:p>
          <a:p xmlns:a="http://schemas.openxmlformats.org/drawingml/2006/main">
            <a:endParaRPr/>
          </a:p>
          <a:p xmlns:a="http://schemas.openxmlformats.org/drawingml/2006/main">
            <a:r>
              <a:t>We therefore retain the current member-pT and event second-highest-pT inputs as the reference and move to the next independent research question.</a:t>
            </a:r>
          </a:p>
          <a:p xmlns:a="http://schemas.openxmlformats.org/drawingml/2006/main">
            <a:endParaRPr/>
          </a:p>
          <a:p xmlns:a="http://schemas.openxmlformats.org/drawingml/2006/main">
            <a:r>
              <a:t>These are adaptive validation results. They guide the next experiment. The protected or final evaluation sample remains unopened.</a:t>
            </a:r>
          </a:p>
          <a:p xmlns:a="http://schemas.openxmlformats.org/drawingml/2006/main">
            <a:endParaRPr/>
          </a:p>
          <a:p xmlns:a="http://schemas.openxmlformats.org/drawingml/2006/main">
            <a:r>
              <a:t>[Public references]</a:t>
            </a:r>
          </a:p>
          <a:p xmlns:a="http://schemas.openxmlformats.org/drawingml/2006/main">
            <a:r>
              <a:t>- results/pt_context/validation_by_seed.csv</a:t>
            </a:r>
          </a:p>
          <a:p xmlns:a="http://schemas.openxmlformats.org/drawingml/2006/main">
            <a:r>
              <a:t>- results/pt_context/summary.csv</a:t>
            </a:r>
          </a:p>
          <a:p xmlns:a="http://schemas.openxmlformats.org/drawingml/2006/main">
            <a:r>
              <a:t>- results/plots/pt_context_ranking.png</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was a controlled member-shower experiment.</a:t>
            </a:r>
          </a:p>
          <a:p xmlns:a="http://schemas.openxmlformats.org/drawingml/2006/main">
            <a:r>
              <a:t/>
            </a:r>
            <a:endParaRPr/>
          </a:p>
          <a:p xmlns:a="http://schemas.openxmlformats.org/drawingml/2006/main">
            <a:r>
              <a:t>We added one number to each TOB. That number measures how widely the EM2 energy is spread around the strongest calorimeter cell. Everything else remained fixed: the two EM2 image channels, the shared CNN, the pair-combining network, the loss, the training seeds, the event decision and the validation procedure.</a:t>
            </a:r>
          </a:p>
          <a:p xmlns:a="http://schemas.openxmlformats.org/drawingml/2006/main">
            <a:r>
              <a:t/>
            </a:r>
            <a:endParaRPr/>
          </a:p>
          <a:p xmlns:a="http://schemas.openxmlformats.org/drawingml/2006/main">
            <a:r>
              <a:t>The member input grew from 47 to 48 scalar values, and the model grew by only 16 parameters, from 4,357 to 4,373.</a:t>
            </a:r>
          </a:p>
          <a:p xmlns:a="http://schemas.openxmlformats.org/drawingml/2006/main">
            <a:r>
              <a:t/>
            </a:r>
            <a:endParaRPr/>
          </a:p>
          <a:p xmlns:a="http://schemas.openxmlformats.org/drawingml/2006/main">
            <a:r>
              <a:t>At a background-event false-positive rate of at most 0.5 percent, the deterministic baseline accepts 34.39 percent of all validation signal-sample events. The shower-width candidate accepts 43.73 percent. The current leader accepts 44.57 percent.</a:t>
            </a:r>
          </a:p>
          <a:p xmlns:a="http://schemas.openxmlformats.org/drawingml/2006/main">
            <a:r>
              <a:t/>
            </a:r>
            <a:endParaRPr/>
          </a:p>
          <a:p xmlns:a="http://schemas.openxmlformats.org/drawingml/2006/main">
            <a:r>
              <a:t>Accepted means that the complete event passes the event-level decision. The percentage is not pair accuracy. It is accepted signal-sample events divided by all 7,307 validation signal-sample events, including events that were not used for pair training.</a:t>
            </a:r>
          </a:p>
          <a:p xmlns:a="http://schemas.openxmlformats.org/drawingml/2006/main">
            <a:r>
              <a:t/>
            </a:r>
            <a:endParaRPr/>
          </a:p>
          <a:p xmlns:a="http://schemas.openxmlformats.org/drawingml/2006/main">
            <a:r>
              <a:t>The width candidate therefore beats the baseline by 9.34 percentage points, but it is 0.835 points below the current leader. Under the rule fixed before validation, it is not promoted.</a:t>
            </a:r>
          </a:p>
          <a:p xmlns:a="http://schemas.openxmlformats.org/drawingml/2006/main">
            <a:r>
              <a:t/>
            </a:r>
            <a:endParaRPr/>
          </a:p>
          <a:p xmlns:a="http://schemas.openxmlformats.org/drawingml/2006/main">
            <a:r>
              <a:t>The selected checkpoints were epoch 17 for seed 42, epoch 5 for seed 123 and epoch 10 for seed 456. These are validation results only. The test and protected samples remained unopened.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separates two different questions.</a:t>
            </a:r>
          </a:p>
          <a:p xmlns:a="http://schemas.openxmlformats.org/drawingml/2006/main">
            <a:r>
              <a:t/>
            </a:r>
            <a:endParaRPr/>
          </a:p>
          <a:p xmlns:a="http://schemas.openxmlformats.org/drawingml/2006/main">
            <a:r>
              <a:t>The blue bars compare the shower-width candidate with the deterministic baseline. Positive bars mean the candidate accepts a larger fraction of signal events in that energy region at the same controlled background limit.</a:t>
            </a:r>
          </a:p>
          <a:p xmlns:a="http://schemas.openxmlformats.org/drawingml/2006/main">
            <a:r>
              <a:t/>
            </a:r>
            <a:endParaRPr/>
          </a:p>
          <a:p xmlns:a="http://schemas.openxmlformats.org/drawingml/2006/main">
            <a:r>
              <a:t>Relative to the baseline, the mean gains are 16.67 percentage points at low energy, 22.10 points at medium energy and 0.71 points at high energy. So the candidate remains better than the baseline in every broad region.</a:t>
            </a:r>
          </a:p>
          <a:p xmlns:a="http://schemas.openxmlformats.org/drawingml/2006/main">
            <a:r>
              <a:t/>
            </a:r>
            <a:endParaRPr/>
          </a:p>
          <a:p xmlns:a="http://schemas.openxmlformats.org/drawingml/2006/main">
            <a:r>
              <a:t>The teal bars compare the same candidate with the current leader. Here, the candidate is 1.70 points lower at low energy and 0.90 points lower at medium energy. At high energy it is only 0.05 points higher, which is a very small point estimate.</a:t>
            </a:r>
          </a:p>
          <a:p xmlns:a="http://schemas.openxmlformats.org/drawingml/2006/main">
            <a:r>
              <a:t/>
            </a:r>
            <a:endParaRPr/>
          </a:p>
          <a:p xmlns:a="http://schemas.openxmlformats.org/drawingml/2006/main">
            <a:r>
              <a:t>The overall inclusive result is still 0.835 percentage points below the current leader. The small high-energy change does not compensate for the low- and medium-energy losses.</a:t>
            </a:r>
          </a:p>
          <a:p xmlns:a="http://schemas.openxmlformats.org/drawingml/2006/main">
            <a:r>
              <a:t/>
            </a:r>
            <a:endParaRPr/>
          </a:p>
          <a:p xmlns:a="http://schemas.openxmlformats.org/drawingml/2006/main">
            <a:r>
              <a:t>This does not mean that shower shape is useless. The current leader already uses detailed EM2 images, so it may already learn most of the width information. The experiment tells us that explicitly adding this one width value is not complementary enough to justify promotion.</a:t>
            </a:r>
          </a:p>
          <a:p xmlns:a="http://schemas.openxmlformats.org/drawingml/2006/main">
            <a:r>
              <a:t/>
            </a:r>
            <a:endParaRPr/>
          </a:p>
          <a:p xmlns:a="http://schemas.openxmlformats.org/drawingml/2006/main">
            <a:r>
              <a:t>No training occurred during validation. The test and protected samples remained unopened, and no additional GPU work is needed for this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records the point at which model selection stops.</a:t>
            </a:r>
          </a:p>
          <a:p xmlns:a="http://schemas.openxmlformats.org/drawingml/2006/main">
            <a:r>
              <a:t/>
            </a:r>
            <a:endParaRPr/>
          </a:p>
          <a:p xmlns:a="http://schemas.openxmlformats.org/drawingml/2006/main">
            <a:r>
              <a:t>The selected system keeps every finite TOB, scores every unordered same-event pair and gives each event equal total influence during training. Its mean inclusive adaptive-validation efficiency is 47.24 percent at 0.4993 percent background-event false-positive rate.</a:t>
            </a:r>
          </a:p>
          <a:p xmlns:a="http://schemas.openxmlformats.org/drawingml/2006/main">
            <a:r>
              <a:t/>
            </a:r>
            <a:endParaRPr/>
          </a:p>
          <a:p xmlns:a="http://schemas.openxmlformats.org/drawingml/2006/main">
            <a:r>
              <a:t>The architecture remains the 4,357-parameter high-resolution pair network. The three selected checkpoints are epoch 17 for seed 42, epoch 18 for seed 123 and epoch 20 for seed 456.</a:t>
            </a:r>
          </a:p>
          <a:p xmlns:a="http://schemas.openxmlformats.org/drawingml/2006/main">
            <a:r>
              <a:t/>
            </a:r>
            <a:endParaRPr/>
          </a:p>
          <a:p xmlns:a="http://schemas.openxmlformats.org/drawingml/2006/main">
            <a:r>
              <a:t>The three seed models are not combined into one ensemble prediction. Each seed is a separate frozen system with its own neural threshold and direct-pT threshold. Final reporting will show every seed separately, followed by their arithmetic mean and seed-to-seed spread. We will not inspect the final results and then choose the best seed.</a:t>
            </a:r>
          </a:p>
          <a:p xmlns:a="http://schemas.openxmlformats.org/drawingml/2006/main">
            <a:r>
              <a:t/>
            </a:r>
            <a:endParaRPr/>
          </a:p>
          <a:p xmlns:a="http://schemas.openxmlformats.org/drawingml/2006/main">
            <a:r>
              <a:t>The exact checkpoint hashes, preprocessing, pair construction, maximum-pair aggregation and joint neural-plus-pT decision have been locked. Thresholds will not be recalibrated on the final evaluation sample.</a:t>
            </a:r>
          </a:p>
          <a:p xmlns:a="http://schemas.openxmlformats.org/drawingml/2006/main">
            <a:r>
              <a:t/>
            </a:r>
            <a:endParaRPr/>
          </a:p>
          <a:p xmlns:a="http://schemas.openxmlformats.org/drawingml/2006/main">
            <a:r>
              <a:t>At this stage, the remaining work is evaluation rather than model development. A final result may be positive or negative, but it cannot change the frozen method.</a:t>
            </a:r>
          </a:p>
          <a:p xmlns:a="http://schemas.openxmlformats.org/drawingml/2006/main">
            <a:r>
              <a:t/>
            </a:r>
            <a:endParaRPr/>
          </a:p>
          <a:p xmlns:a="http://schemas.openxmlformats.org/drawingml/2006/main">
            <a:r>
              <a:t>[Public references]</a:t>
            </a:r>
          </a:p>
          <a:p xmlns:a="http://schemas.openxmlformats.org/drawingml/2006/main">
            <a:r>
              <a:t>- configs/pair_highres_all_finite_equal_event/config.json</a:t>
            </a:r>
            <a:endParaRPr/>
          </a:p>
          <a:p xmlns:a="http://schemas.openxmlformats.org/drawingml/2006/main">
            <a:r>
              <a:t>- results/all_finite_equal_event/frozen_evaluation.json</a:t>
            </a:r>
          </a:p>
          <a:p xmlns:a="http://schemas.openxmlformats.org/drawingml/2006/main">
            <a:r>
              <a:t>- results/all_finite_equal_event/summary.csv</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reports two controlled tests of how pair-member information is combined.</a:t>
            </a:r>
          </a:p>
          <a:p xmlns:a="http://schemas.openxmlformats.org/drawingml/2006/main">
            <a:r>
              <a:t/>
            </a:r>
            <a:endParaRPr/>
          </a:p>
          <a:p xmlns:a="http://schemas.openxmlformats.org/drawingml/2006/main">
            <a:r>
              <a:t>The parent uses the same learned member encoder for both TOBs, but concatenates their summaries in the reproducible higher-pT then lower-pT order. That earlier top-four reference reached 44.57 percent.</a:t>
            </a:r>
          </a:p>
          <a:p xmlns:a="http://schemas.openxmlformats.org/drawingml/2006/main">
            <a:r>
              <a:t/>
            </a:r>
            <a:endParaRPr/>
          </a:p>
          <a:p xmlns:a="http://schemas.openxmlformats.org/drawingml/2006/main">
            <a:r>
              <a:t>The symmetric-fusion candidate combines the two member summaries in a way that cannot change when the members are exchanged. It reached 44.24 percent, about 0.33 percentage points below the parent, so it was not promoted.</a:t>
            </a:r>
          </a:p>
          <a:p xmlns:a="http://schemas.openxmlformats.org/drawingml/2006/main">
            <a:r>
              <a:t/>
            </a:r>
            <a:endParaRPr/>
          </a:p>
          <a:p xmlns:a="http://schemas.openxmlformats.org/drawingml/2006/main">
            <a:r>
              <a:t>The whole-pair candidate removes the separate member encoders and sends the complete flattened pair into one multilayer network. It reached 42.48 percent, about 2.08 points below the parent, so it was also not promoted.</a:t>
            </a:r>
          </a:p>
          <a:p xmlns:a="http://schemas.openxmlformats.org/drawingml/2006/main">
            <a:r>
              <a:t/>
            </a:r>
            <a:endParaRPr/>
          </a:p>
          <a:p xmlns:a="http://schemas.openxmlformats.org/drawingml/2006/main">
            <a:r>
              <a:t>These results show that more complicated or more global pair combination was not automatically better. The retained ordered shared-member architecture remained the strongest of these controlled topology tests.</a:t>
            </a:r>
          </a:p>
          <a:p xmlns:a="http://schemas.openxmlformats.org/drawingml/2006/main">
            <a:r>
              <a:t/>
            </a:r>
            <a:endParaRPr/>
          </a:p>
          <a:p xmlns:a="http://schemas.openxmlformats.org/drawingml/2006/main">
            <a:r>
              <a:t>The later 47.24-percent leader reuses that retained architecture. Its improvement came from scoring every finite pair and using equal total event contribution during training.</a:t>
            </a:r>
          </a:p>
          <a:p xmlns:a="http://schemas.openxmlformats.org/drawingml/2006/main">
            <a:r>
              <a:t/>
            </a:r>
            <a:endParaRPr/>
          </a:p>
          <a:p xmlns:a="http://schemas.openxmlformats.org/drawingml/2006/main">
            <a:r>
              <a:t>All percentages are adaptive validation results at the same event-level background limit. They are not final test results.</a:t>
            </a:r>
          </a:p>
          <a:p xmlns:a="http://schemas.openxmlformats.org/drawingml/2006/main">
            <a:r>
              <a:t/>
            </a:r>
            <a:endParaRPr/>
          </a:p>
          <a:p xmlns:a="http://schemas.openxmlformats.org/drawingml/2006/main">
            <a:r>
              <a:t>[Public references]</a:t>
            </a:r>
          </a:p>
          <a:p xmlns:a="http://schemas.openxmlformats.org/drawingml/2006/main">
            <a:r>
              <a:t>- results/fusion_topology/summary.csv</a:t>
            </a:r>
          </a:p>
          <a:p xmlns:a="http://schemas.openxmlformats.org/drawingml/2006/main">
            <a:r>
              <a:t>- src/pair_models.py</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currently no binding hardware limitation for this research study.</a:t>
            </a:r>
          </a:p>
          <a:p xmlns:a="http://schemas.openxmlformats.org/drawingml/2006/main">
            <a:endParaRPr/>
          </a:p>
          <a:p xmlns:a="http://schemas.openxmlformats.org/drawingml/2006/main">
            <a:r>
              <a:t>We therefore do not reject a scientifically useful representation because of an assumed input limit, parameter budget, multiplication count or latency target that has not been confirmed. This gives the pair study the same freedom used during the established single-object architecture research.</a:t>
            </a:r>
          </a:p>
          <a:p xmlns:a="http://schemas.openxmlformats.org/drawingml/2006/main">
            <a:endParaRPr/>
          </a:p>
          <a:p xmlns:a="http://schemas.openxmlformats.org/drawingml/2006/main">
            <a:r>
              <a:t>We still record the engineering profile of every serious candidate: input dimension, trainable parameters, approximate multiplications, the cost of encoding the four selected TOBs, six pair-head evaluations and event aggregation.</a:t>
            </a:r>
          </a:p>
          <a:p xmlns:a="http://schemas.openxmlformats.org/drawingml/2006/main">
            <a:endParaRPr/>
          </a:p>
          <a:p xmlns:a="http://schemas.openxmlformats.org/drawingml/2006/main">
            <a:r>
              <a:t>Once explicit limits are supplied, the selected scientific model can be assessed against them. If necessary, we can compress, quantize, prune or simplify promising designs and then repeat the same fair event-level comparison.</a:t>
            </a:r>
          </a:p>
          <a:p xmlns:a="http://schemas.openxmlformats.org/drawingml/2006/main">
            <a:endParaRPr/>
          </a:p>
          <a:p xmlns:a="http://schemas.openxmlformats.org/drawingml/2006/main">
            <a:r>
              <a:t>Hardware assessment is therefore the final engineering filter, not an unsupported constraint on the current physics study.</a:t>
            </a:r>
          </a:p>
          <a:p xmlns:a="http://schemas.openxmlformats.org/drawingml/2006/main">
            <a:endParaRPr/>
          </a:p>
          <a:p xmlns:a="http://schemas.openxmlformats.org/drawingml/2006/main">
            <a:r>
              <a:t>[Public references]</a:t>
            </a:r>
          </a:p>
          <a:p xmlns:a="http://schemas.openxmlformats.org/drawingml/2006/main">
            <a:r>
              <a:t>- results/model_resource_profiles.csv</a:t>
            </a:r>
          </a:p>
          <a:p xmlns:a="http://schemas.openxmlformats.org/drawingml/2006/main">
            <a:r>
              <a:t>[/Public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86d638101448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cf9864e8924f5d" /><Relationship Type="http://schemas.openxmlformats.org/officeDocument/2006/relationships/slideLayout" Target="/ppt/slideLayouts/slideLayout1.xml" Id="R9e98e7b60b6140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98e7b60b6140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060dcbb0d6426c" /><Relationship Type="http://schemas.openxmlformats.org/officeDocument/2006/relationships/notesSlide" Target="/ppt/notesSlides/notesSlide1.xml" Id="R49d996012e6a4a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ee97388bfa491a" /><Relationship Type="http://schemas.openxmlformats.org/officeDocument/2006/relationships/notesSlide" Target="/ppt/notesSlides/notesSlide2.xml" Id="Rd766510c371545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27f1291de9f487d" /><Relationship Type="http://schemas.openxmlformats.org/officeDocument/2006/relationships/notesSlide" Target="/ppt/notesSlides/notesSlide3.xml" Id="Rd4b945fed0324e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f4a7e413fc4ff7" /><Relationship Type="http://schemas.openxmlformats.org/officeDocument/2006/relationships/notesSlide" Target="/ppt/notesSlides/notesSlide4.xml" Id="R9aa5957ea19840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75fc45314547b9" /><Relationship Type="http://schemas.openxmlformats.org/officeDocument/2006/relationships/notesSlide" Target="/ppt/notesSlides/notesSlide5.xml" Id="R0aa1553e3ed045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a6188a9e6e42f5" /><Relationship Type="http://schemas.openxmlformats.org/officeDocument/2006/relationships/notesSlide" Target="/ppt/notesSlides/notesSlide6.xml" Id="Ra937c89f90e94f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e0527ab49041b6" /><Relationship Type="http://schemas.openxmlformats.org/officeDocument/2006/relationships/notesSlide" Target="/ppt/notesSlides/notesSlide7.xml" Id="R20a5a6d5332e46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ae86ba32ff4e24" /><Relationship Type="http://schemas.openxmlformats.org/officeDocument/2006/relationships/notesSlide" Target="/ppt/notesSlides/notesSlide8.xml" Id="R16f9efdffdc443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37d993ff37c4a5a" /><Relationship Type="http://schemas.openxmlformats.org/officeDocument/2006/relationships/notesSlide" Target="/ppt/notesSlides/notesSlide9.xml" Id="R47e7ade0f1f24e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95e112a03b44f8b" /><Relationship Type="http://schemas.openxmlformats.org/officeDocument/2006/relationships/notesSlide" Target="/ppt/notesSlides/notesSlide10.xml" Id="R11eb4f4cb79446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b04a1bceb345f8" /><Relationship Type="http://schemas.openxmlformats.org/officeDocument/2006/relationships/notesSlide" Target="/ppt/notesSlides/notesSlide11.xml" Id="R3cc3455170ef45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f342b97633444a" /><Relationship Type="http://schemas.openxmlformats.org/officeDocument/2006/relationships/notesSlide" Target="/ppt/notesSlides/notesSlide12.xml" Id="Rbd999542d8a445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5fb7ffc954498d" /><Relationship Type="http://schemas.openxmlformats.org/officeDocument/2006/relationships/notesSlide" Target="/ppt/notesSlides/notesSlide13.xml" Id="Rb605524e7eb645c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9c30c6e569340c9" /><Relationship Type="http://schemas.openxmlformats.org/officeDocument/2006/relationships/chart" Target="/ppt/slides/charts/chart1.xml" Id="R819b4832971a4742" /><Relationship Type="http://schemas.openxmlformats.org/officeDocument/2006/relationships/notesSlide" Target="/ppt/notesSlides/notesSlide14.xml" Id="R42505150b2064e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fdbe05f350429a" /><Relationship Type="http://schemas.openxmlformats.org/officeDocument/2006/relationships/chart" Target="/ppt/slides/charts/chart2.xml" Id="Ra677c2ba45714c23" /><Relationship Type="http://schemas.openxmlformats.org/officeDocument/2006/relationships/notesSlide" Target="/ppt/notesSlides/notesSlide15.xml" Id="Rde171588c6894f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2c59174555d4d3d" /><Relationship Type="http://schemas.openxmlformats.org/officeDocument/2006/relationships/chart" Target="/ppt/slides/charts/chart3.xml" Id="R4bfea93ea7634003" /><Relationship Type="http://schemas.openxmlformats.org/officeDocument/2006/relationships/chart" Target="/ppt/slides/charts/chart4.xml" Id="Re96f2a0a2dbf4ade" /><Relationship Type="http://schemas.openxmlformats.org/officeDocument/2006/relationships/notesSlide" Target="/ppt/notesSlides/notesSlide16.xml" Id="R7787d1bf255241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1eebb5535c4491b" /><Relationship Type="http://schemas.openxmlformats.org/officeDocument/2006/relationships/notesSlide" Target="/ppt/notesSlides/notesSlide17.xml" Id="R87dbad66fa4b467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a27127ed4d9407f" /><Relationship Type="http://schemas.openxmlformats.org/officeDocument/2006/relationships/notesSlide" Target="/ppt/notesSlides/notesSlide18.xml" Id="Red91151b925f4a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83e8d3569be4135" /><Relationship Type="http://schemas.openxmlformats.org/officeDocument/2006/relationships/chart" Target="/ppt/slides/charts/chart5.xml" Id="Rcd8bd7f652ce460b" /><Relationship Type="http://schemas.openxmlformats.org/officeDocument/2006/relationships/notesSlide" Target="/ppt/notesSlides/notesSlide19.xml" Id="Rce6d5910989f4e6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343c85b8d5e4194" /><Relationship Type="http://schemas.openxmlformats.org/officeDocument/2006/relationships/notesSlide" Target="/ppt/notesSlides/notesSlide20.xml" Id="Rcf9c2f4b220d48c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67bdea4a00f4d10" /><Relationship Type="http://schemas.openxmlformats.org/officeDocument/2006/relationships/notesSlide" Target="/ppt/notesSlides/notesSlide21.xml" Id="R168accadfb134a8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c564aa160e043aa" /><Relationship Type="http://schemas.openxmlformats.org/officeDocument/2006/relationships/notesSlide" Target="/ppt/notesSlides/notesSlide22.xml" Id="Rd278ddfc0449452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185350d7e174def" /><Relationship Type="http://schemas.openxmlformats.org/officeDocument/2006/relationships/notesSlide" Target="/ppt/notesSlides/notesSlide23.xml" Id="Rbbefc3abea27422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624996b159049d6" /><Relationship Type="http://schemas.openxmlformats.org/officeDocument/2006/relationships/notesSlide" Target="/ppt/notesSlides/notesSlide24.xml" Id="R3c6a07fc31254f3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7d1adbeb8ad4dfd" /><Relationship Type="http://schemas.openxmlformats.org/officeDocument/2006/relationships/notesSlide" Target="/ppt/notesSlides/notesSlide25.xml" Id="Rc82239cfd26f467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14f198429d544f7" /><Relationship Type="http://schemas.openxmlformats.org/officeDocument/2006/relationships/notesSlide" Target="/ppt/notesSlides/notesSlide26.xml" Id="Rb0b3e3e3de3d44d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ee33b9fbc964e20" /><Relationship Type="http://schemas.openxmlformats.org/officeDocument/2006/relationships/chart" Target="/ppt/slides/charts/chart6.xml" Id="R5df45b41145b418e" /><Relationship Type="http://schemas.openxmlformats.org/officeDocument/2006/relationships/notesSlide" Target="/ppt/notesSlides/notesSlide27.xml" Id="R14e79c9aee6948c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a348e3104374e90" /><Relationship Type="http://schemas.openxmlformats.org/officeDocument/2006/relationships/notesSlide" Target="/ppt/notesSlides/notesSlide28.xml" Id="R9069d3f16b1742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aed033532774b7c" /><Relationship Type="http://schemas.openxmlformats.org/officeDocument/2006/relationships/chart" Target="/ppt/slides/charts/chart7.xml" Id="Rb3440736111542ff" /><Relationship Type="http://schemas.openxmlformats.org/officeDocument/2006/relationships/notesSlide" Target="/ppt/notesSlides/notesSlide29.xml" Id="Rc132219247f349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f03bdebb43e4eea" /><Relationship Type="http://schemas.openxmlformats.org/officeDocument/2006/relationships/chart" Target="/ppt/slides/charts/chart8.xml" Id="R6770942d1e724f70" /><Relationship Type="http://schemas.openxmlformats.org/officeDocument/2006/relationships/notesSlide" Target="/ppt/notesSlides/notesSlide30.xml" Id="R63ea850e72ac41d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183debcb76e4728" /><Relationship Type="http://schemas.openxmlformats.org/officeDocument/2006/relationships/chart" Target="/ppt/slides/charts/chart9.xml" Id="R9c5ce30476a14e97" /><Relationship Type="http://schemas.openxmlformats.org/officeDocument/2006/relationships/notesSlide" Target="/ppt/notesSlides/notesSlide31.xml" Id="R117188787e7d41e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e9d0809b8cb402d" /><Relationship Type="http://schemas.openxmlformats.org/officeDocument/2006/relationships/notesSlide" Target="/ppt/notesSlides/notesSlide32.xml" Id="R335c82a1659a44c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077da65e7504c34" /><Relationship Type="http://schemas.openxmlformats.org/officeDocument/2006/relationships/notesSlide" Target="/ppt/notesSlides/notesSlide33.xml" Id="R7f52006b4c1f489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c4b1d795d51462a" /><Relationship Type="http://schemas.openxmlformats.org/officeDocument/2006/relationships/notesSlide" Target="/ppt/notesSlides/notesSlide34.xml" Id="R8a70786cc338456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dc0615836ae4f95" /><Relationship Type="http://schemas.openxmlformats.org/officeDocument/2006/relationships/chart" Target="/ppt/slides/charts/chart10.xml" Id="R90fc5fe474f0427c" /><Relationship Type="http://schemas.openxmlformats.org/officeDocument/2006/relationships/notesSlide" Target="/ppt/notesSlides/notesSlide35.xml" Id="Rbf2ba23ea8864af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422a82e836c462f" /><Relationship Type="http://schemas.openxmlformats.org/officeDocument/2006/relationships/chart" Target="/ppt/slides/charts/chart11.xml" Id="Rb02d9cfd6f984fab" /><Relationship Type="http://schemas.openxmlformats.org/officeDocument/2006/relationships/notesSlide" Target="/ppt/notesSlides/notesSlide36.xml" Id="R1b4a1b32a819414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dbedf7a8ee84597" /><Relationship Type="http://schemas.openxmlformats.org/officeDocument/2006/relationships/notesSlide" Target="/ppt/notesSlides/notesSlide37.xml" Id="R509d80aff205477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2894393711041b3" /><Relationship Type="http://schemas.openxmlformats.org/officeDocument/2006/relationships/image" Target="/ppt/media/image.png" Id="R175f5afac8ae4a5d" /><Relationship Type="http://schemas.openxmlformats.org/officeDocument/2006/relationships/notesSlide" Target="/ppt/notesSlides/notesSlide38.xml" Id="Reca1fb22aeaa4cb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52a61ecc62346bb" /><Relationship Type="http://schemas.openxmlformats.org/officeDocument/2006/relationships/notesSlide" Target="/ppt/notesSlides/notesSlide39.xml" Id="R4ddc2b0df8e0436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c6714f4e04c45f3" /><Relationship Type="http://schemas.openxmlformats.org/officeDocument/2006/relationships/notesSlide" Target="/ppt/notesSlides/notesSlide40.xml" Id="R9f22a16b0cf04e5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9d72501d3a34afa" /><Relationship Type="http://schemas.openxmlformats.org/officeDocument/2006/relationships/notesSlide" Target="/ppt/notesSlides/notesSlide41.xml" Id="R83c23f6eecb44e0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084b0b62a524027" /><Relationship Type="http://schemas.openxmlformats.org/officeDocument/2006/relationships/chart" Target="/ppt/slides/charts/chart12.xml" Id="R4fdc289ba0974fdb" /><Relationship Type="http://schemas.openxmlformats.org/officeDocument/2006/relationships/notesSlide" Target="/ppt/notesSlides/notesSlide42.xml" Id="R808437e3ef4b404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d4df8e69c6e4c1a" /><Relationship Type="http://schemas.openxmlformats.org/officeDocument/2006/relationships/chart" Target="/ppt/slides/charts/chart13.xml" Id="R72d2f9c92a0643f4" /><Relationship Type="http://schemas.openxmlformats.org/officeDocument/2006/relationships/notesSlide" Target="/ppt/notesSlides/notesSlide43.xml" Id="R7ecb0f8a172b442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9a8f6c00814473a" /><Relationship Type="http://schemas.openxmlformats.org/officeDocument/2006/relationships/chart" Target="/ppt/slides/charts/chart14.xml" Id="R44148015640541ae" /><Relationship Type="http://schemas.openxmlformats.org/officeDocument/2006/relationships/notesSlide" Target="/ppt/notesSlides/notesSlide44.xml" Id="Rdfd1c950623e44b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d5f1e78bff84520" /><Relationship Type="http://schemas.openxmlformats.org/officeDocument/2006/relationships/notesSlide" Target="/ppt/notesSlides/notesSlide45.xml" Id="Rbd62717f4733448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2f90b0ed12a4c3c" /><Relationship Type="http://schemas.openxmlformats.org/officeDocument/2006/relationships/notesSlide" Target="/ppt/notesSlides/notesSlide46.xml" Id="R0c220d347c044ba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16557a98ec9b4e6f" /><Relationship Type="http://schemas.openxmlformats.org/officeDocument/2006/relationships/notesSlide" Target="/ppt/notesSlides/notesSlide47.xml" Id="R42cc017f8995465e" /></Relationships>
</file>

<file path=ppt/slides/charts/chart1.xml><?xml version="1.0" encoding="utf-8"?>
<c:chartSpace xmlns:c="http://schemas.openxmlformats.org/drawingml/2006/chart">
  <c:lang val="en-US"/>
  <c:roundedCorners val="1"/>
  <c:style val="2"/>
  <c:chart>
    <c:autoTitleDeleted val="1"/>
    <c:plotArea>
      <c:lineChart>
        <c:grouping val="standard"/>
        <c:varyColors val="0"/>
        <c:ser>
          <c:idx val="0"/>
          <c:order val="0"/>
          <c:tx>
            <c:v>Seed 42</c:v>
          </c:tx>
          <c:spPr>
            <a:ln xmlns:a="http://schemas.openxmlformats.org/drawingml/2006/main" w="28575">
              <a:solidFill>
                <a:srgbClr val="2563EB"/>
              </a:solidFill>
              <a:prstDash val="solid"/>
            </a:ln>
          </c:spPr>
          <c:marker>
            <c:symbol val="circle"/>
            <c:size val="4"/>
            <c:spPr>
              <a:solidFill xmlns:a="http://schemas.openxmlformats.org/drawingml/2006/main">
                <a:srgbClr val="2563EB"/>
              </a:solidFill>
            </c:spPr>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General</c:formatCode>
              <c:ptCount val="20"/>
              <c:pt idx="0">
                <c:v>0.0954726</c:v>
              </c:pt>
              <c:pt idx="1">
                <c:v>0.0504077</c:v>
              </c:pt>
              <c:pt idx="2">
                <c:v>0.0492448</c:v>
              </c:pt>
              <c:pt idx="3">
                <c:v>0.0490128</c:v>
              </c:pt>
              <c:pt idx="4">
                <c:v>0.0489739</c:v>
              </c:pt>
              <c:pt idx="5">
                <c:v>0.0489429</c:v>
              </c:pt>
              <c:pt idx="6">
                <c:v>0.0489262</c:v>
              </c:pt>
              <c:pt idx="7">
                <c:v>0.0488988</c:v>
              </c:pt>
              <c:pt idx="8">
                <c:v>0.0489019</c:v>
              </c:pt>
              <c:pt idx="9">
                <c:v>0.0489059</c:v>
              </c:pt>
              <c:pt idx="10">
                <c:v>0.0488975</c:v>
              </c:pt>
              <c:pt idx="11">
                <c:v>0.0489022</c:v>
              </c:pt>
              <c:pt idx="12">
                <c:v>0.0489044</c:v>
              </c:pt>
              <c:pt idx="13">
                <c:v>0.048889</c:v>
              </c:pt>
              <c:pt idx="14">
                <c:v>0.0488889</c:v>
              </c:pt>
              <c:pt idx="15">
                <c:v>0.0488867</c:v>
              </c:pt>
              <c:pt idx="16">
                <c:v>0.0488915</c:v>
              </c:pt>
              <c:pt idx="17">
                <c:v>0.0488795</c:v>
              </c:pt>
              <c:pt idx="18">
                <c:v>0.048883</c:v>
              </c:pt>
              <c:pt idx="19">
                <c:v>0.0488708</c:v>
              </c:pt>
            </c:numLit>
          </c:val>
          <c:smooth val="0"/>
        </c:ser>
        <c:ser>
          <c:idx val="1"/>
          <c:order val="1"/>
          <c:tx>
            <c:v>Seed 123</c:v>
          </c:tx>
          <c:spPr>
            <a:ln xmlns:a="http://schemas.openxmlformats.org/drawingml/2006/main" w="28575">
              <a:solidFill>
                <a:srgbClr val="6B7280"/>
              </a:solidFill>
              <a:prstDash val="solid"/>
            </a:ln>
          </c:spPr>
          <c:marker>
            <c:symbol val="diamond"/>
            <c:size val="4"/>
            <c:spPr>
              <a:solidFill xmlns:a="http://schemas.openxmlformats.org/drawingml/2006/main">
                <a:srgbClr val="6B7280"/>
              </a:solidFill>
            </c:spPr>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General</c:formatCode>
              <c:ptCount val="20"/>
              <c:pt idx="0">
                <c:v>0.1053908</c:v>
              </c:pt>
              <c:pt idx="1">
                <c:v>0.050256</c:v>
              </c:pt>
              <c:pt idx="2">
                <c:v>0.0494903</c:v>
              </c:pt>
              <c:pt idx="3">
                <c:v>0.049225</c:v>
              </c:pt>
              <c:pt idx="4">
                <c:v>0.0491095</c:v>
              </c:pt>
              <c:pt idx="5">
                <c:v>0.0490537</c:v>
              </c:pt>
              <c:pt idx="6">
                <c:v>0.0490243</c:v>
              </c:pt>
              <c:pt idx="7">
                <c:v>0.0489984</c:v>
              </c:pt>
              <c:pt idx="8">
                <c:v>0.0489869</c:v>
              </c:pt>
              <c:pt idx="9">
                <c:v>0.0489858</c:v>
              </c:pt>
              <c:pt idx="10">
                <c:v>0.0489815</c:v>
              </c:pt>
              <c:pt idx="11">
                <c:v>0.0489681</c:v>
              </c:pt>
              <c:pt idx="12">
                <c:v>0.0489609</c:v>
              </c:pt>
              <c:pt idx="13">
                <c:v>0.0489626</c:v>
              </c:pt>
              <c:pt idx="14">
                <c:v>0.048959</c:v>
              </c:pt>
              <c:pt idx="15">
                <c:v>0.0489626</c:v>
              </c:pt>
              <c:pt idx="16">
                <c:v>0.0489658</c:v>
              </c:pt>
              <c:pt idx="17">
                <c:v>0.0489597</c:v>
              </c:pt>
              <c:pt idx="18">
                <c:v>0.0489671</c:v>
              </c:pt>
              <c:pt idx="19">
                <c:v>0.0489629</c:v>
              </c:pt>
            </c:numLit>
          </c:val>
          <c:smooth val="0"/>
        </c:ser>
        <c:ser>
          <c:idx val="2"/>
          <c:order val="2"/>
          <c:tx>
            <c:v>Seed 456</c:v>
          </c:tx>
          <c:spPr>
            <a:ln xmlns:a="http://schemas.openxmlformats.org/drawingml/2006/main" w="28575">
              <a:solidFill>
                <a:srgbClr val="0E7490"/>
              </a:solidFill>
              <a:prstDash val="solid"/>
            </a:ln>
          </c:spPr>
          <c:marker>
            <c:symbol val="square"/>
            <c:size val="4"/>
            <c:spPr>
              <a:solidFill xmlns:a="http://schemas.openxmlformats.org/drawingml/2006/main">
                <a:srgbClr val="0E7490"/>
              </a:solidFill>
            </c:spPr>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General</c:formatCode>
              <c:ptCount val="20"/>
              <c:pt idx="0">
                <c:v>0.0946451</c:v>
              </c:pt>
              <c:pt idx="1">
                <c:v>0.0513518</c:v>
              </c:pt>
              <c:pt idx="2">
                <c:v>0.0498362</c:v>
              </c:pt>
              <c:pt idx="3">
                <c:v>0.0493562</c:v>
              </c:pt>
              <c:pt idx="4">
                <c:v>0.0491513</c:v>
              </c:pt>
              <c:pt idx="5">
                <c:v>0.0490531</c:v>
              </c:pt>
              <c:pt idx="6">
                <c:v>0.04896</c:v>
              </c:pt>
              <c:pt idx="7">
                <c:v>0.0488665</c:v>
              </c:pt>
              <c:pt idx="8">
                <c:v>0.0488023</c:v>
              </c:pt>
              <c:pt idx="9">
                <c:v>0.0487426</c:v>
              </c:pt>
              <c:pt idx="10">
                <c:v>0.0487104</c:v>
              </c:pt>
              <c:pt idx="11">
                <c:v>0.0486872</c:v>
              </c:pt>
              <c:pt idx="12">
                <c:v>0.0486615</c:v>
              </c:pt>
              <c:pt idx="13">
                <c:v>0.0486665</c:v>
              </c:pt>
              <c:pt idx="14">
                <c:v>0.0486566</c:v>
              </c:pt>
              <c:pt idx="15">
                <c:v>0.0486536</c:v>
              </c:pt>
              <c:pt idx="16">
                <c:v>0.0486467</c:v>
              </c:pt>
              <c:pt idx="17">
                <c:v>0.0486405</c:v>
              </c:pt>
              <c:pt idx="18">
                <c:v>0.0486365</c:v>
              </c:pt>
              <c:pt idx="19">
                <c:v>0.0486401</c:v>
              </c:pt>
            </c:numLit>
          </c:val>
          <c:smooth val="0"/>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b="1">
                    <a:solidFill>
                      <a:srgbClr val="111827"/>
                    </a:solidFill>
                  </a:rPr>
                  <a:t>Epoch</a:t>
                </a:r>
              </a:p>
            </c:rich>
          </c:tx>
          <c:overlay val="0"/>
          <c:txPr>
            <a:bodyPr xmlns:a="http://schemas.openxmlformats.org/drawingml/2006/main" anchorCtr="1"/>
            <a:lstStyle xmlns:a="http://schemas.openxmlformats.org/drawingml/2006/main"/>
            <a:p xmlns:a="http://schemas.openxmlformats.org/drawingml/2006/main">
              <a:pPr>
                <a:defRPr sz="900" b="1">
                  <a:solidFill>
                    <a:srgbClr val="111827"/>
                  </a:solidFill>
                </a:defRPr>
              </a:pPr>
            </a:p>
          </c:txPr>
        </c:title>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750">
                <a:solidFill>
                  <a:srgbClr val="64748B"/>
                </a:solidFill>
              </a:defRPr>
            </a:pPr>
          </a:p>
        </c:txPr>
        <c:crossAx val="48672768"/>
        <c:crosses val="autoZero"/>
        <c:lblOffset val="100"/>
      </c:catAx>
      <c:valAx>
        <c:axId val="48672768"/>
        <c:scaling>
          <c:orientation val="minMax"/>
          <c:max val="0.11"/>
          <c:min val="0.045"/>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111827"/>
                    </a:solidFill>
                  </a:rPr>
                  <a:t>Training error</a:t>
                </a:r>
              </a:p>
            </c:rich>
          </c:tx>
          <c:overlay val="0"/>
          <c:txPr>
            <a:bodyPr xmlns:a="http://schemas.openxmlformats.org/drawingml/2006/main" anchorCtr="1"/>
            <a:lstStyle xmlns:a="http://schemas.openxmlformats.org/drawingml/2006/main"/>
            <a:p xmlns:a="http://schemas.openxmlformats.org/drawingml/2006/main">
              <a:pPr>
                <a:defRPr sz="825" b="1">
                  <a:solidFill>
                    <a:srgbClr val="111827"/>
                  </a:solidFill>
                </a:defRPr>
              </a:pPr>
            </a:p>
          </c:txPr>
        </c:title>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750">
                <a:solidFill>
                  <a:srgbClr val="64748B"/>
                </a:solidFill>
              </a:defRPr>
            </a:pPr>
          </a:p>
        </c:txPr>
        <c:crossAx val="48650112"/>
        <c:crosses val="autoZero"/>
        <c:crossBetween val="between"/>
        <c:majorUnit val="0.02"/>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111827"/>
              </a:solidFill>
            </a:defRPr>
          </a:pPr>
        </a:p>
      </c:txPr>
    </c:legend>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roundedCorners val="1"/>
  <c:style val="2"/>
  <c:chart>
    <c:autoTitleDeleted val="1"/>
    <c:plotArea>
      <c:lineChart>
        <c:grouping val="standard"/>
        <c:varyColors val="0"/>
        <c:ser>
          <c:idx val="0"/>
          <c:order val="0"/>
          <c:tx>
            <c:v>Seed 42</c:v>
          </c:tx>
          <c:spPr>
            <a:ln xmlns:a="http://schemas.openxmlformats.org/drawingml/2006/main" w="28575">
              <a:solidFill>
                <a:srgbClr val="2563EB"/>
              </a:solidFill>
              <a:prstDash val="solid"/>
            </a:ln>
          </c:spPr>
          <c:marker>
            <c:symbol val="circle"/>
            <c:size val="4"/>
            <c:spPr>
              <a:solidFill xmlns:a="http://schemas.openxmlformats.org/drawingml/2006/main">
                <a:srgbClr val="2563EB"/>
              </a:solidFill>
            </c:spPr>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General</c:formatCode>
              <c:ptCount val="20"/>
              <c:pt idx="0">
                <c:v>53.1087</c:v>
              </c:pt>
              <c:pt idx="1">
                <c:v>53.2457</c:v>
              </c:pt>
              <c:pt idx="2">
                <c:v>55.4095</c:v>
              </c:pt>
              <c:pt idx="3">
                <c:v>57.1624</c:v>
              </c:pt>
              <c:pt idx="4">
                <c:v>55.5464</c:v>
              </c:pt>
              <c:pt idx="5">
                <c:v>55.9847</c:v>
              </c:pt>
              <c:pt idx="6">
                <c:v>55.9025</c:v>
              </c:pt>
              <c:pt idx="7">
                <c:v>55.9847</c:v>
              </c:pt>
              <c:pt idx="8">
                <c:v>54.2865</c:v>
              </c:pt>
              <c:pt idx="9">
                <c:v>56.0668</c:v>
              </c:pt>
              <c:pt idx="10">
                <c:v>54.8617</c:v>
              </c:pt>
              <c:pt idx="11">
                <c:v>54.6152</c:v>
              </c:pt>
              <c:pt idx="12">
                <c:v>54.533</c:v>
              </c:pt>
              <c:pt idx="13">
                <c:v>53.7661</c:v>
              </c:pt>
              <c:pt idx="14">
                <c:v>54.0126</c:v>
              </c:pt>
              <c:pt idx="15">
                <c:v>54.8343</c:v>
              </c:pt>
              <c:pt idx="16">
                <c:v>55.5464</c:v>
              </c:pt>
              <c:pt idx="17">
                <c:v>55.2177</c:v>
              </c:pt>
              <c:pt idx="18">
                <c:v>55.5464</c:v>
              </c:pt>
              <c:pt idx="19">
                <c:v>55.1904</c:v>
              </c:pt>
            </c:numLit>
          </c:val>
          <c:smooth val="0"/>
        </c:ser>
        <c:ser>
          <c:idx val="1"/>
          <c:order val="1"/>
          <c:tx>
            <c:v>Seed 123</c:v>
          </c:tx>
          <c:spPr>
            <a:ln xmlns:a="http://schemas.openxmlformats.org/drawingml/2006/main" w="28575">
              <a:solidFill>
                <a:srgbClr val="6B7280"/>
              </a:solidFill>
              <a:prstDash val="solid"/>
            </a:ln>
          </c:spPr>
          <c:marker>
            <c:symbol val="diamond"/>
            <c:size val="4"/>
            <c:spPr>
              <a:solidFill xmlns:a="http://schemas.openxmlformats.org/drawingml/2006/main">
                <a:srgbClr val="6B7280"/>
              </a:solidFill>
            </c:spPr>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General</c:formatCode>
              <c:ptCount val="20"/>
              <c:pt idx="0">
                <c:v>57.1624</c:v>
              </c:pt>
              <c:pt idx="1">
                <c:v>56.0394</c:v>
              </c:pt>
              <c:pt idx="2">
                <c:v>57.135</c:v>
              </c:pt>
              <c:pt idx="3">
                <c:v>56.0394</c:v>
              </c:pt>
              <c:pt idx="4">
                <c:v>57.8472</c:v>
              </c:pt>
              <c:pt idx="5">
                <c:v>56.9433</c:v>
              </c:pt>
              <c:pt idx="6">
                <c:v>56.4777</c:v>
              </c:pt>
              <c:pt idx="7">
                <c:v>57.1624</c:v>
              </c:pt>
              <c:pt idx="8">
                <c:v>57.0255</c:v>
              </c:pt>
              <c:pt idx="9">
                <c:v>56.1764</c:v>
              </c:pt>
              <c:pt idx="10">
                <c:v>55.1082</c:v>
              </c:pt>
              <c:pt idx="11">
                <c:v>55.9025</c:v>
              </c:pt>
              <c:pt idx="12">
                <c:v>55.2451</c:v>
              </c:pt>
              <c:pt idx="13">
                <c:v>56.5872</c:v>
              </c:pt>
              <c:pt idx="14">
                <c:v>56.7516</c:v>
              </c:pt>
              <c:pt idx="15">
                <c:v>56.4777</c:v>
              </c:pt>
              <c:pt idx="16">
                <c:v>56.0394</c:v>
              </c:pt>
              <c:pt idx="17">
                <c:v>56.3407</c:v>
              </c:pt>
              <c:pt idx="18">
                <c:v>56.0394</c:v>
              </c:pt>
              <c:pt idx="19">
                <c:v>56.2859</c:v>
              </c:pt>
            </c:numLit>
          </c:val>
          <c:smooth val="0"/>
        </c:ser>
        <c:ser>
          <c:idx val="2"/>
          <c:order val="2"/>
          <c:tx>
            <c:v>Seed 456</c:v>
          </c:tx>
          <c:spPr>
            <a:ln xmlns:a="http://schemas.openxmlformats.org/drawingml/2006/main" w="28575">
              <a:solidFill>
                <a:srgbClr val="0E7490"/>
              </a:solidFill>
              <a:prstDash val="solid"/>
            </a:ln>
          </c:spPr>
          <c:marker>
            <c:symbol val="square"/>
            <c:size val="4"/>
            <c:spPr>
              <a:solidFill xmlns:a="http://schemas.openxmlformats.org/drawingml/2006/main">
                <a:srgbClr val="0E7490"/>
              </a:solidFill>
            </c:spPr>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General</c:formatCode>
              <c:ptCount val="20"/>
              <c:pt idx="0">
                <c:v>28.951</c:v>
              </c:pt>
              <c:pt idx="1">
                <c:v>55.3547</c:v>
              </c:pt>
              <c:pt idx="2">
                <c:v>56.0121</c:v>
              </c:pt>
              <c:pt idx="3">
                <c:v>56.3407</c:v>
              </c:pt>
              <c:pt idx="4">
                <c:v>56.6968</c:v>
              </c:pt>
              <c:pt idx="5">
                <c:v>56.9981</c:v>
              </c:pt>
              <c:pt idx="6">
                <c:v>57.2446</c:v>
              </c:pt>
              <c:pt idx="7">
                <c:v>56.8885</c:v>
              </c:pt>
              <c:pt idx="8">
                <c:v>57.3268</c:v>
              </c:pt>
              <c:pt idx="9">
                <c:v>57.7102</c:v>
              </c:pt>
              <c:pt idx="10">
                <c:v>57.4089</c:v>
              </c:pt>
              <c:pt idx="11">
                <c:v>56.8885</c:v>
              </c:pt>
              <c:pt idx="12">
                <c:v>57.6828</c:v>
              </c:pt>
              <c:pt idx="13">
                <c:v>57.9567</c:v>
              </c:pt>
              <c:pt idx="14">
                <c:v>57.6828</c:v>
              </c:pt>
              <c:pt idx="15">
                <c:v>57.0803</c:v>
              </c:pt>
              <c:pt idx="16">
                <c:v>57.0255</c:v>
              </c:pt>
              <c:pt idx="17">
                <c:v>58.0115</c:v>
              </c:pt>
              <c:pt idx="18">
                <c:v>57.2446</c:v>
              </c:pt>
              <c:pt idx="19">
                <c:v>57.6554</c:v>
              </c:pt>
            </c:numLit>
          </c:val>
          <c:smooth val="0"/>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b="1">
                    <a:solidFill>
                      <a:srgbClr val="111827"/>
                    </a:solidFill>
                  </a:rPr>
                  <a:t>Epoch</a:t>
                </a:r>
              </a:p>
            </c:rich>
          </c:tx>
          <c:overlay val="0"/>
          <c:txPr>
            <a:bodyPr xmlns:a="http://schemas.openxmlformats.org/drawingml/2006/main" anchorCtr="1"/>
            <a:lstStyle xmlns:a="http://schemas.openxmlformats.org/drawingml/2006/main"/>
            <a:p xmlns:a="http://schemas.openxmlformats.org/drawingml/2006/main">
              <a:pPr>
                <a:defRPr sz="900" b="1">
                  <a:solidFill>
                    <a:srgbClr val="111827"/>
                  </a:solidFill>
                </a:defRPr>
              </a:pPr>
            </a:p>
          </c:txPr>
        </c:title>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750">
                <a:solidFill>
                  <a:srgbClr val="64748B"/>
                </a:solidFill>
              </a:defRPr>
            </a:pPr>
          </a:p>
        </c:txPr>
        <c:crossAx val="48672768"/>
        <c:crosses val="autoZero"/>
        <c:lblOffset val="100"/>
      </c:catAx>
      <c:valAx>
        <c:axId val="48672768"/>
        <c:scaling>
          <c:orientation val="minMax"/>
          <c:max val="60"/>
          <c:min val="25"/>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111827"/>
                    </a:solidFill>
                  </a:rPr>
                  <a:t>Eligible signal efficiency (%)</a:t>
                </a:r>
              </a:p>
            </c:rich>
          </c:tx>
          <c:overlay val="0"/>
          <c:txPr>
            <a:bodyPr xmlns:a="http://schemas.openxmlformats.org/drawingml/2006/main" anchorCtr="1"/>
            <a:lstStyle xmlns:a="http://schemas.openxmlformats.org/drawingml/2006/main"/>
            <a:p xmlns:a="http://schemas.openxmlformats.org/drawingml/2006/main">
              <a:pPr>
                <a:defRPr sz="825" b="1">
                  <a:solidFill>
                    <a:srgbClr val="111827"/>
                  </a:solidFill>
                </a:defRPr>
              </a:pPr>
            </a:p>
          </c:txPr>
        </c:title>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750">
                <a:solidFill>
                  <a:srgbClr val="64748B"/>
                </a:solidFill>
              </a:defRPr>
            </a:pPr>
          </a:p>
        </c:txPr>
        <c:crossAx val="48650112"/>
        <c:crosses val="autoZero"/>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111827"/>
              </a:solidFill>
            </a:defRPr>
          </a:pPr>
        </a:p>
      </c:txPr>
    </c:legend>
    <c:plotVisOnly val="1"/>
  </c:chart>
  <c:spPr>
    <a:noFill xmlns:a="http://schemas.openxmlformats.org/drawingml/2006/main"/>
    <a:ln xmlns:a="http://schemas.openxmlformats.org/drawingml/2006/main" w="0">
      <a:noFill/>
    </a:ln>
  </c:spPr>
</c:chartSpace>
</file>

<file path=ppt/slides/charts/chart3.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Value</c:v>
          </c:tx>
          <c:spPr>
            <a:solidFill xmlns:a="http://schemas.openxmlformats.org/drawingml/2006/main">
              <a:srgbClr val="3B82F6"/>
            </a:solidFill>
            <a:ln xmlns:a="http://schemas.openxmlformats.org/drawingml/2006/main" w="0">
              <a:solidFill>
                <a:srgbClr val="3B82F6"/>
              </a:solidFill>
            </a:ln>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750" b="1">
                    <a:solidFill>
                      <a:srgbClr val="111827"/>
                    </a:solidFill>
                  </a:defRPr>
                </a:pPr>
              </a:p>
            </c:txPr>
            <c:dLblPos val="outEnd"/>
            <c:showLegendKey val="0"/>
            <c:showVal val="1"/>
            <c:showCatName val="0"/>
            <c:showSerName val="0"/>
            <c:showPercent val="0"/>
            <c:showBubbleSize val="0"/>
            <c:showLeaderLines val="0"/>
          </c:dLbls>
          <c:cat>
            <c:strLit>
              <c:ptCount val="4"/>
              <c:pt idx="0">
                <c:v>Baseline</c:v>
              </c:pt>
              <c:pt idx="1">
                <c:v>Seed 42</c:v>
              </c:pt>
              <c:pt idx="2">
                <c:v>Seed 123</c:v>
              </c:pt>
              <c:pt idx="3">
                <c:v>Seed 456</c:v>
              </c:pt>
            </c:strLit>
          </c:cat>
          <c:val>
            <c:numLit>
              <c:formatCode>General</c:formatCode>
              <c:ptCount val="4"/>
              <c:pt idx="0">
                <c:v>60.2301</c:v>
              </c:pt>
              <c:pt idx="1">
                <c:v>56.6146</c:v>
              </c:pt>
              <c:pt idx="2">
                <c:v>57.5459</c:v>
              </c:pt>
              <c:pt idx="3">
                <c:v>56.9159</c:v>
              </c:pt>
            </c:numLit>
          </c:val>
        </c:ser>
        <c:dLbls>
          <c:dLblPos val="outEnd"/>
          <c:showLegendKey val="0"/>
          <c:showVal val="1"/>
          <c:showCatName val="0"/>
          <c:showSerName val="0"/>
          <c:showPercent val="0"/>
          <c:showBubbleSize val="0"/>
        </c:dLbls>
        <c:gapWidth val="52"/>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675">
                <a:solidFill>
                  <a:srgbClr val="111827"/>
                </a:solidFill>
              </a:defRPr>
            </a:pPr>
          </a:p>
        </c:txPr>
        <c:crossAx val="48672768"/>
        <c:crosses val="autoZero"/>
        <c:lblOffset val="100"/>
      </c:catAx>
      <c:valAx>
        <c:axId val="48672768"/>
        <c:scaling>
          <c:orientation val="minMax"/>
          <c:max val="70"/>
          <c:min val="0"/>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675">
                <a:solidFill>
                  <a:srgbClr val="64748B"/>
                </a:solidFill>
              </a:defRPr>
            </a:pPr>
          </a:p>
        </c:txPr>
        <c:crossAx val="48650112"/>
        <c:crosses val="autoZero"/>
        <c:crossBetween val="between"/>
        <c:majorUnit val="14"/>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4.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Value</c:v>
          </c:tx>
          <c:spPr>
            <a:solidFill xmlns:a="http://schemas.openxmlformats.org/drawingml/2006/main">
              <a:srgbClr val="3B82F6"/>
            </a:solidFill>
            <a:ln xmlns:a="http://schemas.openxmlformats.org/drawingml/2006/main" w="0">
              <a:solidFill>
                <a:srgbClr val="3B82F6"/>
              </a:solidFill>
            </a:ln>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750" b="1">
                    <a:solidFill>
                      <a:srgbClr val="111827"/>
                    </a:solidFill>
                  </a:defRPr>
                </a:pPr>
              </a:p>
            </c:txPr>
            <c:dLblPos val="outEnd"/>
            <c:showLegendKey val="0"/>
            <c:showVal val="1"/>
            <c:showCatName val="0"/>
            <c:showSerName val="0"/>
            <c:showPercent val="0"/>
            <c:showBubbleSize val="0"/>
            <c:showLeaderLines val="0"/>
          </c:dLbls>
          <c:cat>
            <c:strLit>
              <c:ptCount val="4"/>
              <c:pt idx="0">
                <c:v>Baseline</c:v>
              </c:pt>
              <c:pt idx="1">
                <c:v>Seed 42</c:v>
              </c:pt>
              <c:pt idx="2">
                <c:v>Seed 123</c:v>
              </c:pt>
              <c:pt idx="3">
                <c:v>Seed 456</c:v>
              </c:pt>
            </c:strLit>
          </c:cat>
          <c:val>
            <c:numLit>
              <c:formatCode>General</c:formatCode>
              <c:ptCount val="4"/>
              <c:pt idx="0">
                <c:v>34.3917</c:v>
              </c:pt>
              <c:pt idx="1">
                <c:v>32.1336</c:v>
              </c:pt>
              <c:pt idx="2">
                <c:v>32.7084</c:v>
              </c:pt>
              <c:pt idx="3">
                <c:v>32.2704</c:v>
              </c:pt>
            </c:numLit>
          </c:val>
        </c:ser>
        <c:dLbls>
          <c:dLblPos val="outEnd"/>
          <c:showLegendKey val="0"/>
          <c:showVal val="1"/>
          <c:showCatName val="0"/>
          <c:showSerName val="0"/>
          <c:showPercent val="0"/>
          <c:showBubbleSize val="0"/>
        </c:dLbls>
        <c:gapWidth val="52"/>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675">
                <a:solidFill>
                  <a:srgbClr val="111827"/>
                </a:solidFill>
              </a:defRPr>
            </a:pPr>
          </a:p>
        </c:txPr>
        <c:crossAx val="48672768"/>
        <c:crosses val="autoZero"/>
        <c:lblOffset val="100"/>
      </c:catAx>
      <c:valAx>
        <c:axId val="48672768"/>
        <c:scaling>
          <c:orientation val="minMax"/>
          <c:max val="45"/>
          <c:min val="0"/>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675">
                <a:solidFill>
                  <a:srgbClr val="64748B"/>
                </a:solidFill>
              </a:defRPr>
            </a:pPr>
          </a:p>
        </c:txPr>
        <c:crossAx val="48650112"/>
        <c:crosses val="autoZero"/>
        <c:crossBetween val="between"/>
        <c:majorUnit val="9"/>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5.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Value</c:v>
          </c:tx>
          <c:spPr>
            <a:solidFill xmlns:a="http://schemas.openxmlformats.org/drawingml/2006/main">
              <a:srgbClr val="3B82F6"/>
            </a:solidFill>
            <a:ln xmlns:a="http://schemas.openxmlformats.org/drawingml/2006/main" w="0">
              <a:solidFill>
                <a:srgbClr val="3B82F6"/>
              </a:solidFill>
            </a:ln>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750" b="1">
                    <a:solidFill>
                      <a:srgbClr val="111827"/>
                    </a:solidFill>
                  </a:defRPr>
                </a:pPr>
              </a:p>
            </c:txPr>
            <c:dLblPos val="outEnd"/>
            <c:showLegendKey val="0"/>
            <c:showVal val="1"/>
            <c:showCatName val="0"/>
            <c:showSerName val="0"/>
            <c:showPercent val="0"/>
            <c:showBubbleSize val="0"/>
            <c:showLeaderLines val="0"/>
          </c:dLbls>
          <c:cat>
            <c:strLit>
              <c:ptCount val="4"/>
              <c:pt idx="0">
                <c:v>Measured pT</c:v>
              </c:pt>
              <c:pt idx="1">
                <c:v>Pair geometry</c:v>
              </c:pt>
              <c:pt idx="2">
                <c:v>EM2 energy</c:v>
              </c:pt>
              <c:pt idx="3">
                <c:v>Shower shape</c:v>
              </c:pt>
            </c:strLit>
          </c:cat>
          <c:val>
            <c:numLit>
              <c:formatCode>General</c:formatCode>
              <c:ptCount val="4"/>
              <c:pt idx="0">
                <c:v>0.951</c:v>
              </c:pt>
              <c:pt idx="1">
                <c:v>0.9025</c:v>
              </c:pt>
              <c:pt idx="2">
                <c:v>0.898</c:v>
              </c:pt>
              <c:pt idx="3">
                <c:v>0.8196</c:v>
              </c:pt>
            </c:numLit>
          </c:val>
        </c:ser>
        <c:dLbls>
          <c:dLblPos val="outEnd"/>
          <c:showLegendKey val="0"/>
          <c:showVal val="1"/>
          <c:showCatName val="0"/>
          <c:showSerName val="0"/>
          <c:showPercent val="0"/>
          <c:showBubbleSize val="0"/>
        </c:dLbls>
        <c:gapWidth val="52"/>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675">
                <a:solidFill>
                  <a:srgbClr val="64748B"/>
                </a:solidFill>
              </a:defRPr>
            </a:pPr>
          </a:p>
        </c:txPr>
        <c:crossAx val="48672768"/>
        <c:crosses val="autoZero"/>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750">
                <a:solidFill>
                  <a:srgbClr val="111827"/>
                </a:solidFill>
              </a:defRPr>
            </a:pPr>
          </a:p>
        </c:txPr>
        <c:crossAx val="48650112"/>
        <c:crosses val="autoZero"/>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6.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Value</c:v>
          </c:tx>
          <c:spPr>
            <a:solidFill xmlns:a="http://schemas.openxmlformats.org/drawingml/2006/main">
              <a:srgbClr val="3B82F6"/>
            </a:solidFill>
            <a:ln xmlns:a="http://schemas.openxmlformats.org/drawingml/2006/main" w="0">
              <a:solidFill>
                <a:srgbClr val="3B82F6"/>
              </a:solidFill>
            </a:ln>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750" b="1">
                    <a:solidFill>
                      <a:srgbClr val="111827"/>
                    </a:solidFill>
                  </a:defRPr>
                </a:pPr>
              </a:p>
            </c:txPr>
            <c:dLblPos val="outEnd"/>
            <c:showLegendKey val="0"/>
            <c:showVal val="1"/>
            <c:showCatName val="0"/>
            <c:showSerName val="0"/>
            <c:showPercent val="0"/>
            <c:showBubbleSize val="0"/>
            <c:showLeaderLines val="0"/>
          </c:dLbls>
          <c:cat>
            <c:strLit>
              <c:ptCount val="4"/>
              <c:pt idx="0">
                <c:v>Baseline</c:v>
              </c:pt>
              <c:pt idx="1">
                <c:v>Raw cells + pT</c:v>
              </c:pt>
              <c:pt idx="2">
                <c:v>Normalized EM2 summaries + context</c:v>
              </c:pt>
              <c:pt idx="3">
                <c:v>Raw EM2 summaries + context</c:v>
              </c:pt>
            </c:strLit>
          </c:cat>
          <c:val>
            <c:numLit>
              <c:formatCode>General</c:formatCode>
              <c:ptCount val="4"/>
              <c:pt idx="0">
                <c:v>34.39</c:v>
              </c:pt>
              <c:pt idx="1">
                <c:v>40.94</c:v>
              </c:pt>
              <c:pt idx="2">
                <c:v>42.01</c:v>
              </c:pt>
              <c:pt idx="3">
                <c:v>42.46</c:v>
              </c:pt>
            </c:numLit>
          </c:val>
        </c:ser>
        <c:dLbls>
          <c:dLblPos val="outEnd"/>
          <c:showLegendKey val="0"/>
          <c:showVal val="1"/>
          <c:showCatName val="0"/>
          <c:showSerName val="0"/>
          <c:showPercent val="0"/>
          <c:showBubbleSize val="0"/>
        </c:dLbls>
        <c:gapWidth val="52"/>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675">
                <a:solidFill>
                  <a:srgbClr val="64748B"/>
                </a:solidFill>
              </a:defRPr>
            </a:pPr>
          </a:p>
        </c:txPr>
        <c:crossAx val="48672768"/>
        <c:crosses val="autoZero"/>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750">
                <a:solidFill>
                  <a:srgbClr val="111827"/>
                </a:solidFill>
              </a:defRPr>
            </a:pPr>
          </a:p>
        </c:txPr>
        <c:crossAx val="48650112"/>
        <c:crosses val="autoZero"/>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7.xml><?xml version="1.0" encoding="utf-8"?>
<c:chartSpace xmlns:c="http://schemas.openxmlformats.org/drawingml/2006/chart">
  <c:lang val="en-US"/>
  <c:chart>
    <c:plotArea>
      <c:barChart>
        <c:barDir val="bar"/>
        <c:grouping val="clustered"/>
        <c:varyColors val="0"/>
        <c:ser>
          <c:idx val="0"/>
          <c:order val="0"/>
          <c:tx>
            <c:v>Mean efficiency</c:v>
          </c:tx>
          <c:spPr>
            <a:solidFill xmlns:a="http://schemas.openxmlformats.org/drawingml/2006/main">
              <a:srgbClr val="3B82F6"/>
            </a:solidFill>
            <a:ln xmlns:a="http://schemas.openxmlformats.org/drawingml/2006/main" w="0">
              <a:solidFill>
                <a:srgbClr val="3B82F6"/>
              </a:solidFill>
            </a:ln>
          </c:spPr>
          <c:cat>
            <c:strLit>
              <c:ptCount val="4"/>
              <c:pt idx="0">
                <c:v>Baseline</c:v>
              </c:pt>
              <c:pt idx="1">
                <c:v>Compact EM2 + pT</c:v>
              </c:pt>
              <c:pt idx="2">
                <c:v>Raw cells</c:v>
              </c:pt>
              <c:pt idx="3">
                <c:v>Raw cells + pT</c:v>
              </c:pt>
            </c:strLit>
          </c:cat>
          <c:val>
            <c:numLit>
              <c:formatCode>General</c:formatCode>
              <c:ptCount val="4"/>
              <c:pt idx="0">
                <c:v>34.39</c:v>
              </c:pt>
              <c:pt idx="1">
                <c:v>40.26</c:v>
              </c:pt>
              <c:pt idx="2">
                <c:v>40.77</c:v>
              </c:pt>
              <c:pt idx="3">
                <c:v>40.85</c:v>
              </c:pt>
            </c:numLit>
          </c:val>
        </c:ser>
        <c:dLbls>
          <c:txPr>
            <a:bodyPr xmlns:a="http://schemas.openxmlformats.org/drawingml/2006/main" anchorCtr="1"/>
            <a:lstStyle xmlns:a="http://schemas.openxmlformats.org/drawingml/2006/main"/>
            <a:p xmlns:a="http://schemas.openxmlformats.org/drawingml/2006/main">
              <a:pPr>
                <a:defRPr sz="675" b="1">
                  <a:solidFill>
                    <a:srgbClr val="111827"/>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1D5DB"/>
              </a:solidFill>
              <a:prstDash val="solid"/>
            </a:ln>
          </c:spPr>
        </c:majorGridlines>
        <c:numFmt formatCode="0'%'"/>
        <c:majorTickMark val="none"/>
        <c:minorTickMark val="none"/>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675">
                <a:solidFill>
                  <a:srgbClr val="4B556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675">
                <a:solidFill>
                  <a:srgbClr val="111827"/>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8.xml><?xml version="1.0" encoding="utf-8"?>
<c:chartSpace xmlns:c="http://schemas.openxmlformats.org/drawingml/2006/chart">
  <c:lang val="en-US"/>
  <c:chart>
    <c:plotArea>
      <c:barChart>
        <c:barDir val="col"/>
        <c:grouping val="clustered"/>
        <c:varyColors val="0"/>
        <c:ser>
          <c:idx val="0"/>
          <c:order val="0"/>
          <c:tx>
            <c:v>Raw cells</c:v>
          </c:tx>
          <c:spPr>
            <a:solidFill xmlns:a="http://schemas.openxmlformats.org/drawingml/2006/main">
              <a:srgbClr val="2563EB"/>
            </a:solidFill>
            <a:ln xmlns:a="http://schemas.openxmlformats.org/drawingml/2006/main" w="0">
              <a:solidFill>
                <a:srgbClr val="2563EB"/>
              </a:solidFill>
            </a:ln>
          </c:spPr>
          <c:invertIfNegative val="0"/>
          <c:cat>
            <c:strLit>
              <c:ptCount val="3"/>
              <c:pt idx="0">
                <c:v>10 to 25 GeV</c:v>
              </c:pt>
              <c:pt idx="1">
                <c:v>25 to 60 GeV</c:v>
              </c:pt>
              <c:pt idx="2">
                <c:v>60 GeV and above</c:v>
              </c:pt>
            </c:strLit>
          </c:cat>
          <c:val>
            <c:numLit>
              <c:formatCode>+0;-0;0</c:formatCode>
              <c:ptCount val="3"/>
              <c:pt idx="0">
                <c:v>15.73</c:v>
              </c:pt>
              <c:pt idx="1">
                <c:v>18.51</c:v>
              </c:pt>
              <c:pt idx="2">
                <c:v>-3.28</c:v>
              </c:pt>
            </c:numLit>
          </c:val>
        </c:ser>
        <c:ser>
          <c:idx val="1"/>
          <c:order val="1"/>
          <c:tx>
            <c:v>Raw cells + pT</c:v>
          </c:tx>
          <c:spPr>
            <a:solidFill xmlns:a="http://schemas.openxmlformats.org/drawingml/2006/main">
              <a:srgbClr val="0F7F91"/>
            </a:solidFill>
            <a:ln xmlns:a="http://schemas.openxmlformats.org/drawingml/2006/main" w="0">
              <a:solidFill>
                <a:srgbClr val="0F7F91"/>
              </a:solidFill>
            </a:ln>
          </c:spPr>
          <c:invertIfNegative val="0"/>
          <c:cat>
            <c:strLit>
              <c:ptCount val="3"/>
              <c:pt idx="0">
                <c:v>10 to 25 GeV</c:v>
              </c:pt>
              <c:pt idx="1">
                <c:v>25 to 60 GeV</c:v>
              </c:pt>
              <c:pt idx="2">
                <c:v>60 GeV and above</c:v>
              </c:pt>
            </c:strLit>
          </c:cat>
          <c:val>
            <c:numLit>
              <c:formatCode>+0;-0;0</c:formatCode>
              <c:ptCount val="3"/>
              <c:pt idx="0">
                <c:v>15.82</c:v>
              </c:pt>
              <c:pt idx="1">
                <c:v>17.82</c:v>
              </c:pt>
              <c:pt idx="2">
                <c:v>-2.77</c:v>
              </c:pt>
            </c:numLit>
          </c:val>
        </c:ser>
        <c:ser>
          <c:idx val="2"/>
          <c:order val="2"/>
          <c:tx>
            <c:v>Compact EM2 + pT</c:v>
          </c:tx>
          <c:spPr>
            <a:solidFill xmlns:a="http://schemas.openxmlformats.org/drawingml/2006/main">
              <a:srgbClr val="94A3B8"/>
            </a:solidFill>
            <a:ln xmlns:a="http://schemas.openxmlformats.org/drawingml/2006/main" w="0">
              <a:solidFill>
                <a:srgbClr val="94A3B8"/>
              </a:solidFill>
            </a:ln>
          </c:spPr>
          <c:invertIfNegative val="0"/>
          <c:cat>
            <c:strLit>
              <c:ptCount val="3"/>
              <c:pt idx="0">
                <c:v>10 to 25 GeV</c:v>
              </c:pt>
              <c:pt idx="1">
                <c:v>25 to 60 GeV</c:v>
              </c:pt>
              <c:pt idx="2">
                <c:v>60 GeV and above</c:v>
              </c:pt>
            </c:strLit>
          </c:cat>
          <c:val>
            <c:numLit>
              <c:formatCode>+0;-0;0</c:formatCode>
              <c:ptCount val="3"/>
              <c:pt idx="0">
                <c:v>14.27</c:v>
              </c:pt>
              <c:pt idx="1">
                <c:v>16.14</c:v>
              </c:pt>
              <c:pt idx="2">
                <c:v>-2.21</c:v>
              </c:pt>
            </c:numLit>
          </c:val>
        </c:ser>
        <c:dLbls>
          <c:txPr>
            <a:bodyPr xmlns:a="http://schemas.openxmlformats.org/drawingml/2006/main" anchorCtr="1"/>
            <a:lstStyle xmlns:a="http://schemas.openxmlformats.org/drawingml/2006/main"/>
            <a:p xmlns:a="http://schemas.openxmlformats.org/drawingml/2006/main">
              <a:pPr>
                <a:defRPr sz="600" b="1">
                  <a:solidFill>
                    <a:srgbClr val="111827"/>
                  </a:solidFill>
                </a:defRPr>
              </a:pPr>
            </a:p>
          </c:txPr>
          <c:dLblPos val="outEnd"/>
          <c:showLegendKey val="0"/>
          <c:showVal val="1"/>
          <c:showCatName val="0"/>
          <c:showSerName val="0"/>
          <c:showPercent val="0"/>
          <c:showBubbleSize val="0"/>
          <c:showLeaderLines val="0"/>
        </c:dLbls>
        <c:gapWidth val="7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675">
                <a:solidFill>
                  <a:srgbClr val="111827"/>
                </a:solidFill>
              </a:defRPr>
            </a:pPr>
          </a:p>
        </c:txPr>
        <c:crossAx val="48672768"/>
      </c:catAx>
      <c:valAx>
        <c:axId val="48672768"/>
        <c:scaling>
          <c:orientation val="minMax"/>
          <c:max val="22"/>
          <c:min val="-5"/>
        </c:scaling>
        <c:delete val="0"/>
        <c:axPos val="l"/>
        <c:majorGridlines>
          <c:spPr>
            <a:ln xmlns:a="http://schemas.openxmlformats.org/drawingml/2006/main" w="9525">
              <a:solidFill>
                <a:srgbClr val="D1D5DB"/>
              </a:solidFill>
              <a:prstDash val="solid"/>
            </a:ln>
          </c:spPr>
        </c:majorGridlines>
        <c:title>
          <c:tx>
            <c:rich>
              <a:bodyPr xmlns:a="http://schemas.openxmlformats.org/drawingml/2006/main"/>
              <a:lstStyle xmlns:a="http://schemas.openxmlformats.org/drawingml/2006/main"/>
              <a:p xmlns:a="http://schemas.openxmlformats.org/drawingml/2006/main">
                <a:r>
                  <a:rPr sz="675" b="1">
                    <a:solidFill>
                      <a:srgbClr val="374151"/>
                    </a:solidFill>
                  </a:rPr>
                  <a:t>Candidate minus baseline (percentage points)</a:t>
                </a:r>
              </a:p>
            </c:rich>
          </c:tx>
          <c:overlay val="0"/>
          <c:txPr>
            <a:bodyPr xmlns:a="http://schemas.openxmlformats.org/drawingml/2006/main" anchorCtr="1"/>
            <a:lstStyle xmlns:a="http://schemas.openxmlformats.org/drawingml/2006/main"/>
            <a:p xmlns:a="http://schemas.openxmlformats.org/drawingml/2006/main">
              <a:pPr>
                <a:defRPr sz="675" b="1">
                  <a:solidFill>
                    <a:srgbClr val="374151"/>
                  </a:solidFill>
                </a:defRPr>
              </a:pPr>
            </a:p>
          </c:txPr>
        </c:title>
        <c:numFmt formatCode="+0;-0;0"/>
        <c:majorTickMark val="none"/>
        <c:minorTickMark val="none"/>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600">
                <a:solidFill>
                  <a:srgbClr val="4B5563"/>
                </a:solidFill>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675">
              <a:solidFill>
                <a:srgbClr val="374151"/>
              </a:solidFill>
            </a:defRPr>
          </a:pPr>
        </a:p>
      </c:txPr>
    </c:legend>
    <c:plotVisOnly val="1"/>
  </c:chart>
  <c:spPr>
    <a:noFill xmlns:a="http://schemas.openxmlformats.org/drawingml/2006/main"/>
    <a:ln xmlns:a="http://schemas.openxmlformats.org/drawingml/2006/main" w="0">
      <a:noFill/>
    </a:ln>
  </c:spPr>
</c:chartSpace>
</file>

<file path=ppt/slides/charts/chart9.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Value</c:v>
          </c:tx>
          <c:spPr>
            <a:solidFill xmlns:a="http://schemas.openxmlformats.org/drawingml/2006/main">
              <a:srgbClr val="0E7490"/>
            </a:solidFill>
            <a:ln xmlns:a="http://schemas.openxmlformats.org/drawingml/2006/main" w="0">
              <a:solidFill>
                <a:srgbClr val="0E7490"/>
              </a:solidFill>
            </a:ln>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750" b="1">
                    <a:solidFill>
                      <a:srgbClr val="111827"/>
                    </a:solidFill>
                  </a:defRPr>
                </a:pPr>
              </a:p>
            </c:txPr>
            <c:dLblPos val="outEnd"/>
            <c:showLegendKey val="0"/>
            <c:showVal val="1"/>
            <c:showCatName val="0"/>
            <c:showSerName val="0"/>
            <c:showPercent val="0"/>
            <c:showBubbleSize val="0"/>
            <c:showLeaderLines val="0"/>
          </c:dLbls>
          <c:cat>
            <c:strLit>
              <c:ptCount val="4"/>
              <c:pt idx="0">
                <c:v>Member pT only</c:v>
              </c:pt>
              <c:pt idx="1">
                <c:v>pT + event context</c:v>
              </c:pt>
              <c:pt idx="2">
                <c:v>pT + shower summaries</c:v>
              </c:pt>
              <c:pt idx="3">
                <c:v>pT + shower + context</c:v>
              </c:pt>
            </c:strLit>
          </c:cat>
          <c:val>
            <c:numLit>
              <c:formatCode>General</c:formatCode>
              <c:ptCount val="4"/>
              <c:pt idx="0">
                <c:v>33.08</c:v>
              </c:pt>
              <c:pt idx="1">
                <c:v>36.48</c:v>
              </c:pt>
              <c:pt idx="2">
                <c:v>37.34</c:v>
              </c:pt>
              <c:pt idx="3">
                <c:v>42.46</c:v>
              </c:pt>
            </c:numLit>
          </c:val>
        </c:ser>
        <c:dLbls>
          <c:dLblPos val="outEnd"/>
          <c:showLegendKey val="0"/>
          <c:showVal val="1"/>
          <c:showCatName val="0"/>
          <c:showSerName val="0"/>
          <c:showPercent val="0"/>
          <c:showBubbleSize val="0"/>
        </c:dLbls>
        <c:gapWidth val="52"/>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675">
                <a:solidFill>
                  <a:srgbClr val="64748B"/>
                </a:solidFill>
              </a:defRPr>
            </a:pPr>
          </a:p>
        </c:txPr>
        <c:crossAx val="48672768"/>
        <c:crosses val="autoZero"/>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750">
                <a:solidFill>
                  <a:srgbClr val="111827"/>
                </a:solidFill>
              </a:defRPr>
            </a:pPr>
          </a:p>
        </c:txPr>
        <c:crossAx val="48650112"/>
        <c:crosses val="autoZero"/>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10.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Baseline</c:v>
          </c:tx>
          <c:spPr>
            <a:solidFill xmlns:a="http://schemas.openxmlformats.org/drawingml/2006/main">
              <a:srgbClr val="64748B"/>
            </a:solidFill>
            <a:ln xmlns:a="http://schemas.openxmlformats.org/drawingml/2006/main" w="0">
              <a:solidFill>
                <a:srgbClr val="64748B"/>
              </a:solidFill>
            </a:ln>
          </c:spPr>
          <c:cat>
            <c:strLit>
              <c:ptCount val="3"/>
              <c:pt idx="0">
                <c:v>10 to 25 GeV</c:v>
              </c:pt>
              <c:pt idx="1">
                <c:v>25 to 60 GeV</c:v>
              </c:pt>
              <c:pt idx="2">
                <c:v>60 GeV and above</c:v>
              </c:pt>
            </c:strLit>
          </c:cat>
          <c:val>
            <c:numLit>
              <c:formatCode>0"%"</c:formatCode>
              <c:ptCount val="3"/>
              <c:pt idx="0">
                <c:v>9.4891</c:v>
              </c:pt>
              <c:pt idx="1">
                <c:v>55.6078</c:v>
              </c:pt>
              <c:pt idx="2">
                <c:v>98.5518</c:v>
              </c:pt>
            </c:numLit>
          </c:val>
        </c:ser>
        <c:ser>
          <c:idx val="1"/>
          <c:order val="1"/>
          <c:tx>
            <c:v>High-resolution pair model</c:v>
          </c:tx>
          <c:spPr>
            <a:solidFill xmlns:a="http://schemas.openxmlformats.org/drawingml/2006/main">
              <a:srgbClr val="3B82F6"/>
            </a:solidFill>
            <a:ln xmlns:a="http://schemas.openxmlformats.org/drawingml/2006/main" w="0">
              <a:solidFill>
                <a:srgbClr val="3B82F6"/>
              </a:solidFill>
            </a:ln>
          </c:spPr>
          <c:cat>
            <c:strLit>
              <c:ptCount val="3"/>
              <c:pt idx="0">
                <c:v>10 to 25 GeV</c:v>
              </c:pt>
              <c:pt idx="1">
                <c:v>25 to 60 GeV</c:v>
              </c:pt>
              <c:pt idx="2">
                <c:v>60 GeV and above</c:v>
              </c:pt>
            </c:strLit>
          </c:cat>
          <c:val>
            <c:numLit>
              <c:formatCode>0"%"</c:formatCode>
              <c:ptCount val="3"/>
              <c:pt idx="0">
                <c:v>31.5085</c:v>
              </c:pt>
              <c:pt idx="1">
                <c:v>76.6286</c:v>
              </c:pt>
              <c:pt idx="2">
                <c:v>95.9858</c:v>
              </c:pt>
            </c:numLit>
          </c:val>
        </c:ser>
        <c:dLbls>
          <c:showLegendKey val="0"/>
          <c:showVal val="0"/>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825">
                <a:solidFill>
                  <a:srgbClr val="111827"/>
                </a:solidFill>
              </a:defRPr>
            </a:pPr>
          </a:p>
        </c:txPr>
        <c:crossAx val="48672768"/>
        <c:crosses val="autoZero"/>
        <c:lblOffset val="100"/>
      </c:catAx>
      <c:valAx>
        <c:axId val="48672768"/>
        <c:scaling>
          <c:orientation val="minMax"/>
          <c:max val="105"/>
          <c:min val="0"/>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111827"/>
                    </a:solidFill>
                  </a:rPr>
                  <a:t>Conditional event efficiency</a:t>
                </a:r>
              </a:p>
            </c:rich>
          </c:tx>
          <c:overlay val="0"/>
          <c:txPr>
            <a:bodyPr xmlns:a="http://schemas.openxmlformats.org/drawingml/2006/main" anchorCtr="1"/>
            <a:lstStyle xmlns:a="http://schemas.openxmlformats.org/drawingml/2006/main"/>
            <a:p xmlns:a="http://schemas.openxmlformats.org/drawingml/2006/main">
              <a:pPr>
                <a:defRPr sz="825" b="1">
                  <a:solidFill>
                    <a:srgbClr val="111827"/>
                  </a:solidFill>
                </a:defRPr>
              </a:pPr>
            </a:p>
          </c:txPr>
        </c:title>
        <c:numFmt formatCode="0&quot;%&quot;"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750">
                <a:solidFill>
                  <a:srgbClr val="64748B"/>
                </a:solidFill>
              </a:defRPr>
            </a:pPr>
          </a:p>
        </c:txPr>
        <c:crossAx val="48650112"/>
        <c:crosses val="autoZero"/>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111827"/>
              </a:solidFill>
            </a:defRPr>
          </a:pPr>
        </a:p>
      </c:txPr>
    </c:legend>
    <c:plotVisOnly val="1"/>
  </c:chart>
  <c:spPr>
    <a:noFill xmlns:a="http://schemas.openxmlformats.org/drawingml/2006/main"/>
    <a:ln xmlns:a="http://schemas.openxmlformats.org/drawingml/2006/main" w="0">
      <a:noFill/>
    </a:ln>
  </c:spPr>
</c:chartSpace>
</file>

<file path=ppt/slides/charts/chart11.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Mean high-energy change from baseline</c:v>
          </c:tx>
          <c:spPr>
            <a:solidFill xmlns:a="http://schemas.openxmlformats.org/drawingml/2006/main">
              <a:srgbClr val="3B82F6"/>
            </a:solidFill>
            <a:ln xmlns:a="http://schemas.openxmlformats.org/drawingml/2006/main" w="0">
              <a:solidFill>
                <a:srgbClr val="3B82F6"/>
              </a:solidFill>
            </a:ln>
          </c:spPr>
          <c:invertIfNegative val="0"/>
          <c:cat>
            <c:strLit>
              <c:ptCount val="4"/>
              <c:pt idx="0">
                <c:v>High-res</c:v>
              </c:pt>
              <c:pt idx="1">
                <c:v>Inverse-frequency</c:v>
              </c:pt>
              <c:pt idx="2">
                <c:v>Power p = -1</c:v>
              </c:pt>
              <c:pt idx="3">
                <c:v>Raw cells + pT OR</c:v>
              </c:pt>
            </c:strLit>
          </c:cat>
          <c:val>
            <c:numLit>
              <c:formatCode>0.0</c:formatCode>
              <c:ptCount val="4"/>
              <c:pt idx="0">
                <c:v>-2.566</c:v>
              </c:pt>
              <c:pt idx="1">
                <c:v>-0.889</c:v>
              </c:pt>
              <c:pt idx="2">
                <c:v>-0.686</c:v>
              </c:pt>
              <c:pt idx="3">
                <c:v>0.305</c:v>
              </c:pt>
            </c:numLit>
          </c:val>
        </c:ser>
        <c:dLbls>
          <c:showLegendKey val="0"/>
          <c:showVal val="0"/>
          <c:showCatName val="0"/>
          <c:showSerName val="0"/>
          <c:showPercent val="0"/>
          <c:showBubbleSize val="0"/>
        </c:dLbls>
        <c:gapWidth val="58"/>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750">
                <a:solidFill>
                  <a:srgbClr val="111827"/>
                </a:solidFill>
              </a:defRPr>
            </a:pPr>
          </a:p>
        </c:txPr>
        <c:crossAx val="48672768"/>
        <c:crosses val="autoZero"/>
        <c:lblOffset val="100"/>
      </c:catAx>
      <c:valAx>
        <c:axId val="48672768"/>
        <c:scaling>
          <c:orientation val="minMax"/>
          <c:max val="1"/>
          <c:min val="-3"/>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111827"/>
                    </a:solidFill>
                  </a:rPr>
                  <a:t>Mean change from baseline, points</a:t>
                </a:r>
              </a:p>
            </c:rich>
          </c:tx>
          <c:overlay val="0"/>
          <c:txPr>
            <a:bodyPr xmlns:a="http://schemas.openxmlformats.org/drawingml/2006/main" anchorCtr="1"/>
            <a:lstStyle xmlns:a="http://schemas.openxmlformats.org/drawingml/2006/main"/>
            <a:p xmlns:a="http://schemas.openxmlformats.org/drawingml/2006/main">
              <a:pPr>
                <a:defRPr sz="825" b="1">
                  <a:solidFill>
                    <a:srgbClr val="111827"/>
                  </a:solidFill>
                </a:defRPr>
              </a:pPr>
            </a:p>
          </c:txPr>
        </c:title>
        <c:numFmt formatCode="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750">
                <a:solidFill>
                  <a:srgbClr val="64748B"/>
                </a:solidFill>
              </a:defRPr>
            </a:pPr>
          </a:p>
        </c:txPr>
        <c:crossAx val="48650112"/>
        <c:crosses val="autoZero"/>
        <c:crossBetween val="between"/>
        <c:majorUnit val="1"/>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12.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Efficiency</c:v>
          </c:tx>
          <c:spPr>
            <a:solidFill xmlns:a="http://schemas.openxmlformats.org/drawingml/2006/main">
              <a:srgbClr val="6EA6D8"/>
            </a:solidFill>
            <a:ln xmlns:a="http://schemas.openxmlformats.org/drawingml/2006/main" w="0">
              <a:solidFill>
                <a:srgbClr val="6EA6D8"/>
              </a:solidFill>
            </a:ln>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600" b="1">
                    <a:solidFill>
                      <a:srgbClr val="111827"/>
                    </a:solidFill>
                  </a:defRPr>
                </a:pPr>
              </a:p>
            </c:txPr>
            <c:dLblPos val="outEnd"/>
            <c:showLegendKey val="0"/>
            <c:showVal val="1"/>
            <c:showCatName val="0"/>
            <c:showSerName val="0"/>
            <c:showPercent val="0"/>
            <c:showBubbleSize val="0"/>
            <c:showLeaderLines val="0"/>
          </c:dLbls>
          <c:cat>
            <c:strLit>
              <c:ptCount val="9"/>
              <c:pt idx="0">
                <c:v>Deterministic baseline</c:v>
              </c:pt>
              <c:pt idx="1">
                <c:v>Total event pT</c:v>
              </c:pt>
              <c:pt idx="2">
                <c:v>Top-four pT spread</c:v>
              </c:pt>
              <c:pt idx="3">
                <c:v>Total pT outside pair</c:v>
              </c:pt>
              <c:pt idx="4">
                <c:v>Highest pT outside pair</c:v>
              </c:pt>
              <c:pt idx="5">
                <c:v>Pair fraction of event pT</c:v>
              </c:pt>
              <c:pt idx="6">
                <c:v>Top-four pT concentration</c:v>
              </c:pt>
              <c:pt idx="7">
                <c:v>Pair sum and balance</c:v>
              </c:pt>
              <c:pt idx="8">
                <c:v>Current pT context</c:v>
              </c:pt>
            </c:strLit>
          </c:cat>
          <c:val>
            <c:numLit>
              <c:formatCode>General</c:formatCode>
              <c:ptCount val="9"/>
              <c:pt idx="0">
                <c:v>34.392</c:v>
              </c:pt>
              <c:pt idx="1">
                <c:v>42.224</c:v>
              </c:pt>
              <c:pt idx="2">
                <c:v>42.594</c:v>
              </c:pt>
              <c:pt idx="3">
                <c:v>43.228</c:v>
              </c:pt>
              <c:pt idx="4">
                <c:v>43.246</c:v>
              </c:pt>
              <c:pt idx="5">
                <c:v>43.388</c:v>
              </c:pt>
              <c:pt idx="6">
                <c:v>43.894</c:v>
              </c:pt>
              <c:pt idx="7">
                <c:v>44.519</c:v>
              </c:pt>
              <c:pt idx="8">
                <c:v>44.756</c:v>
              </c:pt>
            </c:numLit>
          </c:val>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xmlns:a="http://schemas.openxmlformats.org/drawingml/2006/main" w="9525">
              <a:solidFill>
                <a:srgbClr val="D1D5DB"/>
              </a:solidFill>
              <a:prstDash val="solid"/>
            </a:ln>
          </c:spPr>
        </c:majorGridlines>
        <c:title>
          <c:tx>
            <c:rich>
              <a:bodyPr xmlns:a="http://schemas.openxmlformats.org/drawingml/2006/main"/>
              <a:lstStyle xmlns:a="http://schemas.openxmlformats.org/drawingml/2006/main"/>
              <a:p xmlns:a="http://schemas.openxmlformats.org/drawingml/2006/main">
                <a:r>
                  <a:rPr sz="750" b="1">
                    <a:solidFill>
                      <a:srgbClr val="374151"/>
                    </a:solidFill>
                  </a:rPr>
                  <a:t>Zoomed efficiency scale (%)</a:t>
                </a:r>
              </a:p>
            </c:rich>
          </c:tx>
          <c:overlay val="0"/>
          <c:txPr>
            <a:bodyPr xmlns:a="http://schemas.openxmlformats.org/drawingml/2006/main" anchorCtr="1"/>
            <a:lstStyle xmlns:a="http://schemas.openxmlformats.org/drawingml/2006/main"/>
            <a:p xmlns:a="http://schemas.openxmlformats.org/drawingml/2006/main">
              <a:pPr>
                <a:defRPr sz="750" b="1">
                  <a:solidFill>
                    <a:srgbClr val="374151"/>
                  </a:solidFill>
                </a:defRPr>
              </a:pPr>
            </a:p>
          </c:txPr>
        </c:title>
        <c:numFmt formatCode="General" sourceLinked="1"/>
        <c:majorTickMark val="none"/>
        <c:minorTickMark val="none"/>
        <c:tickLblPos val="nextTo"/>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675">
                <a:solidFill>
                  <a:srgbClr val="4B5563"/>
                </a:solidFill>
              </a:defRPr>
            </a:pPr>
          </a:p>
        </c:txPr>
        <c:crossAx val="48672768"/>
        <c:crosses val="autoZero"/>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600">
                <a:solidFill>
                  <a:srgbClr val="111827"/>
                </a:solidFill>
              </a:defRPr>
            </a:pPr>
          </a:p>
        </c:txPr>
        <c:crossAx val="48650112"/>
        <c:crosses val="autoZero"/>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13.xml><?xml version="1.0" encoding="utf-8"?>
<c:chartSpace xmlns:c="http://schemas.openxmlformats.org/drawingml/2006/chart">
  <c:lang val="en-US"/>
  <c:chart>
    <c:plotArea>
      <c:barChart>
        <c:barDir val="bar"/>
        <c:grouping val="clustered"/>
        <c:varyColors val="0"/>
        <c:ser>
          <c:idx val="0"/>
          <c:order val="0"/>
          <c:tx>
            <c:v>Mean efficiency</c:v>
          </c:tx>
          <c:spPr>
            <a:solidFill xmlns:a="http://schemas.openxmlformats.org/drawingml/2006/main">
              <a:srgbClr val="2563EB"/>
            </a:solidFill>
            <a:ln xmlns:a="http://schemas.openxmlformats.org/drawingml/2006/main" w="0">
              <a:solidFill>
                <a:srgbClr val="2563EB"/>
              </a:solidFill>
            </a:ln>
          </c:spPr>
          <c:cat>
            <c:strLit>
              <c:ptCount val="3"/>
              <c:pt idx="0">
                <c:v>Baseline</c:v>
              </c:pt>
              <c:pt idx="1">
                <c:v>Extra shower width</c:v>
              </c:pt>
              <c:pt idx="2">
                <c:v>Current leader</c:v>
              </c:pt>
            </c:strLit>
          </c:cat>
          <c:val>
            <c:numLit>
              <c:formatCode>General</c:formatCode>
              <c:ptCount val="3"/>
              <c:pt idx="0">
                <c:v>34.39</c:v>
              </c:pt>
              <c:pt idx="1">
                <c:v>43.73</c:v>
              </c:pt>
              <c:pt idx="2">
                <c:v>44.57</c:v>
              </c:pt>
            </c:numLit>
          </c:val>
        </c:ser>
        <c:dLbls>
          <c:txPr>
            <a:bodyPr xmlns:a="http://schemas.openxmlformats.org/drawingml/2006/main" anchorCtr="1"/>
            <a:lstStyle xmlns:a="http://schemas.openxmlformats.org/drawingml/2006/main"/>
            <a:p xmlns:a="http://schemas.openxmlformats.org/drawingml/2006/main">
              <a:pPr>
                <a:defRPr sz="750" b="1">
                  <a:solidFill>
                    <a:srgbClr val="111827"/>
                  </a:solidFil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1D5DB"/>
              </a:solidFill>
              <a:prstDash val="solid"/>
            </a:ln>
          </c:spPr>
        </c:majorGridlines>
        <c:numFmt formatCode="0'%'"/>
        <c:majorTickMark val="none"/>
        <c:minorTickMark val="none"/>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675">
                <a:solidFill>
                  <a:srgbClr val="4B556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750">
                <a:solidFill>
                  <a:srgbClr val="111827"/>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14.xml><?xml version="1.0" encoding="utf-8"?>
<c:chartSpace xmlns:c="http://schemas.openxmlformats.org/drawingml/2006/chart">
  <c:lang val="en-US"/>
  <c:chart>
    <c:plotArea>
      <c:barChart>
        <c:barDir val="col"/>
        <c:grouping val="clustered"/>
        <c:varyColors val="0"/>
        <c:ser>
          <c:idx val="0"/>
          <c:order val="0"/>
          <c:tx>
            <c:v>Versus baseline</c:v>
          </c:tx>
          <c:spPr>
            <a:solidFill xmlns:a="http://schemas.openxmlformats.org/drawingml/2006/main">
              <a:srgbClr val="2563EB"/>
            </a:solidFill>
            <a:ln xmlns:a="http://schemas.openxmlformats.org/drawingml/2006/main" w="0">
              <a:solidFill>
                <a:srgbClr val="2563EB"/>
              </a:solidFill>
            </a:ln>
          </c:spPr>
          <c:cat>
            <c:strLit>
              <c:ptCount val="3"/>
              <c:pt idx="0">
                <c:v>Low
10–25 GeV</c:v>
              </c:pt>
              <c:pt idx="1">
                <c:v>Medium
25–60 GeV</c:v>
              </c:pt>
              <c:pt idx="2">
                <c:v>High
60+ GeV</c:v>
              </c:pt>
            </c:strLit>
          </c:cat>
          <c:val>
            <c:numLit>
              <c:formatCode>+0;-0;0</c:formatCode>
              <c:ptCount val="3"/>
              <c:pt idx="0">
                <c:v>16.67</c:v>
              </c:pt>
              <c:pt idx="1">
                <c:v>22.1</c:v>
              </c:pt>
              <c:pt idx="2">
                <c:v>0.71</c:v>
              </c:pt>
            </c:numLit>
          </c:val>
        </c:ser>
        <c:ser>
          <c:idx val="1"/>
          <c:order val="1"/>
          <c:tx>
            <c:v>Versus current leader</c:v>
          </c:tx>
          <c:spPr>
            <a:solidFill xmlns:a="http://schemas.openxmlformats.org/drawingml/2006/main">
              <a:srgbClr val="0F7F91"/>
            </a:solidFill>
            <a:ln xmlns:a="http://schemas.openxmlformats.org/drawingml/2006/main" w="0">
              <a:solidFill>
                <a:srgbClr val="0F7F91"/>
              </a:solidFill>
            </a:ln>
          </c:spPr>
          <c:invertIfNegative val="0"/>
          <c:cat>
            <c:strLit>
              <c:ptCount val="3"/>
              <c:pt idx="0">
                <c:v>Low
10–25 GeV</c:v>
              </c:pt>
              <c:pt idx="1">
                <c:v>Medium
25–60 GeV</c:v>
              </c:pt>
              <c:pt idx="2">
                <c:v>High
60+ GeV</c:v>
              </c:pt>
            </c:strLit>
          </c:cat>
          <c:val>
            <c:numLit>
              <c:formatCode>+0;-0;0</c:formatCode>
              <c:ptCount val="3"/>
              <c:pt idx="0">
                <c:v>-1.7</c:v>
              </c:pt>
              <c:pt idx="1">
                <c:v>-0.9</c:v>
              </c:pt>
              <c:pt idx="2">
                <c:v>0.05</c:v>
              </c:pt>
            </c:numLit>
          </c:val>
        </c:ser>
        <c:dLbls>
          <c:txPr>
            <a:bodyPr xmlns:a="http://schemas.openxmlformats.org/drawingml/2006/main" anchorCtr="1"/>
            <a:lstStyle xmlns:a="http://schemas.openxmlformats.org/drawingml/2006/main"/>
            <a:p xmlns:a="http://schemas.openxmlformats.org/drawingml/2006/main">
              <a:pPr>
                <a:defRPr sz="675" b="1">
                  <a:solidFill>
                    <a:srgbClr val="111827"/>
                  </a:solidFill>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675">
                <a:solidFill>
                  <a:srgbClr val="111827"/>
                </a:solidFill>
              </a:defRPr>
            </a:pPr>
          </a:p>
        </c:txPr>
        <c:crossAx val="48672768"/>
      </c:catAx>
      <c:valAx>
        <c:axId val="48672768"/>
        <c:scaling>
          <c:orientation val="minMax"/>
          <c:max val="25"/>
          <c:min val="-5"/>
        </c:scaling>
        <c:delete val="0"/>
        <c:axPos val="l"/>
        <c:majorGridlines>
          <c:spPr>
            <a:ln xmlns:a="http://schemas.openxmlformats.org/drawingml/2006/main" w="9525">
              <a:solidFill>
                <a:srgbClr val="D1D5DB"/>
              </a:solidFill>
              <a:prstDash val="solid"/>
            </a:ln>
          </c:spPr>
        </c:majorGridlines>
        <c:numFmt formatCode="+0;-0;0"/>
        <c:majorTickMark val="none"/>
        <c:minorTickMark val="none"/>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600">
                <a:solidFill>
                  <a:srgbClr val="4B5563"/>
                </a:solidFill>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675">
              <a:solidFill>
                <a:srgbClr val="374151"/>
              </a:solidFill>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tatus-1">
            <a:extLst xmlns:a="http://schemas.openxmlformats.org/drawingml/2006/main">
              <a:ext uri="{FF2B5EF4-FFF2-40B4-BE49-F238E27FC236}">
                <a16:creationId xmlns:a16="http://schemas.microsoft.com/office/drawing/2014/main" id="{83D79641-4653-4ED1-BF53-DBDABC22D91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15803D"/>
                </a:solidFill>
                <a:latin typeface="Aptos"/>
                <a:ea typeface="Aptos"/>
                <a:cs typeface="Aptos"/>
              </a:defRPr>
            </a:pPr>
            <a:r>
              <a:rPr sz="1125" b="1">
                <a:solidFill>
                  <a:srgbClr val="15803D"/>
                </a:solidFill>
                <a:latin typeface="Aptos"/>
                <a:ea typeface="Aptos"/>
                <a:cs typeface="Aptos"/>
              </a:rPr>
              <a:t>PAIR-BASED TAU TRIGGER RESEARCH</a:t>
            </a:r>
          </a:p>
        </p:txBody>
      </p:sp>
      <p:sp>
        <p:nvSpPr>
          <p:cNvPr id="2" name="title-1">
            <a:extLst xmlns:a="http://schemas.openxmlformats.org/drawingml/2006/main">
              <a:ext uri="{FF2B5EF4-FFF2-40B4-BE49-F238E27FC236}">
                <a16:creationId xmlns:a16="http://schemas.microsoft.com/office/drawing/2014/main" id="{A532E5C9-880B-4189-8DA3-41D353C93EA7}"/>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495"/>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From single-TOB scoring to pair-based event decisions</a:t>
            </a:r>
          </a:p>
        </p:txBody>
      </p:sp>
      <p:cxnSp>
        <p:nvCxnSpPr>
          <p:cNvPr id="135" name="header-rule-1"/>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
            <a:extLst xmlns:a="http://schemas.openxmlformats.org/drawingml/2006/main">
              <a:ext uri="{FF2B5EF4-FFF2-40B4-BE49-F238E27FC236}">
                <a16:creationId xmlns:a16="http://schemas.microsoft.com/office/drawing/2014/main" id="{14F6D76C-4A78-4133-B70A-8DFF488A2F19}"/>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a:t>
            </a:r>
          </a:p>
        </p:txBody>
      </p:sp>
      <p:sp>
        <p:nvSpPr>
          <p:cNvPr id="5" name="s1-bullets">
            <a:extLst xmlns:a="http://schemas.openxmlformats.org/drawingml/2006/main">
              <a:ext uri="{FF2B5EF4-FFF2-40B4-BE49-F238E27FC236}">
                <a16:creationId xmlns:a16="http://schemas.microsoft.com/office/drawing/2014/main" id="{7D0828EA-F7E1-4C12-97CB-EA652237B11C}"/>
              </a:ext>
            </a:extLst>
          </p:cNvPr>
          <p:cNvSpPr>
            <a:spLocks xmlns:a="http://schemas.openxmlformats.org/drawingml/2006/main" noGrp="1"/>
          </p:cNvSpPr>
          <p:nvPr/>
        </p:nvSpPr>
        <p:spPr>
          <a:xfrm xmlns:a="http://schemas.openxmlformats.org/drawingml/2006/main">
            <a:off x="571500" y="1543050"/>
            <a:ext cx="5095875"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50" b="0">
                <a:solidFill>
                  <a:srgbClr val="111827"/>
                </a:solidFill>
                <a:latin typeface="Aptos"/>
                <a:ea typeface="Aptos"/>
                <a:cs typeface="Aptos"/>
              </a:defRPr>
            </a:pPr>
            <a:r>
              <a:rPr sz="1650" b="0">
                <a:solidFill>
                  <a:srgbClr val="111827"/>
                </a:solidFill>
                <a:latin typeface="Aptos"/>
                <a:ea typeface="Aptos"/>
                <a:cs typeface="Aptos"/>
              </a:rPr>
              <a:t>Scientific question</a:t>
            </a:r>
          </a:p>
          <a:p xmlns:a="http://schemas.openxmlformats.org/drawingml/2006/main">
            <a:pPr algn="l">
              <a:buNone/>
              <a:defRPr sz="1650" b="0">
                <a:solidFill>
                  <a:srgbClr val="111827"/>
                </a:solidFill>
                <a:latin typeface="Aptos"/>
                <a:ea typeface="Aptos"/>
                <a:cs typeface="Aptos"/>
              </a:defRPr>
            </a:pPr>
            <a:r>
              <a:rPr sz="1650" b="0">
                <a:solidFill>
                  <a:srgbClr val="111827"/>
                </a:solidFill>
                <a:latin typeface="Aptos"/>
                <a:ea typeface="Aptos"/>
                <a:cs typeface="Aptos"/>
              </a:rPr>
              <a:t>Controlled pT-only diagnostic</a:t>
            </a:r>
          </a:p>
          <a:p xmlns:a="http://schemas.openxmlformats.org/drawingml/2006/main">
            <a:pPr algn="l">
              <a:buNone/>
              <a:defRPr sz="1650" b="0">
                <a:solidFill>
                  <a:srgbClr val="111827"/>
                </a:solidFill>
                <a:latin typeface="Aptos"/>
                <a:ea typeface="Aptos"/>
                <a:cs typeface="Aptos"/>
              </a:defRPr>
            </a:pPr>
            <a:r>
              <a:rPr sz="1650" b="0">
                <a:solidFill>
                  <a:srgbClr val="111827"/>
                </a:solidFill>
                <a:latin typeface="Aptos"/>
                <a:ea typeface="Aptos"/>
                <a:cs typeface="Aptos"/>
              </a:rPr>
              <a:t>Current validation results</a:t>
            </a:r>
          </a:p>
        </p:txBody>
      </p:sp>
      <p:sp>
        <p:nvSpPr>
          <p:cNvPr id="6" name="s1-flow-title">
            <a:extLst xmlns:a="http://schemas.openxmlformats.org/drawingml/2006/main">
              <a:ext uri="{FF2B5EF4-FFF2-40B4-BE49-F238E27FC236}">
                <a16:creationId xmlns:a16="http://schemas.microsoft.com/office/drawing/2014/main" id="{B4006038-C63F-42E9-8FF0-3984D0654580}"/>
              </a:ext>
            </a:extLst>
          </p:cNvPr>
          <p:cNvSpPr>
            <a:spLocks xmlns:a="http://schemas.openxmlformats.org/drawingml/2006/main" noGrp="1"/>
          </p:cNvSpPr>
          <p:nvPr/>
        </p:nvSpPr>
        <p:spPr>
          <a:xfrm xmlns:a="http://schemas.openxmlformats.org/drawingml/2006/main">
            <a:off x="6191250" y="15811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p xmlns:a="http://schemas.openxmlformats.org/drawingml/2006/main">
            <a:pPr algn="l">
              <a:buNone/>
              <a:defRPr sz="1950" b="1">
                <a:solidFill>
                  <a:srgbClr val="2563EB"/>
                </a:solidFill>
                <a:latin typeface="Aptos"/>
                <a:ea typeface="Aptos"/>
                <a:cs typeface="Aptos"/>
              </a:defRPr>
            </a:pPr>
            <a:r>
              <a:rPr sz="1950" b="1">
                <a:solidFill>
                  <a:srgbClr val="2563EB"/>
                </a:solidFill>
                <a:latin typeface="Aptos"/>
                <a:ea typeface="Aptos"/>
                <a:cs typeface="Aptos"/>
              </a:rPr>
              <a:t>Research path</a:t>
            </a:r>
          </a:p>
        </p:txBody>
      </p:sp>
      <p:sp>
        <p:nvSpPr>
          <p:cNvPr id="7" name="s1-p1-box">
            <a:extLst xmlns:a="http://schemas.openxmlformats.org/drawingml/2006/main">
              <a:ext uri="{FF2B5EF4-FFF2-40B4-BE49-F238E27FC236}">
                <a16:creationId xmlns:a16="http://schemas.microsoft.com/office/drawing/2014/main" id="{F831DE49-F78D-49E6-BD06-8CF0838581FF}"/>
              </a:ext>
            </a:extLst>
          </p:cNvPr>
          <p:cNvSpPr>
            <a:spLocks xmlns:a="http://schemas.openxmlformats.org/drawingml/2006/main" noGrp="1"/>
          </p:cNvSpPr>
          <p:nvPr/>
        </p:nvSpPr>
        <p:spPr>
          <a:xfrm xmlns:a="http://schemas.openxmlformats.org/drawingml/2006/main">
            <a:off x="6191250" y="2114550"/>
            <a:ext cx="1428750"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1-p1-label">
            <a:extLst xmlns:a="http://schemas.openxmlformats.org/drawingml/2006/main">
              <a:ext uri="{FF2B5EF4-FFF2-40B4-BE49-F238E27FC236}">
                <a16:creationId xmlns:a16="http://schemas.microsoft.com/office/drawing/2014/main" id="{219030C9-32AE-437A-ACE7-772799353BD3}"/>
              </a:ext>
            </a:extLst>
          </p:cNvPr>
          <p:cNvSpPr>
            <a:spLocks xmlns:a="http://schemas.openxmlformats.org/drawingml/2006/main" noGrp="1"/>
          </p:cNvSpPr>
          <p:nvPr/>
        </p:nvSpPr>
        <p:spPr>
          <a:xfrm xmlns:a="http://schemas.openxmlformats.org/drawingml/2006/main">
            <a:off x="6305550" y="2295525"/>
            <a:ext cx="1200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Single TOB</a:t>
            </a:r>
          </a:p>
        </p:txBody>
      </p:sp>
      <p:sp>
        <p:nvSpPr>
          <p:cNvPr id="9" name="s1-a1">
            <a:extLst xmlns:a="http://schemas.openxmlformats.org/drawingml/2006/main">
              <a:ext uri="{FF2B5EF4-FFF2-40B4-BE49-F238E27FC236}">
                <a16:creationId xmlns:a16="http://schemas.microsoft.com/office/drawing/2014/main" id="{210B3EC5-69AB-4BE6-879C-B4339D3CC7E1}"/>
              </a:ext>
            </a:extLst>
          </p:cNvPr>
          <p:cNvSpPr>
            <a:spLocks xmlns:a="http://schemas.openxmlformats.org/drawingml/2006/main" noGrp="1"/>
          </p:cNvSpPr>
          <p:nvPr/>
        </p:nvSpPr>
        <p:spPr>
          <a:xfrm xmlns:a="http://schemas.openxmlformats.org/drawingml/2006/main">
            <a:off x="7677150" y="2238375"/>
            <a:ext cx="38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013"/>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10" name="s1-p2-box">
            <a:extLst xmlns:a="http://schemas.openxmlformats.org/drawingml/2006/main">
              <a:ext uri="{FF2B5EF4-FFF2-40B4-BE49-F238E27FC236}">
                <a16:creationId xmlns:a16="http://schemas.microsoft.com/office/drawing/2014/main" id="{225E6D93-7BDF-49D6-8747-3A05E7B365EC}"/>
              </a:ext>
            </a:extLst>
          </p:cNvPr>
          <p:cNvSpPr>
            <a:spLocks xmlns:a="http://schemas.openxmlformats.org/drawingml/2006/main" noGrp="1"/>
          </p:cNvSpPr>
          <p:nvPr/>
        </p:nvSpPr>
        <p:spPr>
          <a:xfrm xmlns:a="http://schemas.openxmlformats.org/drawingml/2006/main">
            <a:off x="8096250" y="2114550"/>
            <a:ext cx="1524000"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p2-label">
            <a:extLst xmlns:a="http://schemas.openxmlformats.org/drawingml/2006/main">
              <a:ext uri="{FF2B5EF4-FFF2-40B4-BE49-F238E27FC236}">
                <a16:creationId xmlns:a16="http://schemas.microsoft.com/office/drawing/2014/main" id="{F8D7F053-9855-432F-BB1F-C22BB744A83E}"/>
              </a:ext>
            </a:extLst>
          </p:cNvPr>
          <p:cNvSpPr>
            <a:spLocks xmlns:a="http://schemas.openxmlformats.org/drawingml/2006/main" noGrp="1"/>
          </p:cNvSpPr>
          <p:nvPr/>
        </p:nvSpPr>
        <p:spPr>
          <a:xfrm xmlns:a="http://schemas.openxmlformats.org/drawingml/2006/main">
            <a:off x="8210550" y="2295525"/>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Finite TOBs</a:t>
            </a:r>
          </a:p>
        </p:txBody>
      </p:sp>
      <p:sp>
        <p:nvSpPr>
          <p:cNvPr id="12" name="s1-a2">
            <a:extLst xmlns:a="http://schemas.openxmlformats.org/drawingml/2006/main">
              <a:ext uri="{FF2B5EF4-FFF2-40B4-BE49-F238E27FC236}">
                <a16:creationId xmlns:a16="http://schemas.microsoft.com/office/drawing/2014/main" id="{C26197DD-14A9-47E1-B8FB-12DD6E8A1414}"/>
              </a:ext>
            </a:extLst>
          </p:cNvPr>
          <p:cNvSpPr>
            <a:spLocks xmlns:a="http://schemas.openxmlformats.org/drawingml/2006/main" noGrp="1"/>
          </p:cNvSpPr>
          <p:nvPr/>
        </p:nvSpPr>
        <p:spPr>
          <a:xfrm xmlns:a="http://schemas.openxmlformats.org/drawingml/2006/main">
            <a:off x="9677400" y="2238375"/>
            <a:ext cx="38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013"/>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13" name="s1-p3-box">
            <a:extLst xmlns:a="http://schemas.openxmlformats.org/drawingml/2006/main">
              <a:ext uri="{FF2B5EF4-FFF2-40B4-BE49-F238E27FC236}">
                <a16:creationId xmlns:a16="http://schemas.microsoft.com/office/drawing/2014/main" id="{8862EBFB-FF7C-43DB-A3F8-778367682761}"/>
              </a:ext>
            </a:extLst>
          </p:cNvPr>
          <p:cNvSpPr>
            <a:spLocks xmlns:a="http://schemas.openxmlformats.org/drawingml/2006/main" noGrp="1"/>
          </p:cNvSpPr>
          <p:nvPr/>
        </p:nvSpPr>
        <p:spPr>
          <a:xfrm xmlns:a="http://schemas.openxmlformats.org/drawingml/2006/main">
            <a:off x="10096500" y="2114550"/>
            <a:ext cx="1476375"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p3-label">
            <a:extLst xmlns:a="http://schemas.openxmlformats.org/drawingml/2006/main">
              <a:ext uri="{FF2B5EF4-FFF2-40B4-BE49-F238E27FC236}">
                <a16:creationId xmlns:a16="http://schemas.microsoft.com/office/drawing/2014/main" id="{459F2EE5-DF87-4685-8047-084D2EF03A5E}"/>
              </a:ext>
            </a:extLst>
          </p:cNvPr>
          <p:cNvSpPr>
            <a:spLocks xmlns:a="http://schemas.openxmlformats.org/drawingml/2006/main" noGrp="1"/>
          </p:cNvSpPr>
          <p:nvPr/>
        </p:nvSpPr>
        <p:spPr>
          <a:xfrm xmlns:a="http://schemas.openxmlformats.org/drawingml/2006/main">
            <a:off x="10210800" y="2295525"/>
            <a:ext cx="1247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All pairs</a:t>
            </a:r>
          </a:p>
        </p:txBody>
      </p:sp>
      <p:sp>
        <p:nvSpPr>
          <p:cNvPr id="15" name="s1-p4-box">
            <a:extLst xmlns:a="http://schemas.openxmlformats.org/drawingml/2006/main">
              <a:ext uri="{FF2B5EF4-FFF2-40B4-BE49-F238E27FC236}">
                <a16:creationId xmlns:a16="http://schemas.microsoft.com/office/drawing/2014/main" id="{8DD5A63F-3FC6-449C-ADF3-F87FAD14F824}"/>
              </a:ext>
            </a:extLst>
          </p:cNvPr>
          <p:cNvSpPr>
            <a:spLocks xmlns:a="http://schemas.openxmlformats.org/drawingml/2006/main" noGrp="1"/>
          </p:cNvSpPr>
          <p:nvPr/>
        </p:nvSpPr>
        <p:spPr>
          <a:xfrm xmlns:a="http://schemas.openxmlformats.org/drawingml/2006/main">
            <a:off x="9239250" y="3209925"/>
            <a:ext cx="2333625" cy="666750"/>
          </a:xfrm>
          <a:prstGeom xmlns:a="http://schemas.openxmlformats.org/drawingml/2006/main" prst="roundRect">
            <a:avLst>
              <a:gd name="adj" fmla="val 11429"/>
            </a:avLst>
          </a:prstGeom>
          <a:solidFill xmlns:a="http://schemas.openxmlformats.org/drawingml/2006/main">
            <a:srgbClr val="E6F7FA"/>
          </a:solidFill>
          <a:ln xmlns:a="http://schemas.openxmlformats.org/drawingml/2006/main" w="9525">
            <a:solidFill>
              <a:srgbClr val="E6F7FA"/>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1-p4-label">
            <a:extLst xmlns:a="http://schemas.openxmlformats.org/drawingml/2006/main">
              <a:ext uri="{FF2B5EF4-FFF2-40B4-BE49-F238E27FC236}">
                <a16:creationId xmlns:a16="http://schemas.microsoft.com/office/drawing/2014/main" id="{78B0D4CE-A739-4402-A2C6-4FC305A1BB68}"/>
              </a:ext>
            </a:extLst>
          </p:cNvPr>
          <p:cNvSpPr>
            <a:spLocks xmlns:a="http://schemas.openxmlformats.org/drawingml/2006/main" noGrp="1"/>
          </p:cNvSpPr>
          <p:nvPr/>
        </p:nvSpPr>
        <p:spPr>
          <a:xfrm xmlns:a="http://schemas.openxmlformats.org/drawingml/2006/main">
            <a:off x="9353550" y="3390900"/>
            <a:ext cx="21050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Pair scores</a:t>
            </a:r>
          </a:p>
        </p:txBody>
      </p:sp>
      <p:sp>
        <p:nvSpPr>
          <p:cNvPr id="17" name="s1-a3">
            <a:extLst xmlns:a="http://schemas.openxmlformats.org/drawingml/2006/main">
              <a:ext uri="{FF2B5EF4-FFF2-40B4-BE49-F238E27FC236}">
                <a16:creationId xmlns:a16="http://schemas.microsoft.com/office/drawing/2014/main" id="{76FB3CF0-3132-4DCF-9327-BDDB0A3D1C76}"/>
              </a:ext>
            </a:extLst>
          </p:cNvPr>
          <p:cNvSpPr>
            <a:spLocks xmlns:a="http://schemas.openxmlformats.org/drawingml/2006/main" noGrp="1"/>
          </p:cNvSpPr>
          <p:nvPr/>
        </p:nvSpPr>
        <p:spPr>
          <a:xfrm xmlns:a="http://schemas.openxmlformats.org/drawingml/2006/main">
            <a:off x="8829675" y="3333750"/>
            <a:ext cx="38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013"/>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18" name="s1-p5-box">
            <a:extLst xmlns:a="http://schemas.openxmlformats.org/drawingml/2006/main">
              <a:ext uri="{FF2B5EF4-FFF2-40B4-BE49-F238E27FC236}">
                <a16:creationId xmlns:a16="http://schemas.microsoft.com/office/drawing/2014/main" id="{6B830C2C-066E-43C6-8887-D7073F8C4240}"/>
              </a:ext>
            </a:extLst>
          </p:cNvPr>
          <p:cNvSpPr>
            <a:spLocks xmlns:a="http://schemas.openxmlformats.org/drawingml/2006/main" noGrp="1"/>
          </p:cNvSpPr>
          <p:nvPr/>
        </p:nvSpPr>
        <p:spPr>
          <a:xfrm xmlns:a="http://schemas.openxmlformats.org/drawingml/2006/main">
            <a:off x="6191250" y="3209925"/>
            <a:ext cx="2571750" cy="666750"/>
          </a:xfrm>
          <a:prstGeom xmlns:a="http://schemas.openxmlformats.org/drawingml/2006/main" prst="roundRect">
            <a:avLst>
              <a:gd name="adj" fmla="val 11429"/>
            </a:avLst>
          </a:prstGeom>
          <a:solidFill xmlns:a="http://schemas.openxmlformats.org/drawingml/2006/main">
            <a:srgbClr val="E6F7FA"/>
          </a:solidFill>
          <a:ln xmlns:a="http://schemas.openxmlformats.org/drawingml/2006/main" w="9525">
            <a:solidFill>
              <a:srgbClr val="E6F7FA"/>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s1-p5-label">
            <a:extLst xmlns:a="http://schemas.openxmlformats.org/drawingml/2006/main">
              <a:ext uri="{FF2B5EF4-FFF2-40B4-BE49-F238E27FC236}">
                <a16:creationId xmlns:a16="http://schemas.microsoft.com/office/drawing/2014/main" id="{84506C72-6931-43C4-BA66-F8F37028A5BD}"/>
              </a:ext>
            </a:extLst>
          </p:cNvPr>
          <p:cNvSpPr>
            <a:spLocks xmlns:a="http://schemas.openxmlformats.org/drawingml/2006/main" noGrp="1"/>
          </p:cNvSpPr>
          <p:nvPr/>
        </p:nvSpPr>
        <p:spPr>
          <a:xfrm xmlns:a="http://schemas.openxmlformats.org/drawingml/2006/main">
            <a:off x="6305550" y="339090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Event decision</a:t>
            </a:r>
          </a:p>
        </p:txBody>
      </p:sp>
      <p:sp>
        <p:nvSpPr>
          <p:cNvPr id="20" name="s1-metric-band">
            <a:extLst xmlns:a="http://schemas.openxmlformats.org/drawingml/2006/main">
              <a:ext uri="{FF2B5EF4-FFF2-40B4-BE49-F238E27FC236}">
                <a16:creationId xmlns:a16="http://schemas.microsoft.com/office/drawing/2014/main" id="{CF9DC646-6FDC-4B18-A895-612DFFC431D5}"/>
              </a:ext>
            </a:extLst>
          </p:cNvPr>
          <p:cNvSpPr>
            <a:spLocks xmlns:a="http://schemas.openxmlformats.org/drawingml/2006/main" noGrp="1"/>
          </p:cNvSpPr>
          <p:nvPr/>
        </p:nvSpPr>
        <p:spPr>
          <a:xfrm xmlns:a="http://schemas.openxmlformats.org/drawingml/2006/main">
            <a:off x="6191250" y="4381500"/>
            <a:ext cx="5381625" cy="1000125"/>
          </a:xfrm>
          <a:prstGeom xmlns:a="http://schemas.openxmlformats.org/drawingml/2006/main" prst="roundRect">
            <a:avLst>
              <a:gd name="adj" fmla="val 7619"/>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1-metric-left">
            <a:extLst xmlns:a="http://schemas.openxmlformats.org/drawingml/2006/main">
              <a:ext uri="{FF2B5EF4-FFF2-40B4-BE49-F238E27FC236}">
                <a16:creationId xmlns:a16="http://schemas.microsoft.com/office/drawing/2014/main" id="{FB9CBD42-84E2-45E3-92F3-44B854D6BA87}"/>
              </a:ext>
            </a:extLst>
          </p:cNvPr>
          <p:cNvSpPr>
            <a:spLocks xmlns:a="http://schemas.openxmlformats.org/drawingml/2006/main" noGrp="1"/>
          </p:cNvSpPr>
          <p:nvPr/>
        </p:nvSpPr>
        <p:spPr>
          <a:xfrm xmlns:a="http://schemas.openxmlformats.org/drawingml/2006/main">
            <a:off x="6477000" y="461010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50" b="1">
                <a:solidFill>
                  <a:srgbClr val="0E7490"/>
                </a:solidFill>
                <a:latin typeface="Aptos"/>
                <a:ea typeface="Aptos"/>
                <a:cs typeface="Aptos"/>
              </a:defRPr>
            </a:pPr>
            <a:r>
              <a:rPr sz="1650" b="1">
                <a:solidFill>
                  <a:srgbClr val="0E7490"/>
                </a:solidFill>
                <a:latin typeface="Aptos"/>
                <a:ea typeface="Aptos"/>
                <a:cs typeface="Aptos"/>
              </a:rPr>
              <a:t>Operating point</a:t>
            </a:r>
          </a:p>
        </p:txBody>
      </p:sp>
      <p:sp>
        <p:nvSpPr>
          <p:cNvPr id="22" name="s1-metric-right">
            <a:extLst xmlns:a="http://schemas.openxmlformats.org/drawingml/2006/main">
              <a:ext uri="{FF2B5EF4-FFF2-40B4-BE49-F238E27FC236}">
                <a16:creationId xmlns:a16="http://schemas.microsoft.com/office/drawing/2014/main" id="{2A8EDBAC-D9A5-4218-8022-B04536CBF8D5}"/>
              </a:ext>
            </a:extLst>
          </p:cNvPr>
          <p:cNvSpPr>
            <a:spLocks xmlns:a="http://schemas.openxmlformats.org/drawingml/2006/main" noGrp="1"/>
          </p:cNvSpPr>
          <p:nvPr/>
        </p:nvSpPr>
        <p:spPr>
          <a:xfrm xmlns:a="http://schemas.openxmlformats.org/drawingml/2006/main">
            <a:off x="8953500" y="461010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307"/>
          </a:bodyPr>
          <a:lstStyle xmlns:a="http://schemas.openxmlformats.org/drawingml/2006/main"/>
          <a:p xmlns:a="http://schemas.openxmlformats.org/drawingml/2006/main">
            <a:pPr algn="l">
              <a:buNone/>
              <a:defRPr sz="1650" b="1">
                <a:solidFill>
                  <a:srgbClr val="2563EB"/>
                </a:solidFill>
                <a:latin typeface="Aptos"/>
                <a:ea typeface="Aptos"/>
                <a:cs typeface="Aptos"/>
              </a:defRPr>
            </a:pPr>
            <a:r>
              <a:rPr sz="1650" b="1">
                <a:solidFill>
                  <a:srgbClr val="2563EB"/>
                </a:solidFill>
                <a:latin typeface="Aptos"/>
                <a:ea typeface="Aptos"/>
                <a:cs typeface="Aptos"/>
              </a:rPr>
              <a:t>≤0.5% background-event FPR</a:t>
            </a:r>
          </a:p>
        </p:txBody>
      </p:sp>
      <p:sp>
        <p:nvSpPr>
          <p:cNvPr id="23" name="s1-takeaway">
            <a:extLst xmlns:a="http://schemas.openxmlformats.org/drawingml/2006/main">
              <a:ext uri="{FF2B5EF4-FFF2-40B4-BE49-F238E27FC236}">
                <a16:creationId xmlns:a16="http://schemas.microsoft.com/office/drawing/2014/main" id="{1A0F4501-9516-43F3-AA9E-5E0B2E10E989}"/>
              </a:ext>
            </a:extLst>
          </p:cNvPr>
          <p:cNvSpPr>
            <a:spLocks xmlns:a="http://schemas.openxmlformats.org/drawingml/2006/main" noGrp="1"/>
          </p:cNvSpPr>
          <p:nvPr/>
        </p:nvSpPr>
        <p:spPr>
          <a:xfrm xmlns:a="http://schemas.openxmlformats.org/drawingml/2006/main">
            <a:off x="6191250" y="5715000"/>
            <a:ext cx="5381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ctr">
              <a:buNone/>
              <a:defRPr sz="1875" b="1">
                <a:solidFill>
                  <a:srgbClr val="111827"/>
                </a:solidFill>
                <a:latin typeface="Aptos"/>
                <a:ea typeface="Aptos"/>
                <a:cs typeface="Aptos"/>
              </a:defRPr>
            </a:pPr>
            <a:endParaRPr/>
          </a:p>
        </p:txBody>
      </p:sp>
      <p:sp>
        <p:nvSpPr>
          <p:cNvPr id="102" name="s1-a-return">
            <a:extLst xmlns:a="http://schemas.openxmlformats.org/drawingml/2006/main">
              <a:ext uri="{FF2B5EF4-FFF2-40B4-BE49-F238E27FC236}">
                <a16:creationId xmlns:a16="http://schemas.microsoft.com/office/drawing/2014/main" id="{DF09C692-9598-467A-ADC7-20C6ED9FED26}"/>
              </a:ext>
            </a:extLst>
          </p:cNvPr>
          <p:cNvSpPr>
            <a:spLocks xmlns:a="http://schemas.openxmlformats.org/drawingml/2006/main" noGrp="1"/>
          </p:cNvSpPr>
          <p:nvPr/>
        </p:nvSpPr>
        <p:spPr>
          <a:xfrm xmlns:a="http://schemas.openxmlformats.org/drawingml/2006/main">
            <a:off x="10620375" y="280035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950" b="1">
                <a:solidFill>
                  <a:srgbClr val="6B7280"/>
                </a:solidFill>
                <a:latin typeface="Arial"/>
                <a:ea typeface="Arial"/>
                <a:cs typeface="Arial"/>
              </a:defRPr>
            </a:pPr>
            <a:r>
              <a:rPr sz="1950" b="1">
                <a:solidFill>
                  <a:srgbClr val="6B7280"/>
                </a:solidFill>
                <a:latin typeface="Arial"/>
                <a:ea typeface="Arial"/>
                <a:cs typeface="Arial"/>
              </a:rPr>
              <a:t>↓</a:t>
            </a:r>
          </a:p>
        </p:txBody>
      </p:sp>
    </p:spTree>
    <p:extLst>
      <p:ext uri="{BB962C8B-B14F-4D97-AF65-F5344CB8AC3E}">
        <p14:creationId xmlns:p14="http://schemas.microsoft.com/office/powerpoint/2010/main" val="19134824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SCIENTIFIC QUESTION</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Can joint information improve the event decision?</a:t>
            </a:r>
          </a:p>
        </p:txBody>
      </p:sp>
      <p:cxnSp>
        <p:nvCxnSpPr>
          <p:cNvPr id="125"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Existing decision</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Score each TOB separately</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Accept the event from the second-highest TOB score</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No pair interaction enters the model</a:t>
            </a: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Pair-based question</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Score two same-event TOBs together</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Ask whether the pair contains two tau-labelled TOBs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Accept the event if one pair is sufficiently signal-like</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872"/>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study changes where information is combined: inside the pair model rather than only after independent TOB scores.</a:t>
            </a:r>
          </a:p>
        </p:txBody>
      </p:sp>
    </p:spTree>
    <p:extLst>
      <p:ext uri="{BB962C8B-B14F-4D97-AF65-F5344CB8AC3E}">
        <p14:creationId xmlns:p14="http://schemas.microsoft.com/office/powerpoint/2010/main" val="8323859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EVENT INPUT</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One event contains several candidate TOBs</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3</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Stored event</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Up to six TOB slots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Measured pT and position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Calorimeter information per TOB</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Objects used</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Keep every finite TOB</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Rank by measured pT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Resolve exact ties by TOB index</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Model examples</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Form every unordered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Six TOBs produce fifteen pairs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Pairs never cross event boundaries</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Terminology</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520"/>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TOB means one trigger object. A pair contains two selected TOBs from the same event.</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complete event remains the unit used for false-positive rate and signal efficiency.</a:t>
            </a:r>
          </a:p>
        </p:txBody>
      </p:sp>
    </p:spTree>
    <p:extLst>
      <p:ext uri="{BB962C8B-B14F-4D97-AF65-F5344CB8AC3E}">
        <p14:creationId xmlns:p14="http://schemas.microsoft.com/office/powerpoint/2010/main" val="19678427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PER-TOB INFORMATION</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Each TOB contains five coarse calorimeter layers</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4</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Coarse tensor</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Five layers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Each layer is a 3 × 3 grid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45 energy values per TOB</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Layer structure</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EM0, EM1 and EM2</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Hadronic layers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Layer identity is preserved</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Additional information</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Measured pT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Eta and phi</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Aligned high-resolution EM2 tensor</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Representation choice</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Preserve both TOBs or compress each one into tested summaries.</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study measures what information is lost as the input becomes smaller.</a:t>
            </a:r>
          </a:p>
        </p:txBody>
      </p:sp>
    </p:spTree>
    <p:extLst>
      <p:ext uri="{BB962C8B-B14F-4D97-AF65-F5344CB8AC3E}">
        <p14:creationId xmlns:p14="http://schemas.microsoft.com/office/powerpoint/2010/main" val="19678427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DETERMINISTIC BASELINE</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88"/>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baseline uses the second-highest measured pT</a:t>
            </a:r>
          </a:p>
        </p:txBody>
      </p:sp>
      <p:cxnSp>
        <p:nvCxnSpPr>
          <p:cNvPr id="125"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5</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Direct event score</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Sort the selected TOBs by measured pT</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Baseline score = second-highest pT</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event passes when this score reaches its threshold</a:t>
            </a: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Equivalent pair form</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Give each pair the lower member pT</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Take the largest lower-member pT across pairs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This equals the direct baseline exactly</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identity max over pairs of min pair pT equals the second-highest selected pT for every event.</a:t>
            </a:r>
          </a:p>
        </p:txBody>
      </p:sp>
    </p:spTree>
    <p:extLst>
      <p:ext uri="{BB962C8B-B14F-4D97-AF65-F5344CB8AC3E}">
        <p14:creationId xmlns:p14="http://schemas.microsoft.com/office/powerpoint/2010/main" val="8323859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tatus-3">
            <a:extLst xmlns:a="http://schemas.openxmlformats.org/drawingml/2006/main">
              <a:ext uri="{FF2B5EF4-FFF2-40B4-BE49-F238E27FC236}">
                <a16:creationId xmlns:a16="http://schemas.microsoft.com/office/drawing/2014/main" id="{ADAC0E09-5DFB-43E2-AF41-16B97CEC211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FINITE-TOB SELECTION</a:t>
            </a:r>
          </a:p>
        </p:txBody>
      </p:sp>
      <p:sp>
        <p:nvSpPr>
          <p:cNvPr id="2" name="title-3">
            <a:extLst xmlns:a="http://schemas.openxmlformats.org/drawingml/2006/main">
              <a:ext uri="{FF2B5EF4-FFF2-40B4-BE49-F238E27FC236}">
                <a16:creationId xmlns:a16="http://schemas.microsoft.com/office/drawing/2014/main" id="{B0581485-ED24-4D59-A5C1-30097A78060D}"/>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selected method keeps every finite TOB</a:t>
            </a:r>
          </a:p>
        </p:txBody>
      </p:sp>
      <p:cxnSp>
        <p:nvCxnSpPr>
          <p:cNvPr id="139" name="header-rule-3"/>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3">
            <a:extLst xmlns:a="http://schemas.openxmlformats.org/drawingml/2006/main">
              <a:ext uri="{FF2B5EF4-FFF2-40B4-BE49-F238E27FC236}">
                <a16:creationId xmlns:a16="http://schemas.microsoft.com/office/drawing/2014/main" id="{DA673D27-084C-4264-AF18-FDD0F6F5B5B4}"/>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6</a:t>
            </a:r>
          </a:p>
        </p:txBody>
      </p:sp>
      <p:sp>
        <p:nvSpPr>
          <p:cNvPr id="5" name="s3-step-0-box">
            <a:extLst xmlns:a="http://schemas.openxmlformats.org/drawingml/2006/main">
              <a:ext uri="{FF2B5EF4-FFF2-40B4-BE49-F238E27FC236}">
                <a16:creationId xmlns:a16="http://schemas.microsoft.com/office/drawing/2014/main" id="{D4CF481B-7FD0-43B9-AFCB-6E867EF49ACA}"/>
              </a:ext>
            </a:extLst>
          </p:cNvPr>
          <p:cNvSpPr>
            <a:spLocks xmlns:a="http://schemas.openxmlformats.org/drawingml/2006/main" noGrp="1"/>
          </p:cNvSpPr>
          <p:nvPr/>
        </p:nvSpPr>
        <p:spPr>
          <a:xfrm xmlns:a="http://schemas.openxmlformats.org/drawingml/2006/main">
            <a:off x="628650" y="1638300"/>
            <a:ext cx="2143125"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3-step-0-label">
            <a:extLst xmlns:a="http://schemas.openxmlformats.org/drawingml/2006/main">
              <a:ext uri="{FF2B5EF4-FFF2-40B4-BE49-F238E27FC236}">
                <a16:creationId xmlns:a16="http://schemas.microsoft.com/office/drawing/2014/main" id="{D7294449-52F8-404C-9A3A-8E78F99DCBD4}"/>
              </a:ext>
            </a:extLst>
          </p:cNvPr>
          <p:cNvSpPr>
            <a:spLocks xmlns:a="http://schemas.openxmlformats.org/drawingml/2006/main" noGrp="1"/>
          </p:cNvSpPr>
          <p:nvPr/>
        </p:nvSpPr>
        <p:spPr>
          <a:xfrm xmlns:a="http://schemas.openxmlformats.org/drawingml/2006/main">
            <a:off x="7429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Read event</a:t>
            </a:r>
          </a:p>
        </p:txBody>
      </p:sp>
      <p:sp>
        <p:nvSpPr>
          <p:cNvPr id="7" name="s3-arrow-0">
            <a:extLst xmlns:a="http://schemas.openxmlformats.org/drawingml/2006/main">
              <a:ext uri="{FF2B5EF4-FFF2-40B4-BE49-F238E27FC236}">
                <a16:creationId xmlns:a16="http://schemas.microsoft.com/office/drawing/2014/main" id="{4E35C87C-25DB-4978-A45A-248EB183DD57}"/>
              </a:ext>
            </a:extLst>
          </p:cNvPr>
          <p:cNvSpPr>
            <a:spLocks xmlns:a="http://schemas.openxmlformats.org/drawingml/2006/main" noGrp="1"/>
          </p:cNvSpPr>
          <p:nvPr/>
        </p:nvSpPr>
        <p:spPr>
          <a:xfrm xmlns:a="http://schemas.openxmlformats.org/drawingml/2006/main">
            <a:off x="2800350" y="1752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896"/>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8" name="s3-step-1-box">
            <a:extLst xmlns:a="http://schemas.openxmlformats.org/drawingml/2006/main">
              <a:ext uri="{FF2B5EF4-FFF2-40B4-BE49-F238E27FC236}">
                <a16:creationId xmlns:a16="http://schemas.microsoft.com/office/drawing/2014/main" id="{4B160BC2-2EB2-4131-9C3B-B77934BB9BFB}"/>
              </a:ext>
            </a:extLst>
          </p:cNvPr>
          <p:cNvSpPr>
            <a:spLocks xmlns:a="http://schemas.openxmlformats.org/drawingml/2006/main" noGrp="1"/>
          </p:cNvSpPr>
          <p:nvPr/>
        </p:nvSpPr>
        <p:spPr>
          <a:xfrm xmlns:a="http://schemas.openxmlformats.org/drawingml/2006/main">
            <a:off x="3219450" y="1638300"/>
            <a:ext cx="2143125"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3-step-1-label">
            <a:extLst xmlns:a="http://schemas.openxmlformats.org/drawingml/2006/main">
              <a:ext uri="{FF2B5EF4-FFF2-40B4-BE49-F238E27FC236}">
                <a16:creationId xmlns:a16="http://schemas.microsoft.com/office/drawing/2014/main" id="{4C6847AE-8E2C-44E5-B5D8-25ACBA527946}"/>
              </a:ext>
            </a:extLst>
          </p:cNvPr>
          <p:cNvSpPr>
            <a:spLocks xmlns:a="http://schemas.openxmlformats.org/drawingml/2006/main" noGrp="1"/>
          </p:cNvSpPr>
          <p:nvPr/>
        </p:nvSpPr>
        <p:spPr>
          <a:xfrm xmlns:a="http://schemas.openxmlformats.org/drawingml/2006/main">
            <a:off x="33337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Keep finite pT</a:t>
            </a:r>
          </a:p>
        </p:txBody>
      </p:sp>
      <p:sp>
        <p:nvSpPr>
          <p:cNvPr id="10" name="s3-arrow-1">
            <a:extLst xmlns:a="http://schemas.openxmlformats.org/drawingml/2006/main">
              <a:ext uri="{FF2B5EF4-FFF2-40B4-BE49-F238E27FC236}">
                <a16:creationId xmlns:a16="http://schemas.microsoft.com/office/drawing/2014/main" id="{32A36E44-BF69-4265-B40E-66568A4240B9}"/>
              </a:ext>
            </a:extLst>
          </p:cNvPr>
          <p:cNvSpPr>
            <a:spLocks xmlns:a="http://schemas.openxmlformats.org/drawingml/2006/main" noGrp="1"/>
          </p:cNvSpPr>
          <p:nvPr/>
        </p:nvSpPr>
        <p:spPr>
          <a:xfrm xmlns:a="http://schemas.openxmlformats.org/drawingml/2006/main">
            <a:off x="5391150" y="1752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896"/>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11" name="s3-step-2-box">
            <a:extLst xmlns:a="http://schemas.openxmlformats.org/drawingml/2006/main">
              <a:ext uri="{FF2B5EF4-FFF2-40B4-BE49-F238E27FC236}">
                <a16:creationId xmlns:a16="http://schemas.microsoft.com/office/drawing/2014/main" id="{D36B7A58-F791-45CA-ABEF-388B0C49FDBB}"/>
              </a:ext>
            </a:extLst>
          </p:cNvPr>
          <p:cNvSpPr>
            <a:spLocks xmlns:a="http://schemas.openxmlformats.org/drawingml/2006/main" noGrp="1"/>
          </p:cNvSpPr>
          <p:nvPr/>
        </p:nvSpPr>
        <p:spPr>
          <a:xfrm xmlns:a="http://schemas.openxmlformats.org/drawingml/2006/main">
            <a:off x="5810250" y="1638300"/>
            <a:ext cx="2143125"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3-step-2-label">
            <a:extLst xmlns:a="http://schemas.openxmlformats.org/drawingml/2006/main">
              <a:ext uri="{FF2B5EF4-FFF2-40B4-BE49-F238E27FC236}">
                <a16:creationId xmlns:a16="http://schemas.microsoft.com/office/drawing/2014/main" id="{30C0E529-2CB8-4F57-A51D-F2E0204D2838}"/>
              </a:ext>
            </a:extLst>
          </p:cNvPr>
          <p:cNvSpPr>
            <a:spLocks xmlns:a="http://schemas.openxmlformats.org/drawingml/2006/main" noGrp="1"/>
          </p:cNvSpPr>
          <p:nvPr/>
        </p:nvSpPr>
        <p:spPr>
          <a:xfrm xmlns:a="http://schemas.openxmlformats.org/drawingml/2006/main">
            <a:off x="59245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Rank TOBs</a:t>
            </a:r>
          </a:p>
        </p:txBody>
      </p:sp>
      <p:sp>
        <p:nvSpPr>
          <p:cNvPr id="13" name="s3-arrow-2">
            <a:extLst xmlns:a="http://schemas.openxmlformats.org/drawingml/2006/main">
              <a:ext uri="{FF2B5EF4-FFF2-40B4-BE49-F238E27FC236}">
                <a16:creationId xmlns:a16="http://schemas.microsoft.com/office/drawing/2014/main" id="{322D7524-3469-4AF7-A5F1-57C093BC1A61}"/>
              </a:ext>
            </a:extLst>
          </p:cNvPr>
          <p:cNvSpPr>
            <a:spLocks xmlns:a="http://schemas.openxmlformats.org/drawingml/2006/main" noGrp="1"/>
          </p:cNvSpPr>
          <p:nvPr/>
        </p:nvSpPr>
        <p:spPr>
          <a:xfrm xmlns:a="http://schemas.openxmlformats.org/drawingml/2006/main">
            <a:off x="7981950" y="1752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896"/>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14" name="s3-step-3-box">
            <a:extLst xmlns:a="http://schemas.openxmlformats.org/drawingml/2006/main">
              <a:ext uri="{FF2B5EF4-FFF2-40B4-BE49-F238E27FC236}">
                <a16:creationId xmlns:a16="http://schemas.microsoft.com/office/drawing/2014/main" id="{4F25F484-378F-4BAF-80EC-634C5B55A72F}"/>
              </a:ext>
            </a:extLst>
          </p:cNvPr>
          <p:cNvSpPr>
            <a:spLocks xmlns:a="http://schemas.openxmlformats.org/drawingml/2006/main" noGrp="1"/>
          </p:cNvSpPr>
          <p:nvPr/>
        </p:nvSpPr>
        <p:spPr>
          <a:xfrm xmlns:a="http://schemas.openxmlformats.org/drawingml/2006/main">
            <a:off x="8401050" y="1638300"/>
            <a:ext cx="2143125" cy="666750"/>
          </a:xfrm>
          <a:prstGeom xmlns:a="http://schemas.openxmlformats.org/drawingml/2006/main" prst="roundRect">
            <a:avLst>
              <a:gd name="adj" fmla="val 11429"/>
            </a:avLst>
          </a:prstGeom>
          <a:solidFill xmlns:a="http://schemas.openxmlformats.org/drawingml/2006/main">
            <a:srgbClr val="E6F7FA"/>
          </a:solidFill>
          <a:ln xmlns:a="http://schemas.openxmlformats.org/drawingml/2006/main" w="9525">
            <a:solidFill>
              <a:srgbClr val="E6F7FA"/>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3-step-3-label">
            <a:extLst xmlns:a="http://schemas.openxmlformats.org/drawingml/2006/main">
              <a:ext uri="{FF2B5EF4-FFF2-40B4-BE49-F238E27FC236}">
                <a16:creationId xmlns:a16="http://schemas.microsoft.com/office/drawing/2014/main" id="{D496778F-2720-4D1A-BBA1-84514C5D602F}"/>
              </a:ext>
            </a:extLst>
          </p:cNvPr>
          <p:cNvSpPr>
            <a:spLocks xmlns:a="http://schemas.openxmlformats.org/drawingml/2006/main" noGrp="1"/>
          </p:cNvSpPr>
          <p:nvPr/>
        </p:nvSpPr>
        <p:spPr>
          <a:xfrm xmlns:a="http://schemas.openxmlformats.org/drawingml/2006/main">
            <a:off x="85153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879"/>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Keep all finite TOBs</a:t>
            </a:r>
          </a:p>
        </p:txBody>
      </p:sp>
      <p:sp>
        <p:nvSpPr>
          <p:cNvPr id="16" name="s3-target-box">
            <a:extLst xmlns:a="http://schemas.openxmlformats.org/drawingml/2006/main">
              <a:ext uri="{FF2B5EF4-FFF2-40B4-BE49-F238E27FC236}">
                <a16:creationId xmlns:a16="http://schemas.microsoft.com/office/drawing/2014/main" id="{E7D40B78-2E06-450B-944F-D322AF4BDDB5}"/>
              </a:ext>
            </a:extLst>
          </p:cNvPr>
          <p:cNvSpPr>
            <a:spLocks xmlns:a="http://schemas.openxmlformats.org/drawingml/2006/main" noGrp="1"/>
          </p:cNvSpPr>
          <p:nvPr/>
        </p:nvSpPr>
        <p:spPr>
          <a:xfrm xmlns:a="http://schemas.openxmlformats.org/drawingml/2006/main">
            <a:off x="571500" y="2762250"/>
            <a:ext cx="3333750" cy="2476500"/>
          </a:xfrm>
          <a:prstGeom xmlns:a="http://schemas.openxmlformats.org/drawingml/2006/main" prst="roundRect">
            <a:avLst>
              <a:gd name="adj" fmla="val 3077"/>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3-target-accent">
            <a:extLst xmlns:a="http://schemas.openxmlformats.org/drawingml/2006/main">
              <a:ext uri="{FF2B5EF4-FFF2-40B4-BE49-F238E27FC236}">
                <a16:creationId xmlns:a16="http://schemas.microsoft.com/office/drawing/2014/main" id="{86CC7BD5-C13A-4B0C-87E1-BF39AF455D5A}"/>
              </a:ext>
            </a:extLst>
          </p:cNvPr>
          <p:cNvSpPr>
            <a:spLocks xmlns:a="http://schemas.openxmlformats.org/drawingml/2006/main" noGrp="1"/>
          </p:cNvSpPr>
          <p:nvPr/>
        </p:nvSpPr>
        <p:spPr>
          <a:xfrm xmlns:a="http://schemas.openxmlformats.org/drawingml/2006/main">
            <a:off x="571500" y="2762250"/>
            <a:ext cx="66675" cy="24765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3-target-heading">
            <a:extLst xmlns:a="http://schemas.openxmlformats.org/drawingml/2006/main">
              <a:ext uri="{FF2B5EF4-FFF2-40B4-BE49-F238E27FC236}">
                <a16:creationId xmlns:a16="http://schemas.microsoft.com/office/drawing/2014/main" id="{2008CAD0-DE91-4C23-A6A7-71A9348C6BAA}"/>
              </a:ext>
            </a:extLst>
          </p:cNvPr>
          <p:cNvSpPr>
            <a:spLocks xmlns:a="http://schemas.openxmlformats.org/drawingml/2006/main" noGrp="1"/>
          </p:cNvSpPr>
          <p:nvPr/>
        </p:nvSpPr>
        <p:spPr>
          <a:xfrm xmlns:a="http://schemas.openxmlformats.org/drawingml/2006/main">
            <a:off x="781050" y="29337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Why all pairs</a:t>
            </a:r>
          </a:p>
        </p:txBody>
      </p:sp>
      <p:sp>
        <p:nvSpPr>
          <p:cNvPr id="19" name="s3-target-body">
            <a:extLst xmlns:a="http://schemas.openxmlformats.org/drawingml/2006/main">
              <a:ext uri="{FF2B5EF4-FFF2-40B4-BE49-F238E27FC236}">
                <a16:creationId xmlns:a16="http://schemas.microsoft.com/office/drawing/2014/main" id="{91AE12B5-CF57-4C58-813A-AE3F4ACF4372}"/>
              </a:ext>
            </a:extLst>
          </p:cNvPr>
          <p:cNvSpPr>
            <a:spLocks xmlns:a="http://schemas.openxmlformats.org/drawingml/2006/main" noGrp="1"/>
          </p:cNvSpPr>
          <p:nvPr/>
        </p:nvSpPr>
        <p:spPr>
          <a:xfrm xmlns:a="http://schemas.openxmlformats.org/drawingml/2006/main">
            <a:off x="781050" y="3352800"/>
            <a:ext cx="29337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a:solidFill>
                  <a:srgbClr val="111827"/>
                </a:solidFill>
                <a:latin typeface="Aptos"/>
                <a:ea typeface="Aptos"/>
                <a:cs typeface="Aptos"/>
              </a:defRPr>
            </a:pPr>
            <a:r>
              <a:rPr sz="1650" b="0">
                <a:solidFill>
                  <a:srgbClr val="111827"/>
                </a:solidFill>
                <a:latin typeface="Aptos"/>
                <a:ea typeface="Aptos"/>
                <a:cs typeface="Aptos"/>
              </a:rPr>
              <a:t>Six finite TOBs produce fifteen pairs. Lower-ranked TOBs provide additional positive and negative teaching examples.</a:t>
            </a:r>
          </a:p>
        </p:txBody>
      </p:sp>
      <p:sp>
        <p:nvSpPr>
          <p:cNvPr id="20" name="s3-eval-box">
            <a:extLst xmlns:a="http://schemas.openxmlformats.org/drawingml/2006/main">
              <a:ext uri="{FF2B5EF4-FFF2-40B4-BE49-F238E27FC236}">
                <a16:creationId xmlns:a16="http://schemas.microsoft.com/office/drawing/2014/main" id="{7ADEA2A0-D375-48F7-A673-2DB422BA2EBE}"/>
              </a:ext>
            </a:extLst>
          </p:cNvPr>
          <p:cNvSpPr>
            <a:spLocks xmlns:a="http://schemas.openxmlformats.org/drawingml/2006/main" noGrp="1"/>
          </p:cNvSpPr>
          <p:nvPr/>
        </p:nvSpPr>
        <p:spPr>
          <a:xfrm xmlns:a="http://schemas.openxmlformats.org/drawingml/2006/main">
            <a:off x="4429125" y="2762250"/>
            <a:ext cx="3333750" cy="2476500"/>
          </a:xfrm>
          <a:prstGeom xmlns:a="http://schemas.openxmlformats.org/drawingml/2006/main" prst="roundRect">
            <a:avLst>
              <a:gd name="adj" fmla="val 3077"/>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3-eval-accent">
            <a:extLst xmlns:a="http://schemas.openxmlformats.org/drawingml/2006/main">
              <a:ext uri="{FF2B5EF4-FFF2-40B4-BE49-F238E27FC236}">
                <a16:creationId xmlns:a16="http://schemas.microsoft.com/office/drawing/2014/main" id="{6024F5A9-DBA6-4D48-BF63-7DD349A4801E}"/>
              </a:ext>
            </a:extLst>
          </p:cNvPr>
          <p:cNvSpPr>
            <a:spLocks xmlns:a="http://schemas.openxmlformats.org/drawingml/2006/main" noGrp="1"/>
          </p:cNvSpPr>
          <p:nvPr/>
        </p:nvSpPr>
        <p:spPr>
          <a:xfrm xmlns:a="http://schemas.openxmlformats.org/drawingml/2006/main">
            <a:off x="4429125" y="2762250"/>
            <a:ext cx="66675" cy="247650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3-eval-heading">
            <a:extLst xmlns:a="http://schemas.openxmlformats.org/drawingml/2006/main">
              <a:ext uri="{FF2B5EF4-FFF2-40B4-BE49-F238E27FC236}">
                <a16:creationId xmlns:a16="http://schemas.microsoft.com/office/drawing/2014/main" id="{C5857E15-930C-4790-9A79-295FF410451F}"/>
              </a:ext>
            </a:extLst>
          </p:cNvPr>
          <p:cNvSpPr>
            <a:spLocks xmlns:a="http://schemas.openxmlformats.org/drawingml/2006/main" noGrp="1"/>
          </p:cNvSpPr>
          <p:nvPr/>
        </p:nvSpPr>
        <p:spPr>
          <a:xfrm xmlns:a="http://schemas.openxmlformats.org/drawingml/2006/main">
            <a:off x="4638675" y="29337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Short events</a:t>
            </a:r>
          </a:p>
        </p:txBody>
      </p:sp>
      <p:sp>
        <p:nvSpPr>
          <p:cNvPr id="23" name="s3-eval-body">
            <a:extLst xmlns:a="http://schemas.openxmlformats.org/drawingml/2006/main">
              <a:ext uri="{FF2B5EF4-FFF2-40B4-BE49-F238E27FC236}">
                <a16:creationId xmlns:a16="http://schemas.microsoft.com/office/drawing/2014/main" id="{7D0D95BC-1224-4B96-897B-C28DFEEC6C16}"/>
              </a:ext>
            </a:extLst>
          </p:cNvPr>
          <p:cNvSpPr>
            <a:spLocks xmlns:a="http://schemas.openxmlformats.org/drawingml/2006/main" noGrp="1"/>
          </p:cNvSpPr>
          <p:nvPr/>
        </p:nvSpPr>
        <p:spPr>
          <a:xfrm xmlns:a="http://schemas.openxmlformats.org/drawingml/2006/main">
            <a:off x="4638675" y="3352800"/>
            <a:ext cx="29337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Two or three TOBs produce the pairs that exist. Fewer than two produce no pair.</a:t>
            </a:r>
          </a:p>
        </p:txBody>
      </p:sp>
      <p:sp>
        <p:nvSpPr>
          <p:cNvPr id="24" name="s3-hw-box">
            <a:extLst xmlns:a="http://schemas.openxmlformats.org/drawingml/2006/main">
              <a:ext uri="{FF2B5EF4-FFF2-40B4-BE49-F238E27FC236}">
                <a16:creationId xmlns:a16="http://schemas.microsoft.com/office/drawing/2014/main" id="{70211091-5E44-42EA-86AB-6BCCF7969EF3}"/>
              </a:ext>
            </a:extLst>
          </p:cNvPr>
          <p:cNvSpPr>
            <a:spLocks xmlns:a="http://schemas.openxmlformats.org/drawingml/2006/main" noGrp="1"/>
          </p:cNvSpPr>
          <p:nvPr/>
        </p:nvSpPr>
        <p:spPr>
          <a:xfrm xmlns:a="http://schemas.openxmlformats.org/drawingml/2006/main">
            <a:off x="8286750" y="2762250"/>
            <a:ext cx="3333750" cy="2476500"/>
          </a:xfrm>
          <a:prstGeom xmlns:a="http://schemas.openxmlformats.org/drawingml/2006/main" prst="roundRect">
            <a:avLst>
              <a:gd name="adj" fmla="val 3077"/>
            </a:avLst>
          </a:prstGeom>
          <a:solidFill xmlns:a="http://schemas.openxmlformats.org/drawingml/2006/main">
            <a:srgbClr val="FFF4DE"/>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s3-hw-accent">
            <a:extLst xmlns:a="http://schemas.openxmlformats.org/drawingml/2006/main">
              <a:ext uri="{FF2B5EF4-FFF2-40B4-BE49-F238E27FC236}">
                <a16:creationId xmlns:a16="http://schemas.microsoft.com/office/drawing/2014/main" id="{4460E505-E146-4BF4-910D-2951D0282468}"/>
              </a:ext>
            </a:extLst>
          </p:cNvPr>
          <p:cNvSpPr>
            <a:spLocks xmlns:a="http://schemas.openxmlformats.org/drawingml/2006/main" noGrp="1"/>
          </p:cNvSpPr>
          <p:nvPr/>
        </p:nvSpPr>
        <p:spPr>
          <a:xfrm xmlns:a="http://schemas.openxmlformats.org/drawingml/2006/main">
            <a:off x="8286750" y="2762250"/>
            <a:ext cx="66675" cy="2476500"/>
          </a:xfrm>
          <a:prstGeom xmlns:a="http://schemas.openxmlformats.org/drawingml/2006/main" prst="rect">
            <a:avLst/>
          </a:prstGeom>
          <a:solidFill xmlns:a="http://schemas.openxmlformats.org/drawingml/2006/main">
            <a:srgbClr val="B45309"/>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3-hw-heading">
            <a:extLst xmlns:a="http://schemas.openxmlformats.org/drawingml/2006/main">
              <a:ext uri="{FF2B5EF4-FFF2-40B4-BE49-F238E27FC236}">
                <a16:creationId xmlns:a16="http://schemas.microsoft.com/office/drawing/2014/main" id="{60EB2BF3-6235-4452-B463-748830866C68}"/>
              </a:ext>
            </a:extLst>
          </p:cNvPr>
          <p:cNvSpPr>
            <a:spLocks xmlns:a="http://schemas.openxmlformats.org/drawingml/2006/main" noGrp="1"/>
          </p:cNvSpPr>
          <p:nvPr/>
        </p:nvSpPr>
        <p:spPr>
          <a:xfrm xmlns:a="http://schemas.openxmlformats.org/drawingml/2006/main">
            <a:off x="8496300" y="29337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Fixed rule</a:t>
            </a:r>
          </a:p>
        </p:txBody>
      </p:sp>
      <p:sp>
        <p:nvSpPr>
          <p:cNvPr id="27" name="s3-hw-body">
            <a:extLst xmlns:a="http://schemas.openxmlformats.org/drawingml/2006/main">
              <a:ext uri="{FF2B5EF4-FFF2-40B4-BE49-F238E27FC236}">
                <a16:creationId xmlns:a16="http://schemas.microsoft.com/office/drawing/2014/main" id="{4EBD38CB-EC41-4C16-A4F2-E4FA2339D1A4}"/>
              </a:ext>
            </a:extLst>
          </p:cNvPr>
          <p:cNvSpPr>
            <a:spLocks xmlns:a="http://schemas.openxmlformats.org/drawingml/2006/main" noGrp="1"/>
          </p:cNvSpPr>
          <p:nvPr/>
        </p:nvSpPr>
        <p:spPr>
          <a:xfrm xmlns:a="http://schemas.openxmlformats.org/drawingml/2006/main">
            <a:off x="8496300" y="3352800"/>
            <a:ext cx="29337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Training and inference use the same finite-TOB population. The number of pairs depends on the event.</a:t>
            </a:r>
          </a:p>
        </p:txBody>
      </p:sp>
      <p:sp>
        <p:nvSpPr>
          <p:cNvPr id="28" name="s3-caption">
            <a:extLst xmlns:a="http://schemas.openxmlformats.org/drawingml/2006/main">
              <a:ext uri="{FF2B5EF4-FFF2-40B4-BE49-F238E27FC236}">
                <a16:creationId xmlns:a16="http://schemas.microsoft.com/office/drawing/2014/main" id="{6EB26F0A-87B4-4FA6-A80E-598444E0E8B5}"/>
              </a:ext>
            </a:extLst>
          </p:cNvPr>
          <p:cNvSpPr>
            <a:spLocks xmlns:a="http://schemas.openxmlformats.org/drawingml/2006/main" noGrp="1"/>
          </p:cNvSpPr>
          <p:nvPr/>
        </p:nvSpPr>
        <p:spPr>
          <a:xfrm xmlns:a="http://schemas.openxmlformats.org/drawingml/2006/main">
            <a:off x="1476375" y="5619750"/>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67"/>
          </a:bodyPr>
          <a:lstStyle xmlns:a="http://schemas.openxmlformats.org/drawingml/2006/main"/>
          <a:p xmlns:a="http://schemas.openxmlformats.org/drawingml/2006/main">
            <a:pPr algn="ctr">
              <a:buNone/>
              <a:defRPr sz="1875" b="1">
                <a:solidFill>
                  <a:srgbClr val="111827"/>
                </a:solidFill>
                <a:latin typeface="Aptos"/>
                <a:ea typeface="Aptos"/>
                <a:cs typeface="Aptos"/>
              </a:defRPr>
            </a:pPr>
            <a:r>
              <a:rPr sz="1875" b="1">
                <a:solidFill>
                  <a:srgbClr val="111827"/>
                </a:solidFill>
                <a:latin typeface="Aptos"/>
                <a:ea typeface="Aptos"/>
                <a:cs typeface="Aptos"/>
              </a:rPr>
              <a:t>Selection uses observable measured pT before any pair feature is calculated.</a:t>
            </a:r>
          </a:p>
        </p:txBody>
      </p:sp>
    </p:spTree>
    <p:extLst>
      <p:ext uri="{BB962C8B-B14F-4D97-AF65-F5344CB8AC3E}">
        <p14:creationId xmlns:p14="http://schemas.microsoft.com/office/powerpoint/2010/main" val="15262611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tatus-3">
            <a:extLst xmlns:a="http://schemas.openxmlformats.org/drawingml/2006/main">
              <a:ext uri="{FF2B5EF4-FFF2-40B4-BE49-F238E27FC236}">
                <a16:creationId xmlns:a16="http://schemas.microsoft.com/office/drawing/2014/main" id="{ADAC0E09-5DFB-43E2-AF41-16B97CEC211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PAIR CONSTRUCTION</a:t>
            </a:r>
          </a:p>
        </p:txBody>
      </p:sp>
      <p:sp>
        <p:nvSpPr>
          <p:cNvPr id="2" name="title-3">
            <a:extLst xmlns:a="http://schemas.openxmlformats.org/drawingml/2006/main">
              <a:ext uri="{FF2B5EF4-FFF2-40B4-BE49-F238E27FC236}">
                <a16:creationId xmlns:a16="http://schemas.microsoft.com/office/drawing/2014/main" id="{B0581485-ED24-4D59-A5C1-30097A78060D}"/>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All finite TOBs form every same-event pair</a:t>
            </a:r>
          </a:p>
        </p:txBody>
      </p:sp>
      <p:cxnSp>
        <p:nvCxnSpPr>
          <p:cNvPr id="139" name="header-rule-3"/>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3">
            <a:extLst xmlns:a="http://schemas.openxmlformats.org/drawingml/2006/main">
              <a:ext uri="{FF2B5EF4-FFF2-40B4-BE49-F238E27FC236}">
                <a16:creationId xmlns:a16="http://schemas.microsoft.com/office/drawing/2014/main" id="{DA673D27-084C-4264-AF18-FDD0F6F5B5B4}"/>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7</a:t>
            </a:r>
          </a:p>
        </p:txBody>
      </p:sp>
      <p:sp>
        <p:nvSpPr>
          <p:cNvPr id="5" name="s3-step-0-box">
            <a:extLst xmlns:a="http://schemas.openxmlformats.org/drawingml/2006/main">
              <a:ext uri="{FF2B5EF4-FFF2-40B4-BE49-F238E27FC236}">
                <a16:creationId xmlns:a16="http://schemas.microsoft.com/office/drawing/2014/main" id="{D4CF481B-7FD0-43B9-AFCB-6E867EF49ACA}"/>
              </a:ext>
            </a:extLst>
          </p:cNvPr>
          <p:cNvSpPr>
            <a:spLocks xmlns:a="http://schemas.openxmlformats.org/drawingml/2006/main" noGrp="1"/>
          </p:cNvSpPr>
          <p:nvPr/>
        </p:nvSpPr>
        <p:spPr>
          <a:xfrm xmlns:a="http://schemas.openxmlformats.org/drawingml/2006/main">
            <a:off x="628650" y="1638300"/>
            <a:ext cx="2143125"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3-step-0-label">
            <a:extLst xmlns:a="http://schemas.openxmlformats.org/drawingml/2006/main">
              <a:ext uri="{FF2B5EF4-FFF2-40B4-BE49-F238E27FC236}">
                <a16:creationId xmlns:a16="http://schemas.microsoft.com/office/drawing/2014/main" id="{D7294449-52F8-404C-9A3A-8E78F99DCBD4}"/>
              </a:ext>
            </a:extLst>
          </p:cNvPr>
          <p:cNvSpPr>
            <a:spLocks xmlns:a="http://schemas.openxmlformats.org/drawingml/2006/main" noGrp="1"/>
          </p:cNvSpPr>
          <p:nvPr/>
        </p:nvSpPr>
        <p:spPr>
          <a:xfrm xmlns:a="http://schemas.openxmlformats.org/drawingml/2006/main">
            <a:off x="7429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TOB 0 and 1</a:t>
            </a:r>
          </a:p>
        </p:txBody>
      </p:sp>
      <p:sp>
        <p:nvSpPr>
          <p:cNvPr id="7" name="s3-arrow-0">
            <a:extLst xmlns:a="http://schemas.openxmlformats.org/drawingml/2006/main">
              <a:ext uri="{FF2B5EF4-FFF2-40B4-BE49-F238E27FC236}">
                <a16:creationId xmlns:a16="http://schemas.microsoft.com/office/drawing/2014/main" id="{4E35C87C-25DB-4978-A45A-248EB183DD57}"/>
              </a:ext>
            </a:extLst>
          </p:cNvPr>
          <p:cNvSpPr>
            <a:spLocks xmlns:a="http://schemas.openxmlformats.org/drawingml/2006/main" noGrp="1"/>
          </p:cNvSpPr>
          <p:nvPr/>
        </p:nvSpPr>
        <p:spPr>
          <a:xfrm xmlns:a="http://schemas.openxmlformats.org/drawingml/2006/main">
            <a:off x="2800350" y="1752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896"/>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8" name="s3-step-1-box">
            <a:extLst xmlns:a="http://schemas.openxmlformats.org/drawingml/2006/main">
              <a:ext uri="{FF2B5EF4-FFF2-40B4-BE49-F238E27FC236}">
                <a16:creationId xmlns:a16="http://schemas.microsoft.com/office/drawing/2014/main" id="{4B160BC2-2EB2-4131-9C3B-B77934BB9BFB}"/>
              </a:ext>
            </a:extLst>
          </p:cNvPr>
          <p:cNvSpPr>
            <a:spLocks xmlns:a="http://schemas.openxmlformats.org/drawingml/2006/main" noGrp="1"/>
          </p:cNvSpPr>
          <p:nvPr/>
        </p:nvSpPr>
        <p:spPr>
          <a:xfrm xmlns:a="http://schemas.openxmlformats.org/drawingml/2006/main">
            <a:off x="3219450" y="1638300"/>
            <a:ext cx="2143125"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3-step-1-label">
            <a:extLst xmlns:a="http://schemas.openxmlformats.org/drawingml/2006/main">
              <a:ext uri="{FF2B5EF4-FFF2-40B4-BE49-F238E27FC236}">
                <a16:creationId xmlns:a16="http://schemas.microsoft.com/office/drawing/2014/main" id="{4C6847AE-8E2C-44E5-B5D8-25ACBA527946}"/>
              </a:ext>
            </a:extLst>
          </p:cNvPr>
          <p:cNvSpPr>
            <a:spLocks xmlns:a="http://schemas.openxmlformats.org/drawingml/2006/main" noGrp="1"/>
          </p:cNvSpPr>
          <p:nvPr/>
        </p:nvSpPr>
        <p:spPr>
          <a:xfrm xmlns:a="http://schemas.openxmlformats.org/drawingml/2006/main">
            <a:off x="33337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TOB 0 and 2</a:t>
            </a:r>
          </a:p>
        </p:txBody>
      </p:sp>
      <p:sp>
        <p:nvSpPr>
          <p:cNvPr id="10" name="s3-arrow-1">
            <a:extLst xmlns:a="http://schemas.openxmlformats.org/drawingml/2006/main">
              <a:ext uri="{FF2B5EF4-FFF2-40B4-BE49-F238E27FC236}">
                <a16:creationId xmlns:a16="http://schemas.microsoft.com/office/drawing/2014/main" id="{32A36E44-BF69-4265-B40E-66568A4240B9}"/>
              </a:ext>
            </a:extLst>
          </p:cNvPr>
          <p:cNvSpPr>
            <a:spLocks xmlns:a="http://schemas.openxmlformats.org/drawingml/2006/main" noGrp="1"/>
          </p:cNvSpPr>
          <p:nvPr/>
        </p:nvSpPr>
        <p:spPr>
          <a:xfrm xmlns:a="http://schemas.openxmlformats.org/drawingml/2006/main">
            <a:off x="5391150" y="1752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896"/>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11" name="s3-step-2-box">
            <a:extLst xmlns:a="http://schemas.openxmlformats.org/drawingml/2006/main">
              <a:ext uri="{FF2B5EF4-FFF2-40B4-BE49-F238E27FC236}">
                <a16:creationId xmlns:a16="http://schemas.microsoft.com/office/drawing/2014/main" id="{D36B7A58-F791-45CA-ABEF-388B0C49FDBB}"/>
              </a:ext>
            </a:extLst>
          </p:cNvPr>
          <p:cNvSpPr>
            <a:spLocks xmlns:a="http://schemas.openxmlformats.org/drawingml/2006/main" noGrp="1"/>
          </p:cNvSpPr>
          <p:nvPr/>
        </p:nvSpPr>
        <p:spPr>
          <a:xfrm xmlns:a="http://schemas.openxmlformats.org/drawingml/2006/main">
            <a:off x="5810250" y="1638300"/>
            <a:ext cx="2143125"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3-step-2-label">
            <a:extLst xmlns:a="http://schemas.openxmlformats.org/drawingml/2006/main">
              <a:ext uri="{FF2B5EF4-FFF2-40B4-BE49-F238E27FC236}">
                <a16:creationId xmlns:a16="http://schemas.microsoft.com/office/drawing/2014/main" id="{30C0E529-2CB8-4F57-A51D-F2E0204D2838}"/>
              </a:ext>
            </a:extLst>
          </p:cNvPr>
          <p:cNvSpPr>
            <a:spLocks xmlns:a="http://schemas.openxmlformats.org/drawingml/2006/main" noGrp="1"/>
          </p:cNvSpPr>
          <p:nvPr/>
        </p:nvSpPr>
        <p:spPr>
          <a:xfrm xmlns:a="http://schemas.openxmlformats.org/drawingml/2006/main">
            <a:off x="59245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TOB 0 and 3</a:t>
            </a:r>
          </a:p>
        </p:txBody>
      </p:sp>
      <p:sp>
        <p:nvSpPr>
          <p:cNvPr id="13" name="s3-arrow-2">
            <a:extLst xmlns:a="http://schemas.openxmlformats.org/drawingml/2006/main">
              <a:ext uri="{FF2B5EF4-FFF2-40B4-BE49-F238E27FC236}">
                <a16:creationId xmlns:a16="http://schemas.microsoft.com/office/drawing/2014/main" id="{322D7524-3469-4AF7-A5F1-57C093BC1A61}"/>
              </a:ext>
            </a:extLst>
          </p:cNvPr>
          <p:cNvSpPr>
            <a:spLocks xmlns:a="http://schemas.openxmlformats.org/drawingml/2006/main" noGrp="1"/>
          </p:cNvSpPr>
          <p:nvPr/>
        </p:nvSpPr>
        <p:spPr>
          <a:xfrm xmlns:a="http://schemas.openxmlformats.org/drawingml/2006/main">
            <a:off x="7981950" y="1752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896"/>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14" name="s3-step-3-box">
            <a:extLst xmlns:a="http://schemas.openxmlformats.org/drawingml/2006/main">
              <a:ext uri="{FF2B5EF4-FFF2-40B4-BE49-F238E27FC236}">
                <a16:creationId xmlns:a16="http://schemas.microsoft.com/office/drawing/2014/main" id="{4F25F484-378F-4BAF-80EC-634C5B55A72F}"/>
              </a:ext>
            </a:extLst>
          </p:cNvPr>
          <p:cNvSpPr>
            <a:spLocks xmlns:a="http://schemas.openxmlformats.org/drawingml/2006/main" noGrp="1"/>
          </p:cNvSpPr>
          <p:nvPr/>
        </p:nvSpPr>
        <p:spPr>
          <a:xfrm xmlns:a="http://schemas.openxmlformats.org/drawingml/2006/main">
            <a:off x="8401050" y="1638300"/>
            <a:ext cx="2143125" cy="666750"/>
          </a:xfrm>
          <a:prstGeom xmlns:a="http://schemas.openxmlformats.org/drawingml/2006/main" prst="roundRect">
            <a:avLst>
              <a:gd name="adj" fmla="val 11429"/>
            </a:avLst>
          </a:prstGeom>
          <a:solidFill xmlns:a="http://schemas.openxmlformats.org/drawingml/2006/main">
            <a:srgbClr val="E6F7FA"/>
          </a:solidFill>
          <a:ln xmlns:a="http://schemas.openxmlformats.org/drawingml/2006/main" w="9525">
            <a:solidFill>
              <a:srgbClr val="E6F7FA"/>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3-step-3-label">
            <a:extLst xmlns:a="http://schemas.openxmlformats.org/drawingml/2006/main">
              <a:ext uri="{FF2B5EF4-FFF2-40B4-BE49-F238E27FC236}">
                <a16:creationId xmlns:a16="http://schemas.microsoft.com/office/drawing/2014/main" id="{D496778F-2720-4D1A-BBA1-84514C5D602F}"/>
              </a:ext>
            </a:extLst>
          </p:cNvPr>
          <p:cNvSpPr>
            <a:spLocks xmlns:a="http://schemas.openxmlformats.org/drawingml/2006/main" noGrp="1"/>
          </p:cNvSpPr>
          <p:nvPr/>
        </p:nvSpPr>
        <p:spPr>
          <a:xfrm xmlns:a="http://schemas.openxmlformats.org/drawingml/2006/main">
            <a:off x="85153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Continue to fifteen</a:t>
            </a:r>
          </a:p>
        </p:txBody>
      </p:sp>
      <p:sp>
        <p:nvSpPr>
          <p:cNvPr id="16" name="s3-target-box">
            <a:extLst xmlns:a="http://schemas.openxmlformats.org/drawingml/2006/main">
              <a:ext uri="{FF2B5EF4-FFF2-40B4-BE49-F238E27FC236}">
                <a16:creationId xmlns:a16="http://schemas.microsoft.com/office/drawing/2014/main" id="{E7D40B78-2E06-450B-944F-D322AF4BDDB5}"/>
              </a:ext>
            </a:extLst>
          </p:cNvPr>
          <p:cNvSpPr>
            <a:spLocks xmlns:a="http://schemas.openxmlformats.org/drawingml/2006/main" noGrp="1"/>
          </p:cNvSpPr>
          <p:nvPr/>
        </p:nvSpPr>
        <p:spPr>
          <a:xfrm xmlns:a="http://schemas.openxmlformats.org/drawingml/2006/main">
            <a:off x="571500" y="2762250"/>
            <a:ext cx="3333750" cy="2476500"/>
          </a:xfrm>
          <a:prstGeom xmlns:a="http://schemas.openxmlformats.org/drawingml/2006/main" prst="roundRect">
            <a:avLst>
              <a:gd name="adj" fmla="val 3077"/>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3-target-accent">
            <a:extLst xmlns:a="http://schemas.openxmlformats.org/drawingml/2006/main">
              <a:ext uri="{FF2B5EF4-FFF2-40B4-BE49-F238E27FC236}">
                <a16:creationId xmlns:a16="http://schemas.microsoft.com/office/drawing/2014/main" id="{86CC7BD5-C13A-4B0C-87E1-BF39AF455D5A}"/>
              </a:ext>
            </a:extLst>
          </p:cNvPr>
          <p:cNvSpPr>
            <a:spLocks xmlns:a="http://schemas.openxmlformats.org/drawingml/2006/main" noGrp="1"/>
          </p:cNvSpPr>
          <p:nvPr/>
        </p:nvSpPr>
        <p:spPr>
          <a:xfrm xmlns:a="http://schemas.openxmlformats.org/drawingml/2006/main">
            <a:off x="571500" y="2762250"/>
            <a:ext cx="66675" cy="24765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3-target-heading">
            <a:extLst xmlns:a="http://schemas.openxmlformats.org/drawingml/2006/main">
              <a:ext uri="{FF2B5EF4-FFF2-40B4-BE49-F238E27FC236}">
                <a16:creationId xmlns:a16="http://schemas.microsoft.com/office/drawing/2014/main" id="{2008CAD0-DE91-4C23-A6A7-71A9348C6BAA}"/>
              </a:ext>
            </a:extLst>
          </p:cNvPr>
          <p:cNvSpPr>
            <a:spLocks xmlns:a="http://schemas.openxmlformats.org/drawingml/2006/main" noGrp="1"/>
          </p:cNvSpPr>
          <p:nvPr/>
        </p:nvSpPr>
        <p:spPr>
          <a:xfrm xmlns:a="http://schemas.openxmlformats.org/drawingml/2006/main">
            <a:off x="781050" y="29337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Unique pairs</a:t>
            </a:r>
          </a:p>
        </p:txBody>
      </p:sp>
      <p:sp>
        <p:nvSpPr>
          <p:cNvPr id="19" name="s3-target-body">
            <a:extLst xmlns:a="http://schemas.openxmlformats.org/drawingml/2006/main">
              <a:ext uri="{FF2B5EF4-FFF2-40B4-BE49-F238E27FC236}">
                <a16:creationId xmlns:a16="http://schemas.microsoft.com/office/drawing/2014/main" id="{91AE12B5-CF57-4C58-813A-AE3F4ACF4372}"/>
              </a:ext>
            </a:extLst>
          </p:cNvPr>
          <p:cNvSpPr>
            <a:spLocks xmlns:a="http://schemas.openxmlformats.org/drawingml/2006/main" noGrp="1"/>
          </p:cNvSpPr>
          <p:nvPr/>
        </p:nvSpPr>
        <p:spPr>
          <a:xfrm xmlns:a="http://schemas.openxmlformats.org/drawingml/2006/main">
            <a:off x="781050" y="3352800"/>
            <a:ext cx="29337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a:solidFill>
                  <a:srgbClr val="111827"/>
                </a:solidFill>
                <a:latin typeface="Aptos"/>
                <a:ea typeface="Aptos"/>
                <a:cs typeface="Aptos"/>
              </a:defRPr>
            </a:pPr>
            <a:r>
              <a:rPr sz="1650" b="0">
                <a:solidFill>
                  <a:srgbClr val="111827"/>
                </a:solidFill>
                <a:latin typeface="Aptos"/>
                <a:ea typeface="Aptos"/>
                <a:cs typeface="Aptos"/>
              </a:rPr>
              <a:t>Each unordered pair appears once. No self-pairs or reversed duplicates.</a:t>
            </a:r>
          </a:p>
        </p:txBody>
      </p:sp>
      <p:sp>
        <p:nvSpPr>
          <p:cNvPr id="20" name="s3-eval-box">
            <a:extLst xmlns:a="http://schemas.openxmlformats.org/drawingml/2006/main">
              <a:ext uri="{FF2B5EF4-FFF2-40B4-BE49-F238E27FC236}">
                <a16:creationId xmlns:a16="http://schemas.microsoft.com/office/drawing/2014/main" id="{7ADEA2A0-D375-48F7-A673-2DB422BA2EBE}"/>
              </a:ext>
            </a:extLst>
          </p:cNvPr>
          <p:cNvSpPr>
            <a:spLocks xmlns:a="http://schemas.openxmlformats.org/drawingml/2006/main" noGrp="1"/>
          </p:cNvSpPr>
          <p:nvPr/>
        </p:nvSpPr>
        <p:spPr>
          <a:xfrm xmlns:a="http://schemas.openxmlformats.org/drawingml/2006/main">
            <a:off x="4429125" y="2762250"/>
            <a:ext cx="3333750" cy="2476500"/>
          </a:xfrm>
          <a:prstGeom xmlns:a="http://schemas.openxmlformats.org/drawingml/2006/main" prst="roundRect">
            <a:avLst>
              <a:gd name="adj" fmla="val 3077"/>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3-eval-accent">
            <a:extLst xmlns:a="http://schemas.openxmlformats.org/drawingml/2006/main">
              <a:ext uri="{FF2B5EF4-FFF2-40B4-BE49-F238E27FC236}">
                <a16:creationId xmlns:a16="http://schemas.microsoft.com/office/drawing/2014/main" id="{6024F5A9-DBA6-4D48-BF63-7DD349A4801E}"/>
              </a:ext>
            </a:extLst>
          </p:cNvPr>
          <p:cNvSpPr>
            <a:spLocks xmlns:a="http://schemas.openxmlformats.org/drawingml/2006/main" noGrp="1"/>
          </p:cNvSpPr>
          <p:nvPr/>
        </p:nvSpPr>
        <p:spPr>
          <a:xfrm xmlns:a="http://schemas.openxmlformats.org/drawingml/2006/main">
            <a:off x="4429125" y="2762250"/>
            <a:ext cx="66675" cy="247650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3-eval-heading">
            <a:extLst xmlns:a="http://schemas.openxmlformats.org/drawingml/2006/main">
              <a:ext uri="{FF2B5EF4-FFF2-40B4-BE49-F238E27FC236}">
                <a16:creationId xmlns:a16="http://schemas.microsoft.com/office/drawing/2014/main" id="{C5857E15-930C-4790-9A79-295FF410451F}"/>
              </a:ext>
            </a:extLst>
          </p:cNvPr>
          <p:cNvSpPr>
            <a:spLocks xmlns:a="http://schemas.openxmlformats.org/drawingml/2006/main" noGrp="1"/>
          </p:cNvSpPr>
          <p:nvPr/>
        </p:nvSpPr>
        <p:spPr>
          <a:xfrm xmlns:a="http://schemas.openxmlformats.org/drawingml/2006/main">
            <a:off x="4638675" y="29337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Canonical members</a:t>
            </a:r>
          </a:p>
        </p:txBody>
      </p:sp>
      <p:sp>
        <p:nvSpPr>
          <p:cNvPr id="23" name="s3-eval-body">
            <a:extLst xmlns:a="http://schemas.openxmlformats.org/drawingml/2006/main">
              <a:ext uri="{FF2B5EF4-FFF2-40B4-BE49-F238E27FC236}">
                <a16:creationId xmlns:a16="http://schemas.microsoft.com/office/drawing/2014/main" id="{7D0D95BC-1224-4B96-897B-C28DFEEC6C16}"/>
              </a:ext>
            </a:extLst>
          </p:cNvPr>
          <p:cNvSpPr>
            <a:spLocks xmlns:a="http://schemas.openxmlformats.org/drawingml/2006/main" noGrp="1"/>
          </p:cNvSpPr>
          <p:nvPr/>
        </p:nvSpPr>
        <p:spPr>
          <a:xfrm xmlns:a="http://schemas.openxmlformats.org/drawingml/2006/main">
            <a:off x="4638675" y="3352800"/>
            <a:ext cx="29337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L is the higher-pT member. S is the lower-pT member. Exact ties use tob_index.</a:t>
            </a:r>
          </a:p>
        </p:txBody>
      </p:sp>
      <p:sp>
        <p:nvSpPr>
          <p:cNvPr id="24" name="s3-hw-box">
            <a:extLst xmlns:a="http://schemas.openxmlformats.org/drawingml/2006/main">
              <a:ext uri="{FF2B5EF4-FFF2-40B4-BE49-F238E27FC236}">
                <a16:creationId xmlns:a16="http://schemas.microsoft.com/office/drawing/2014/main" id="{70211091-5E44-42EA-86AB-6BCCF7969EF3}"/>
              </a:ext>
            </a:extLst>
          </p:cNvPr>
          <p:cNvSpPr>
            <a:spLocks xmlns:a="http://schemas.openxmlformats.org/drawingml/2006/main" noGrp="1"/>
          </p:cNvSpPr>
          <p:nvPr/>
        </p:nvSpPr>
        <p:spPr>
          <a:xfrm xmlns:a="http://schemas.openxmlformats.org/drawingml/2006/main">
            <a:off x="8286750" y="2762250"/>
            <a:ext cx="3333750" cy="2476500"/>
          </a:xfrm>
          <a:prstGeom xmlns:a="http://schemas.openxmlformats.org/drawingml/2006/main" prst="roundRect">
            <a:avLst>
              <a:gd name="adj" fmla="val 3077"/>
            </a:avLst>
          </a:prstGeom>
          <a:solidFill xmlns:a="http://schemas.openxmlformats.org/drawingml/2006/main">
            <a:srgbClr val="FFF4DE"/>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s3-hw-accent">
            <a:extLst xmlns:a="http://schemas.openxmlformats.org/drawingml/2006/main">
              <a:ext uri="{FF2B5EF4-FFF2-40B4-BE49-F238E27FC236}">
                <a16:creationId xmlns:a16="http://schemas.microsoft.com/office/drawing/2014/main" id="{4460E505-E146-4BF4-910D-2951D0282468}"/>
              </a:ext>
            </a:extLst>
          </p:cNvPr>
          <p:cNvSpPr>
            <a:spLocks xmlns:a="http://schemas.openxmlformats.org/drawingml/2006/main" noGrp="1"/>
          </p:cNvSpPr>
          <p:nvPr/>
        </p:nvSpPr>
        <p:spPr>
          <a:xfrm xmlns:a="http://schemas.openxmlformats.org/drawingml/2006/main">
            <a:off x="8286750" y="2762250"/>
            <a:ext cx="66675" cy="2476500"/>
          </a:xfrm>
          <a:prstGeom xmlns:a="http://schemas.openxmlformats.org/drawingml/2006/main" prst="rect">
            <a:avLst/>
          </a:prstGeom>
          <a:solidFill xmlns:a="http://schemas.openxmlformats.org/drawingml/2006/main">
            <a:srgbClr val="B45309"/>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3-hw-heading">
            <a:extLst xmlns:a="http://schemas.openxmlformats.org/drawingml/2006/main">
              <a:ext uri="{FF2B5EF4-FFF2-40B4-BE49-F238E27FC236}">
                <a16:creationId xmlns:a16="http://schemas.microsoft.com/office/drawing/2014/main" id="{60EB2BF3-6235-4452-B463-748830866C68}"/>
              </a:ext>
            </a:extLst>
          </p:cNvPr>
          <p:cNvSpPr>
            <a:spLocks xmlns:a="http://schemas.openxmlformats.org/drawingml/2006/main" noGrp="1"/>
          </p:cNvSpPr>
          <p:nvPr/>
        </p:nvSpPr>
        <p:spPr>
          <a:xfrm xmlns:a="http://schemas.openxmlformats.org/drawingml/2006/main">
            <a:off x="8496300" y="29337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Output</a:t>
            </a:r>
          </a:p>
        </p:txBody>
      </p:sp>
      <p:sp>
        <p:nvSpPr>
          <p:cNvPr id="27" name="s3-hw-body">
            <a:extLst xmlns:a="http://schemas.openxmlformats.org/drawingml/2006/main">
              <a:ext uri="{FF2B5EF4-FFF2-40B4-BE49-F238E27FC236}">
                <a16:creationId xmlns:a16="http://schemas.microsoft.com/office/drawing/2014/main" id="{4EBD38CB-EC41-4C16-A4F2-E4FA2339D1A4}"/>
              </a:ext>
            </a:extLst>
          </p:cNvPr>
          <p:cNvSpPr>
            <a:spLocks xmlns:a="http://schemas.openxmlformats.org/drawingml/2006/main" noGrp="1"/>
          </p:cNvSpPr>
          <p:nvPr/>
        </p:nvSpPr>
        <p:spPr>
          <a:xfrm xmlns:a="http://schemas.openxmlformats.org/drawingml/2006/main">
            <a:off x="8496300" y="3352800"/>
            <a:ext cx="29337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Store event, pair and member identities. Attach labels only for training and analysis.</a:t>
            </a:r>
          </a:p>
        </p:txBody>
      </p:sp>
      <p:sp>
        <p:nvSpPr>
          <p:cNvPr id="28" name="s3-caption">
            <a:extLst xmlns:a="http://schemas.openxmlformats.org/drawingml/2006/main">
              <a:ext uri="{FF2B5EF4-FFF2-40B4-BE49-F238E27FC236}">
                <a16:creationId xmlns:a16="http://schemas.microsoft.com/office/drawing/2014/main" id="{6EB26F0A-87B4-4FA6-A80E-598444E0E8B5}"/>
              </a:ext>
            </a:extLst>
          </p:cNvPr>
          <p:cNvSpPr>
            <a:spLocks xmlns:a="http://schemas.openxmlformats.org/drawingml/2006/main" noGrp="1"/>
          </p:cNvSpPr>
          <p:nvPr/>
        </p:nvSpPr>
        <p:spPr>
          <a:xfrm xmlns:a="http://schemas.openxmlformats.org/drawingml/2006/main">
            <a:off x="1476375" y="5619750"/>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67"/>
          </a:bodyPr>
          <a:lstStyle xmlns:a="http://schemas.openxmlformats.org/drawingml/2006/main"/>
          <a:p xmlns:a="http://schemas.openxmlformats.org/drawingml/2006/main">
            <a:pPr algn="ctr">
              <a:buNone/>
              <a:defRPr sz="1875" b="1">
                <a:solidFill>
                  <a:srgbClr val="111827"/>
                </a:solidFill>
                <a:latin typeface="Aptos"/>
                <a:ea typeface="Aptos"/>
                <a:cs typeface="Aptos"/>
              </a:defRPr>
            </a:pPr>
            <a:r>
              <a:rPr sz="1875" b="1">
                <a:solidFill>
                  <a:srgbClr val="111827"/>
                </a:solidFill>
                <a:latin typeface="Aptos"/>
                <a:ea typeface="Aptos"/>
                <a:cs typeface="Aptos"/>
              </a:rPr>
              <a:t>Training: same-label pairs. Inference: every finite pair.</a:t>
            </a:r>
          </a:p>
        </p:txBody>
      </p:sp>
    </p:spTree>
    <p:extLst>
      <p:ext uri="{BB962C8B-B14F-4D97-AF65-F5344CB8AC3E}">
        <p14:creationId xmlns:p14="http://schemas.microsoft.com/office/powerpoint/2010/main" val="15262611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PAIR MODEL</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One model evaluation scores one pair</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8</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Input</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Two member representations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One for L and one for 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Declared event context may enter the pair head</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Model</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same model scores every finite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Member encoders share weights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All events reuse one trained network</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Output</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One binary logit per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Sigmoid gives qij</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Maximum qij becomes the event score</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Operational target</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Positive means both pair members carry positive TOB labels.</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output is a pair score. Event aggregation happens afterward.</a:t>
            </a:r>
          </a:p>
        </p:txBody>
      </p:sp>
    </p:spTree>
    <p:extLst>
      <p:ext uri="{BB962C8B-B14F-4D97-AF65-F5344CB8AC3E}">
        <p14:creationId xmlns:p14="http://schemas.microsoft.com/office/powerpoint/2010/main" val="19678427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tatus-3">
            <a:extLst xmlns:a="http://schemas.openxmlformats.org/drawingml/2006/main">
              <a:ext uri="{FF2B5EF4-FFF2-40B4-BE49-F238E27FC236}">
                <a16:creationId xmlns:a16="http://schemas.microsoft.com/office/drawing/2014/main" id="{ADAC0E09-5DFB-43E2-AF41-16B97CEC211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EVENT AGGREGATION</a:t>
            </a:r>
          </a:p>
        </p:txBody>
      </p:sp>
      <p:sp>
        <p:nvSpPr>
          <p:cNvPr id="2" name="title-3">
            <a:extLst xmlns:a="http://schemas.openxmlformats.org/drawingml/2006/main">
              <a:ext uri="{FF2B5EF4-FFF2-40B4-BE49-F238E27FC236}">
                <a16:creationId xmlns:a16="http://schemas.microsoft.com/office/drawing/2014/main" id="{B0581485-ED24-4D59-A5C1-30097A78060D}"/>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largest pair score becomes the event score</a:t>
            </a:r>
          </a:p>
        </p:txBody>
      </p:sp>
      <p:cxnSp>
        <p:nvCxnSpPr>
          <p:cNvPr id="139" name="header-rule-3"/>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3">
            <a:extLst xmlns:a="http://schemas.openxmlformats.org/drawingml/2006/main">
              <a:ext uri="{FF2B5EF4-FFF2-40B4-BE49-F238E27FC236}">
                <a16:creationId xmlns:a16="http://schemas.microsoft.com/office/drawing/2014/main" id="{DA673D27-084C-4264-AF18-FDD0F6F5B5B4}"/>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9</a:t>
            </a:r>
          </a:p>
        </p:txBody>
      </p:sp>
      <p:sp>
        <p:nvSpPr>
          <p:cNvPr id="5" name="s3-step-0-box">
            <a:extLst xmlns:a="http://schemas.openxmlformats.org/drawingml/2006/main">
              <a:ext uri="{FF2B5EF4-FFF2-40B4-BE49-F238E27FC236}">
                <a16:creationId xmlns:a16="http://schemas.microsoft.com/office/drawing/2014/main" id="{D4CF481B-7FD0-43B9-AFCB-6E867EF49ACA}"/>
              </a:ext>
            </a:extLst>
          </p:cNvPr>
          <p:cNvSpPr>
            <a:spLocks xmlns:a="http://schemas.openxmlformats.org/drawingml/2006/main" noGrp="1"/>
          </p:cNvSpPr>
          <p:nvPr/>
        </p:nvSpPr>
        <p:spPr>
          <a:xfrm xmlns:a="http://schemas.openxmlformats.org/drawingml/2006/main">
            <a:off x="628650" y="1638300"/>
            <a:ext cx="2143125"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3-step-0-label">
            <a:extLst xmlns:a="http://schemas.openxmlformats.org/drawingml/2006/main">
              <a:ext uri="{FF2B5EF4-FFF2-40B4-BE49-F238E27FC236}">
                <a16:creationId xmlns:a16="http://schemas.microsoft.com/office/drawing/2014/main" id="{D7294449-52F8-404C-9A3A-8E78F99DCBD4}"/>
              </a:ext>
            </a:extLst>
          </p:cNvPr>
          <p:cNvSpPr>
            <a:spLocks xmlns:a="http://schemas.openxmlformats.org/drawingml/2006/main" noGrp="1"/>
          </p:cNvSpPr>
          <p:nvPr/>
        </p:nvSpPr>
        <p:spPr>
          <a:xfrm xmlns:a="http://schemas.openxmlformats.org/drawingml/2006/main">
            <a:off x="7429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Score pair 1</a:t>
            </a:r>
          </a:p>
        </p:txBody>
      </p:sp>
      <p:sp>
        <p:nvSpPr>
          <p:cNvPr id="7" name="s3-arrow-0">
            <a:extLst xmlns:a="http://schemas.openxmlformats.org/drawingml/2006/main">
              <a:ext uri="{FF2B5EF4-FFF2-40B4-BE49-F238E27FC236}">
                <a16:creationId xmlns:a16="http://schemas.microsoft.com/office/drawing/2014/main" id="{4E35C87C-25DB-4978-A45A-248EB183DD57}"/>
              </a:ext>
            </a:extLst>
          </p:cNvPr>
          <p:cNvSpPr>
            <a:spLocks xmlns:a="http://schemas.openxmlformats.org/drawingml/2006/main" noGrp="1"/>
          </p:cNvSpPr>
          <p:nvPr/>
        </p:nvSpPr>
        <p:spPr>
          <a:xfrm xmlns:a="http://schemas.openxmlformats.org/drawingml/2006/main">
            <a:off x="2800350" y="1752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896"/>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8" name="s3-step-1-box">
            <a:extLst xmlns:a="http://schemas.openxmlformats.org/drawingml/2006/main">
              <a:ext uri="{FF2B5EF4-FFF2-40B4-BE49-F238E27FC236}">
                <a16:creationId xmlns:a16="http://schemas.microsoft.com/office/drawing/2014/main" id="{4B160BC2-2EB2-4131-9C3B-B77934BB9BFB}"/>
              </a:ext>
            </a:extLst>
          </p:cNvPr>
          <p:cNvSpPr>
            <a:spLocks xmlns:a="http://schemas.openxmlformats.org/drawingml/2006/main" noGrp="1"/>
          </p:cNvSpPr>
          <p:nvPr/>
        </p:nvSpPr>
        <p:spPr>
          <a:xfrm xmlns:a="http://schemas.openxmlformats.org/drawingml/2006/main">
            <a:off x="3219450" y="1638300"/>
            <a:ext cx="2143125"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3-step-1-label">
            <a:extLst xmlns:a="http://schemas.openxmlformats.org/drawingml/2006/main">
              <a:ext uri="{FF2B5EF4-FFF2-40B4-BE49-F238E27FC236}">
                <a16:creationId xmlns:a16="http://schemas.microsoft.com/office/drawing/2014/main" id="{4C6847AE-8E2C-44E5-B5D8-25ACBA527946}"/>
              </a:ext>
            </a:extLst>
          </p:cNvPr>
          <p:cNvSpPr>
            <a:spLocks xmlns:a="http://schemas.openxmlformats.org/drawingml/2006/main" noGrp="1"/>
          </p:cNvSpPr>
          <p:nvPr/>
        </p:nvSpPr>
        <p:spPr>
          <a:xfrm xmlns:a="http://schemas.openxmlformats.org/drawingml/2006/main">
            <a:off x="33337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Score all pairs</a:t>
            </a:r>
          </a:p>
        </p:txBody>
      </p:sp>
      <p:sp>
        <p:nvSpPr>
          <p:cNvPr id="10" name="s3-arrow-1">
            <a:extLst xmlns:a="http://schemas.openxmlformats.org/drawingml/2006/main">
              <a:ext uri="{FF2B5EF4-FFF2-40B4-BE49-F238E27FC236}">
                <a16:creationId xmlns:a16="http://schemas.microsoft.com/office/drawing/2014/main" id="{32A36E44-BF69-4265-B40E-66568A4240B9}"/>
              </a:ext>
            </a:extLst>
          </p:cNvPr>
          <p:cNvSpPr>
            <a:spLocks xmlns:a="http://schemas.openxmlformats.org/drawingml/2006/main" noGrp="1"/>
          </p:cNvSpPr>
          <p:nvPr/>
        </p:nvSpPr>
        <p:spPr>
          <a:xfrm xmlns:a="http://schemas.openxmlformats.org/drawingml/2006/main">
            <a:off x="5391150" y="1752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896"/>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11" name="s3-step-2-box">
            <a:extLst xmlns:a="http://schemas.openxmlformats.org/drawingml/2006/main">
              <a:ext uri="{FF2B5EF4-FFF2-40B4-BE49-F238E27FC236}">
                <a16:creationId xmlns:a16="http://schemas.microsoft.com/office/drawing/2014/main" id="{D36B7A58-F791-45CA-ABEF-388B0C49FDBB}"/>
              </a:ext>
            </a:extLst>
          </p:cNvPr>
          <p:cNvSpPr>
            <a:spLocks xmlns:a="http://schemas.openxmlformats.org/drawingml/2006/main" noGrp="1"/>
          </p:cNvSpPr>
          <p:nvPr/>
        </p:nvSpPr>
        <p:spPr>
          <a:xfrm xmlns:a="http://schemas.openxmlformats.org/drawingml/2006/main">
            <a:off x="5810250" y="1638300"/>
            <a:ext cx="2143125" cy="666750"/>
          </a:xfrm>
          <a:prstGeom xmlns:a="http://schemas.openxmlformats.org/drawingml/2006/main" prst="roundRect">
            <a:avLst>
              <a:gd name="adj" fmla="val 11429"/>
            </a:avLst>
          </a:prstGeom>
          <a:solidFill xmlns:a="http://schemas.openxmlformats.org/drawingml/2006/main">
            <a:srgbClr val="EAF1FF"/>
          </a:solidFill>
          <a:ln xmlns:a="http://schemas.openxmlformats.org/drawingml/2006/main" w="9525">
            <a:solidFill>
              <a:srgbClr val="EAF1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3-step-2-label">
            <a:extLst xmlns:a="http://schemas.openxmlformats.org/drawingml/2006/main">
              <a:ext uri="{FF2B5EF4-FFF2-40B4-BE49-F238E27FC236}">
                <a16:creationId xmlns:a16="http://schemas.microsoft.com/office/drawing/2014/main" id="{30C0E529-2CB8-4F57-A51D-F2E0204D2838}"/>
              </a:ext>
            </a:extLst>
          </p:cNvPr>
          <p:cNvSpPr>
            <a:spLocks xmlns:a="http://schemas.openxmlformats.org/drawingml/2006/main" noGrp="1"/>
          </p:cNvSpPr>
          <p:nvPr/>
        </p:nvSpPr>
        <p:spPr>
          <a:xfrm xmlns:a="http://schemas.openxmlformats.org/drawingml/2006/main">
            <a:off x="59245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Take maximum</a:t>
            </a:r>
          </a:p>
        </p:txBody>
      </p:sp>
      <p:sp>
        <p:nvSpPr>
          <p:cNvPr id="13" name="s3-arrow-2">
            <a:extLst xmlns:a="http://schemas.openxmlformats.org/drawingml/2006/main">
              <a:ext uri="{FF2B5EF4-FFF2-40B4-BE49-F238E27FC236}">
                <a16:creationId xmlns:a16="http://schemas.microsoft.com/office/drawing/2014/main" id="{322D7524-3469-4AF7-A5F1-57C093BC1A61}"/>
              </a:ext>
            </a:extLst>
          </p:cNvPr>
          <p:cNvSpPr>
            <a:spLocks xmlns:a="http://schemas.openxmlformats.org/drawingml/2006/main" noGrp="1"/>
          </p:cNvSpPr>
          <p:nvPr/>
        </p:nvSpPr>
        <p:spPr>
          <a:xfrm xmlns:a="http://schemas.openxmlformats.org/drawingml/2006/main">
            <a:off x="7981950" y="1752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896"/>
          </a:bodyPr>
          <a:lstStyle xmlns:a="http://schemas.openxmlformats.org/drawingml/2006/main"/>
          <a:p xmlns:a="http://schemas.openxmlformats.org/drawingml/2006/main">
            <a:pPr algn="ctr">
              <a:buNone/>
              <a:defRPr sz="2550" b="1">
                <a:solidFill>
                  <a:srgbClr val="2563EB"/>
                </a:solidFill>
                <a:latin typeface="Aptos"/>
                <a:ea typeface="Aptos"/>
                <a:cs typeface="Aptos"/>
              </a:defRPr>
            </a:pPr>
            <a:r>
              <a:rPr sz="2550" b="1">
                <a:solidFill>
                  <a:srgbClr val="2563EB"/>
                </a:solidFill>
                <a:latin typeface="Aptos"/>
                <a:ea typeface="Aptos"/>
                <a:cs typeface="Aptos"/>
              </a:rPr>
              <a:t>→</a:t>
            </a:r>
          </a:p>
        </p:txBody>
      </p:sp>
      <p:sp>
        <p:nvSpPr>
          <p:cNvPr id="14" name="s3-step-3-box">
            <a:extLst xmlns:a="http://schemas.openxmlformats.org/drawingml/2006/main">
              <a:ext uri="{FF2B5EF4-FFF2-40B4-BE49-F238E27FC236}">
                <a16:creationId xmlns:a16="http://schemas.microsoft.com/office/drawing/2014/main" id="{4F25F484-378F-4BAF-80EC-634C5B55A72F}"/>
              </a:ext>
            </a:extLst>
          </p:cNvPr>
          <p:cNvSpPr>
            <a:spLocks xmlns:a="http://schemas.openxmlformats.org/drawingml/2006/main" noGrp="1"/>
          </p:cNvSpPr>
          <p:nvPr/>
        </p:nvSpPr>
        <p:spPr>
          <a:xfrm xmlns:a="http://schemas.openxmlformats.org/drawingml/2006/main">
            <a:off x="8401050" y="1638300"/>
            <a:ext cx="2143125" cy="666750"/>
          </a:xfrm>
          <a:prstGeom xmlns:a="http://schemas.openxmlformats.org/drawingml/2006/main" prst="roundRect">
            <a:avLst>
              <a:gd name="adj" fmla="val 11429"/>
            </a:avLst>
          </a:prstGeom>
          <a:solidFill xmlns:a="http://schemas.openxmlformats.org/drawingml/2006/main">
            <a:srgbClr val="E6F7FA"/>
          </a:solidFill>
          <a:ln xmlns:a="http://schemas.openxmlformats.org/drawingml/2006/main" w="9525">
            <a:solidFill>
              <a:srgbClr val="E6F7FA"/>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3-step-3-label">
            <a:extLst xmlns:a="http://schemas.openxmlformats.org/drawingml/2006/main">
              <a:ext uri="{FF2B5EF4-FFF2-40B4-BE49-F238E27FC236}">
                <a16:creationId xmlns:a16="http://schemas.microsoft.com/office/drawing/2014/main" id="{D496778F-2720-4D1A-BBA1-84514C5D602F}"/>
              </a:ext>
            </a:extLst>
          </p:cNvPr>
          <p:cNvSpPr>
            <a:spLocks xmlns:a="http://schemas.openxmlformats.org/drawingml/2006/main" noGrp="1"/>
          </p:cNvSpPr>
          <p:nvPr/>
        </p:nvSpPr>
        <p:spPr>
          <a:xfrm xmlns:a="http://schemas.openxmlformats.org/drawingml/2006/main">
            <a:off x="8515350" y="1819275"/>
            <a:ext cx="1914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ctr">
              <a:buNone/>
              <a:defRPr sz="1575" b="1">
                <a:solidFill>
                  <a:srgbClr val="111827"/>
                </a:solidFill>
                <a:latin typeface="Aptos"/>
                <a:ea typeface="Aptos"/>
                <a:cs typeface="Aptos"/>
              </a:defRPr>
            </a:pPr>
            <a:r>
              <a:rPr sz="1575" b="1">
                <a:solidFill>
                  <a:srgbClr val="111827"/>
                </a:solidFill>
                <a:latin typeface="Aptos"/>
                <a:ea typeface="Aptos"/>
                <a:cs typeface="Aptos"/>
              </a:rPr>
              <a:t>Apply threshold</a:t>
            </a:r>
          </a:p>
        </p:txBody>
      </p:sp>
      <p:sp>
        <p:nvSpPr>
          <p:cNvPr id="16" name="s3-target-box">
            <a:extLst xmlns:a="http://schemas.openxmlformats.org/drawingml/2006/main">
              <a:ext uri="{FF2B5EF4-FFF2-40B4-BE49-F238E27FC236}">
                <a16:creationId xmlns:a16="http://schemas.microsoft.com/office/drawing/2014/main" id="{E7D40B78-2E06-450B-944F-D322AF4BDDB5}"/>
              </a:ext>
            </a:extLst>
          </p:cNvPr>
          <p:cNvSpPr>
            <a:spLocks xmlns:a="http://schemas.openxmlformats.org/drawingml/2006/main" noGrp="1"/>
          </p:cNvSpPr>
          <p:nvPr/>
        </p:nvSpPr>
        <p:spPr>
          <a:xfrm xmlns:a="http://schemas.openxmlformats.org/drawingml/2006/main">
            <a:off x="571500" y="2762250"/>
            <a:ext cx="3333750" cy="2476500"/>
          </a:xfrm>
          <a:prstGeom xmlns:a="http://schemas.openxmlformats.org/drawingml/2006/main" prst="roundRect">
            <a:avLst>
              <a:gd name="adj" fmla="val 3077"/>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3-target-accent">
            <a:extLst xmlns:a="http://schemas.openxmlformats.org/drawingml/2006/main">
              <a:ext uri="{FF2B5EF4-FFF2-40B4-BE49-F238E27FC236}">
                <a16:creationId xmlns:a16="http://schemas.microsoft.com/office/drawing/2014/main" id="{86CC7BD5-C13A-4B0C-87E1-BF39AF455D5A}"/>
              </a:ext>
            </a:extLst>
          </p:cNvPr>
          <p:cNvSpPr>
            <a:spLocks xmlns:a="http://schemas.openxmlformats.org/drawingml/2006/main" noGrp="1"/>
          </p:cNvSpPr>
          <p:nvPr/>
        </p:nvSpPr>
        <p:spPr>
          <a:xfrm xmlns:a="http://schemas.openxmlformats.org/drawingml/2006/main">
            <a:off x="571500" y="2762250"/>
            <a:ext cx="66675" cy="24765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3-target-heading">
            <a:extLst xmlns:a="http://schemas.openxmlformats.org/drawingml/2006/main">
              <a:ext uri="{FF2B5EF4-FFF2-40B4-BE49-F238E27FC236}">
                <a16:creationId xmlns:a16="http://schemas.microsoft.com/office/drawing/2014/main" id="{2008CAD0-DE91-4C23-A6A7-71A9348C6BAA}"/>
              </a:ext>
            </a:extLst>
          </p:cNvPr>
          <p:cNvSpPr>
            <a:spLocks xmlns:a="http://schemas.openxmlformats.org/drawingml/2006/main" noGrp="1"/>
          </p:cNvSpPr>
          <p:nvPr/>
        </p:nvSpPr>
        <p:spPr>
          <a:xfrm xmlns:a="http://schemas.openxmlformats.org/drawingml/2006/main">
            <a:off x="781050" y="29337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Event statistic</a:t>
            </a:r>
          </a:p>
        </p:txBody>
      </p:sp>
      <p:sp>
        <p:nvSpPr>
          <p:cNvPr id="19" name="s3-target-body">
            <a:extLst xmlns:a="http://schemas.openxmlformats.org/drawingml/2006/main">
              <a:ext uri="{FF2B5EF4-FFF2-40B4-BE49-F238E27FC236}">
                <a16:creationId xmlns:a16="http://schemas.microsoft.com/office/drawing/2014/main" id="{91AE12B5-CF57-4C58-813A-AE3F4ACF4372}"/>
              </a:ext>
            </a:extLst>
          </p:cNvPr>
          <p:cNvSpPr>
            <a:spLocks xmlns:a="http://schemas.openxmlformats.org/drawingml/2006/main" noGrp="1"/>
          </p:cNvSpPr>
          <p:nvPr/>
        </p:nvSpPr>
        <p:spPr>
          <a:xfrm xmlns:a="http://schemas.openxmlformats.org/drawingml/2006/main">
            <a:off x="781050" y="3352800"/>
            <a:ext cx="29337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50" b="0">
                <a:solidFill>
                  <a:srgbClr val="111827"/>
                </a:solidFill>
                <a:latin typeface="Aptos"/>
                <a:ea typeface="Aptos"/>
                <a:cs typeface="Aptos"/>
              </a:defRPr>
            </a:pPr>
            <a:r>
              <a:rPr sz="1650" b="0">
                <a:solidFill>
                  <a:srgbClr val="111827"/>
                </a:solidFill>
                <a:latin typeface="Aptos"/>
                <a:ea typeface="Aptos"/>
                <a:cs typeface="Aptos"/>
              </a:rPr>
              <a:t>Qe is the maximum qij among pairs from event e.</a:t>
            </a:r>
          </a:p>
        </p:txBody>
      </p:sp>
      <p:sp>
        <p:nvSpPr>
          <p:cNvPr id="20" name="s3-eval-box">
            <a:extLst xmlns:a="http://schemas.openxmlformats.org/drawingml/2006/main">
              <a:ext uri="{FF2B5EF4-FFF2-40B4-BE49-F238E27FC236}">
                <a16:creationId xmlns:a16="http://schemas.microsoft.com/office/drawing/2014/main" id="{7ADEA2A0-D375-48F7-A673-2DB422BA2EBE}"/>
              </a:ext>
            </a:extLst>
          </p:cNvPr>
          <p:cNvSpPr>
            <a:spLocks xmlns:a="http://schemas.openxmlformats.org/drawingml/2006/main" noGrp="1"/>
          </p:cNvSpPr>
          <p:nvPr/>
        </p:nvSpPr>
        <p:spPr>
          <a:xfrm xmlns:a="http://schemas.openxmlformats.org/drawingml/2006/main">
            <a:off x="4429125" y="2762250"/>
            <a:ext cx="3333750" cy="2476500"/>
          </a:xfrm>
          <a:prstGeom xmlns:a="http://schemas.openxmlformats.org/drawingml/2006/main" prst="roundRect">
            <a:avLst>
              <a:gd name="adj" fmla="val 3077"/>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3-eval-accent">
            <a:extLst xmlns:a="http://schemas.openxmlformats.org/drawingml/2006/main">
              <a:ext uri="{FF2B5EF4-FFF2-40B4-BE49-F238E27FC236}">
                <a16:creationId xmlns:a16="http://schemas.microsoft.com/office/drawing/2014/main" id="{6024F5A9-DBA6-4D48-BF63-7DD349A4801E}"/>
              </a:ext>
            </a:extLst>
          </p:cNvPr>
          <p:cNvSpPr>
            <a:spLocks xmlns:a="http://schemas.openxmlformats.org/drawingml/2006/main" noGrp="1"/>
          </p:cNvSpPr>
          <p:nvPr/>
        </p:nvSpPr>
        <p:spPr>
          <a:xfrm xmlns:a="http://schemas.openxmlformats.org/drawingml/2006/main">
            <a:off x="4429125" y="2762250"/>
            <a:ext cx="66675" cy="247650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3-eval-heading">
            <a:extLst xmlns:a="http://schemas.openxmlformats.org/drawingml/2006/main">
              <a:ext uri="{FF2B5EF4-FFF2-40B4-BE49-F238E27FC236}">
                <a16:creationId xmlns:a16="http://schemas.microsoft.com/office/drawing/2014/main" id="{C5857E15-930C-4790-9A79-295FF410451F}"/>
              </a:ext>
            </a:extLst>
          </p:cNvPr>
          <p:cNvSpPr>
            <a:spLocks xmlns:a="http://schemas.openxmlformats.org/drawingml/2006/main" noGrp="1"/>
          </p:cNvSpPr>
          <p:nvPr/>
        </p:nvSpPr>
        <p:spPr>
          <a:xfrm xmlns:a="http://schemas.openxmlformats.org/drawingml/2006/main">
            <a:off x="4638675" y="29337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No-pair events</a:t>
            </a:r>
          </a:p>
        </p:txBody>
      </p:sp>
      <p:sp>
        <p:nvSpPr>
          <p:cNvPr id="23" name="s3-eval-body">
            <a:extLst xmlns:a="http://schemas.openxmlformats.org/drawingml/2006/main">
              <a:ext uri="{FF2B5EF4-FFF2-40B4-BE49-F238E27FC236}">
                <a16:creationId xmlns:a16="http://schemas.microsoft.com/office/drawing/2014/main" id="{7D0D95BC-1224-4B96-897B-C28DFEEC6C16}"/>
              </a:ext>
            </a:extLst>
          </p:cNvPr>
          <p:cNvSpPr>
            <a:spLocks xmlns:a="http://schemas.openxmlformats.org/drawingml/2006/main" noGrp="1"/>
          </p:cNvSpPr>
          <p:nvPr/>
        </p:nvSpPr>
        <p:spPr>
          <a:xfrm xmlns:a="http://schemas.openxmlformats.org/drawingml/2006/main">
            <a:off x="4638675" y="3352800"/>
            <a:ext cx="29337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Keep the event in the denominator and assign minus infinity.</a:t>
            </a:r>
          </a:p>
        </p:txBody>
      </p:sp>
      <p:sp>
        <p:nvSpPr>
          <p:cNvPr id="24" name="s3-hw-box">
            <a:extLst xmlns:a="http://schemas.openxmlformats.org/drawingml/2006/main">
              <a:ext uri="{FF2B5EF4-FFF2-40B4-BE49-F238E27FC236}">
                <a16:creationId xmlns:a16="http://schemas.microsoft.com/office/drawing/2014/main" id="{70211091-5E44-42EA-86AB-6BCCF7969EF3}"/>
              </a:ext>
            </a:extLst>
          </p:cNvPr>
          <p:cNvSpPr>
            <a:spLocks xmlns:a="http://schemas.openxmlformats.org/drawingml/2006/main" noGrp="1"/>
          </p:cNvSpPr>
          <p:nvPr/>
        </p:nvSpPr>
        <p:spPr>
          <a:xfrm xmlns:a="http://schemas.openxmlformats.org/drawingml/2006/main">
            <a:off x="8286750" y="2762250"/>
            <a:ext cx="3333750" cy="2476500"/>
          </a:xfrm>
          <a:prstGeom xmlns:a="http://schemas.openxmlformats.org/drawingml/2006/main" prst="roundRect">
            <a:avLst>
              <a:gd name="adj" fmla="val 3077"/>
            </a:avLst>
          </a:prstGeom>
          <a:solidFill xmlns:a="http://schemas.openxmlformats.org/drawingml/2006/main">
            <a:srgbClr val="FFF4DE"/>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s3-hw-accent">
            <a:extLst xmlns:a="http://schemas.openxmlformats.org/drawingml/2006/main">
              <a:ext uri="{FF2B5EF4-FFF2-40B4-BE49-F238E27FC236}">
                <a16:creationId xmlns:a16="http://schemas.microsoft.com/office/drawing/2014/main" id="{4460E505-E146-4BF4-910D-2951D0282468}"/>
              </a:ext>
            </a:extLst>
          </p:cNvPr>
          <p:cNvSpPr>
            <a:spLocks xmlns:a="http://schemas.openxmlformats.org/drawingml/2006/main" noGrp="1"/>
          </p:cNvSpPr>
          <p:nvPr/>
        </p:nvSpPr>
        <p:spPr>
          <a:xfrm xmlns:a="http://schemas.openxmlformats.org/drawingml/2006/main">
            <a:off x="8286750" y="2762250"/>
            <a:ext cx="66675" cy="2476500"/>
          </a:xfrm>
          <a:prstGeom xmlns:a="http://schemas.openxmlformats.org/drawingml/2006/main" prst="rect">
            <a:avLst/>
          </a:prstGeom>
          <a:solidFill xmlns:a="http://schemas.openxmlformats.org/drawingml/2006/main">
            <a:srgbClr val="B45309"/>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3-hw-heading">
            <a:extLst xmlns:a="http://schemas.openxmlformats.org/drawingml/2006/main">
              <a:ext uri="{FF2B5EF4-FFF2-40B4-BE49-F238E27FC236}">
                <a16:creationId xmlns:a16="http://schemas.microsoft.com/office/drawing/2014/main" id="{60EB2BF3-6235-4452-B463-748830866C68}"/>
              </a:ext>
            </a:extLst>
          </p:cNvPr>
          <p:cNvSpPr>
            <a:spLocks xmlns:a="http://schemas.openxmlformats.org/drawingml/2006/main" noGrp="1"/>
          </p:cNvSpPr>
          <p:nvPr/>
        </p:nvSpPr>
        <p:spPr>
          <a:xfrm xmlns:a="http://schemas.openxmlformats.org/drawingml/2006/main">
            <a:off x="8496300" y="29337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Decision</a:t>
            </a:r>
          </a:p>
        </p:txBody>
      </p:sp>
      <p:sp>
        <p:nvSpPr>
          <p:cNvPr id="27" name="s3-hw-body">
            <a:extLst xmlns:a="http://schemas.openxmlformats.org/drawingml/2006/main">
              <a:ext uri="{FF2B5EF4-FFF2-40B4-BE49-F238E27FC236}">
                <a16:creationId xmlns:a16="http://schemas.microsoft.com/office/drawing/2014/main" id="{4EBD38CB-EC41-4C16-A4F2-E4FA2339D1A4}"/>
              </a:ext>
            </a:extLst>
          </p:cNvPr>
          <p:cNvSpPr>
            <a:spLocks xmlns:a="http://schemas.openxmlformats.org/drawingml/2006/main" noGrp="1"/>
          </p:cNvSpPr>
          <p:nvPr/>
        </p:nvSpPr>
        <p:spPr>
          <a:xfrm xmlns:a="http://schemas.openxmlformats.org/drawingml/2006/main">
            <a:off x="8496300" y="3352800"/>
            <a:ext cx="29337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event passes when its finite score is at least the model threshold.</a:t>
            </a:r>
          </a:p>
        </p:txBody>
      </p:sp>
      <p:sp>
        <p:nvSpPr>
          <p:cNvPr id="28" name="s3-caption">
            <a:extLst xmlns:a="http://schemas.openxmlformats.org/drawingml/2006/main">
              <a:ext uri="{FF2B5EF4-FFF2-40B4-BE49-F238E27FC236}">
                <a16:creationId xmlns:a16="http://schemas.microsoft.com/office/drawing/2014/main" id="{6EB26F0A-87B4-4FA6-A80E-598444E0E8B5}"/>
              </a:ext>
            </a:extLst>
          </p:cNvPr>
          <p:cNvSpPr>
            <a:spLocks xmlns:a="http://schemas.openxmlformats.org/drawingml/2006/main" noGrp="1"/>
          </p:cNvSpPr>
          <p:nvPr/>
        </p:nvSpPr>
        <p:spPr>
          <a:xfrm xmlns:a="http://schemas.openxmlformats.org/drawingml/2006/main">
            <a:off x="1476375" y="5619750"/>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662"/>
          </a:bodyPr>
          <a:lstStyle xmlns:a="http://schemas.openxmlformats.org/drawingml/2006/main"/>
          <a:p xmlns:a="http://schemas.openxmlformats.org/drawingml/2006/main">
            <a:pPr algn="ctr">
              <a:buNone/>
              <a:defRPr sz="1875" b="1">
                <a:solidFill>
                  <a:srgbClr val="111827"/>
                </a:solidFill>
                <a:latin typeface="Aptos"/>
                <a:ea typeface="Aptos"/>
                <a:cs typeface="Aptos"/>
              </a:defRPr>
            </a:pPr>
            <a:r>
              <a:rPr sz="1875" b="1">
                <a:solidFill>
                  <a:srgbClr val="111827"/>
                </a:solidFill>
                <a:latin typeface="Aptos"/>
                <a:ea typeface="Aptos"/>
                <a:cs typeface="Aptos"/>
              </a:rPr>
              <a:t>Maximum aggregation implements the rule that any sufficiently strong pair can accept the event.</a:t>
            </a:r>
          </a:p>
        </p:txBody>
      </p:sp>
    </p:spTree>
    <p:extLst>
      <p:ext uri="{BB962C8B-B14F-4D97-AF65-F5344CB8AC3E}">
        <p14:creationId xmlns:p14="http://schemas.microsoft.com/office/powerpoint/2010/main" val="15262611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FAIR COMPARISON</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Each method receives its own threshold</a:t>
            </a:r>
          </a:p>
        </p:txBody>
      </p:sp>
      <p:cxnSp>
        <p:nvCxnSpPr>
          <p:cNvPr id="125"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10</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Deterministic baseline</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Event score in raw MeV</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Second-highest measured pT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One threshold calibrated on background events</a:t>
            </a: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Learned pair model</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Event score between zero and one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Maximum pair probability</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 separate threshold for each trained model seed</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693"/>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numerical thresholds may differ. Fairness comes from the same event-level background FPR limit of 0.5%.</a:t>
            </a:r>
          </a:p>
        </p:txBody>
      </p:sp>
    </p:spTree>
    <p:extLst>
      <p:ext uri="{BB962C8B-B14F-4D97-AF65-F5344CB8AC3E}">
        <p14:creationId xmlns:p14="http://schemas.microsoft.com/office/powerpoint/2010/main" val="8323859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ESTABLISHED FOUNDATION</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data and comparison machinery are ready</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11</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Data contract</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321,426 source events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Operational pair labels verified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Frozen event split and manifest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No-pair events preserved</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Pair pipeline</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Same-event top-four pairs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Traceable pair identities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Complete pair predictions required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Maximum event reconstruction</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Evaluation contract</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Event-level 0.5% FPR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Independent thresholds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Cross-fitted checkpoint selection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Test outcomes remain protected</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Scientific limit</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257"/>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Operational labels are supported, but unique generator-tau identity and inclusive two-truth-pT plots are unavailable.</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These checks support the experiment without becoming the main subject of the talk.</a:t>
            </a:r>
          </a:p>
        </p:txBody>
      </p:sp>
    </p:spTree>
    <p:extLst>
      <p:ext uri="{BB962C8B-B14F-4D97-AF65-F5344CB8AC3E}">
        <p14:creationId xmlns:p14="http://schemas.microsoft.com/office/powerpoint/2010/main" val="19678427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pT-ONLY DIAGNOSTIC</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A tiny network tested the learned-pair pipeline</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12</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Pair input</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[higher measured pT, lower measured pT]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Raw MeV values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Training-fitted column z-scoring</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Architecture</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2 inputs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8 ReLU hidden units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1 binary output logit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Maximum pair aggregation</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Training</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1,143,864 training pairs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20 epochs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Seeds 42, 123 and 456</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One checkpoint each epoch</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Target</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Both TOBs positive versus all other pairs, using unweighted binary cross-entropy.</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This fixed configuration tested infrastructure rather than searching for a final model.</a:t>
            </a:r>
          </a:p>
        </p:txBody>
      </p:sp>
    </p:spTree>
    <p:extLst>
      <p:ext uri="{BB962C8B-B14F-4D97-AF65-F5344CB8AC3E}">
        <p14:creationId xmlns:p14="http://schemas.microsoft.com/office/powerpoint/2010/main" val="196784276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WHY THIS CONTROL</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small network isolates pipeline failures</a:t>
            </a:r>
          </a:p>
        </p:txBody>
      </p:sp>
      <p:cxnSp>
        <p:nvCxnSpPr>
          <p:cNvPr id="125"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13</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What it tests</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Labels reach training correctly</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Normalization uses training only</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Scores aggregate by event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Thresholds calibrate independently</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Runs reproduce across seeds</a:t>
            </a: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What it does not decide</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Best calorimeter representation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Best target or loss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Best architecture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Best aggregation rule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Final physics performance</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11"/>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diagnostic decides whether later experiments can be trusted. It does not choose the final pair model.</a:t>
            </a:r>
          </a:p>
        </p:txBody>
      </p:sp>
    </p:spTree>
    <p:extLst>
      <p:ext uri="{BB962C8B-B14F-4D97-AF65-F5344CB8AC3E}">
        <p14:creationId xmlns:p14="http://schemas.microsoft.com/office/powerpoint/2010/main" val="8323859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STAGE 6 — TRAINING COMPLETE</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84"/>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All three seeds completed stable full-population training</a:t>
            </a:r>
          </a:p>
        </p:txBody>
      </p:sp>
      <p:cxnSp>
        <p:nvCxnSpPr>
          <p:cNvPr id="141"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14</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Training error — lower is better</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endParaRP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Production integrity</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1,143,864 pairs per seed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89,380 updates per seed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20 checkpoints per seed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All finite-value checks passed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All 60 hashes matched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Same runner and environment</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All three runs learned and converged; Phase 7 still decides which checkpoint to retain.</a:t>
            </a:r>
          </a:p>
        </p:txBody>
      </p:sp>
      <p:graphicFrame>
        <p:nvGraphicFramePr>
          <p:cNvPr id="153" name="phase6-training-bce-chart-v13"/>
          <p:cNvGraphicFramePr/>
          <p:nvPr/>
        </p:nvGraphicFramePr>
        <p:xfrm>
          <a:off xmlns:a="http://schemas.openxmlformats.org/drawingml/2006/main" x="876300" y="2076450"/>
          <a:ext xmlns:a="http://schemas.openxmlformats.org/drawingml/2006/main" cx="4648200" cy="3028950"/>
        </p:xfrm>
        <a:graphic xmlns:a="http://schemas.openxmlformats.org/drawingml/2006/main">
          <a:graphicData uri="http://schemas.openxmlformats.org/drawingml/2006/chart">
            <c:chart xmlns:r="http://schemas.openxmlformats.org/officeDocument/2006/relationships" xmlns:c="http://schemas.openxmlformats.org/drawingml/2006/chart" r:id="R819b4832971a4742"/>
          </a:graphicData>
        </a:graphic>
      </p:graphicFrame>
    </p:spTree>
    <p:extLst>
      <p:ext uri="{BB962C8B-B14F-4D97-AF65-F5344CB8AC3E}">
        <p14:creationId xmlns:p14="http://schemas.microsoft.com/office/powerpoint/2010/main" val="8323859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tatus-9">
            <a:extLst xmlns:a="http://schemas.openxmlformats.org/drawingml/2006/main">
              <a:ext uri="{FF2B5EF4-FFF2-40B4-BE49-F238E27FC236}">
                <a16:creationId xmlns:a16="http://schemas.microsoft.com/office/drawing/2014/main" id="{BF92F502-7260-4C2F-9E39-79B114495680}"/>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5309"/>
                </a:solidFill>
                <a:latin typeface="Aptos"/>
                <a:ea typeface="Aptos"/>
                <a:cs typeface="Aptos"/>
              </a:defRPr>
            </a:pPr>
            <a:r>
              <a:rPr sz="1125" b="1">
                <a:solidFill>
                  <a:srgbClr val="B45309"/>
                </a:solidFill>
                <a:latin typeface="Aptos"/>
                <a:ea typeface="Aptos"/>
                <a:cs typeface="Aptos"/>
              </a:rPr>
              <a:t>STAGE 7 — COMPLETE</a:t>
            </a:r>
          </a:p>
        </p:txBody>
      </p:sp>
      <p:sp>
        <p:nvSpPr>
          <p:cNvPr id="2" name="title-9">
            <a:extLst xmlns:a="http://schemas.openxmlformats.org/drawingml/2006/main">
              <a:ext uri="{FF2B5EF4-FFF2-40B4-BE49-F238E27FC236}">
                <a16:creationId xmlns:a16="http://schemas.microsoft.com/office/drawing/2014/main" id="{2757CDF9-FB98-41D7-9829-5A8CAC0A5F8E}"/>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Validation performance selected different epochs</a:t>
            </a:r>
          </a:p>
        </p:txBody>
      </p:sp>
      <p:cxnSp>
        <p:nvCxnSpPr>
          <p:cNvPr id="145" name="header-rule-9"/>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9">
            <a:extLst xmlns:a="http://schemas.openxmlformats.org/drawingml/2006/main">
              <a:ext uri="{FF2B5EF4-FFF2-40B4-BE49-F238E27FC236}">
                <a16:creationId xmlns:a16="http://schemas.microsoft.com/office/drawing/2014/main" id="{6415D853-4EE7-4444-B2A3-34B4027CA9C6}"/>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15</a:t>
            </a:r>
          </a:p>
        </p:txBody>
      </p:sp>
      <p:sp>
        <p:nvSpPr>
          <p:cNvPr id="5" name="s9-d1-box">
            <a:extLst xmlns:a="http://schemas.openxmlformats.org/drawingml/2006/main">
              <a:ext uri="{FF2B5EF4-FFF2-40B4-BE49-F238E27FC236}">
                <a16:creationId xmlns:a16="http://schemas.microsoft.com/office/drawing/2014/main" id="{BEE6999D-6A9A-4FC4-99C6-CF2859E89EA1}"/>
              </a:ext>
            </a:extLst>
          </p:cNvPr>
          <p:cNvSpPr>
            <a:spLocks xmlns:a="http://schemas.openxmlformats.org/drawingml/2006/main" noGrp="1"/>
          </p:cNvSpPr>
          <p:nvPr/>
        </p:nvSpPr>
        <p:spPr>
          <a:xfrm xmlns:a="http://schemas.openxmlformats.org/drawingml/2006/main">
            <a:off x="571500" y="1476375"/>
            <a:ext cx="7191375" cy="3810000"/>
          </a:xfrm>
          <a:prstGeom xmlns:a="http://schemas.openxmlformats.org/drawingml/2006/main" prst="roundRect">
            <a:avLst>
              <a:gd name="adj" fmla="val 2286"/>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9-d1-heading">
            <a:extLst xmlns:a="http://schemas.openxmlformats.org/drawingml/2006/main">
              <a:ext uri="{FF2B5EF4-FFF2-40B4-BE49-F238E27FC236}">
                <a16:creationId xmlns:a16="http://schemas.microsoft.com/office/drawing/2014/main" id="{D3DF23C7-D26D-415E-B29B-35218620F7DE}"/>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875" b="1">
                <a:solidFill>
                  <a:srgbClr val="111827"/>
                </a:solidFill>
                <a:latin typeface="Aptos"/>
                <a:ea typeface="Aptos"/>
                <a:cs typeface="Aptos"/>
              </a:defRPr>
            </a:pPr>
            <a:endParaRPr/>
          </a:p>
        </p:txBody>
      </p:sp>
      <p:sp>
        <p:nvSpPr>
          <p:cNvPr id="8" name="s9-d1-body">
            <a:extLst xmlns:a="http://schemas.openxmlformats.org/drawingml/2006/main">
              <a:ext uri="{FF2B5EF4-FFF2-40B4-BE49-F238E27FC236}">
                <a16:creationId xmlns:a16="http://schemas.microsoft.com/office/drawing/2014/main" id="{425CAC7D-1006-4B3E-BDCE-184C46EEAC3B}"/>
              </a:ext>
            </a:extLst>
          </p:cNvPr>
          <p:cNvSpPr>
            <a:spLocks xmlns:a="http://schemas.openxmlformats.org/drawingml/2006/main" noGrp="1"/>
          </p:cNvSpPr>
          <p:nvPr/>
        </p:nvSpPr>
        <p:spPr>
          <a:xfrm xmlns:a="http://schemas.openxmlformats.org/drawingml/2006/main">
            <a:off x="781050" y="2066925"/>
            <a:ext cx="2933700" cy="3086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endParaRPr/>
          </a:p>
        </p:txBody>
      </p:sp>
      <p:sp>
        <p:nvSpPr>
          <p:cNvPr id="11" name="s9-d2-heading">
            <a:extLst xmlns:a="http://schemas.openxmlformats.org/drawingml/2006/main">
              <a:ext uri="{FF2B5EF4-FFF2-40B4-BE49-F238E27FC236}">
                <a16:creationId xmlns:a16="http://schemas.microsoft.com/office/drawing/2014/main" id="{8A64CFDE-7B34-49D1-9550-3792C1A3FE26}"/>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875" b="1">
                <a:solidFill>
                  <a:srgbClr val="111827"/>
                </a:solidFill>
                <a:latin typeface="Aptos"/>
                <a:ea typeface="Aptos"/>
                <a:cs typeface="Aptos"/>
              </a:defRPr>
            </a:pPr>
            <a:endParaRPr/>
          </a:p>
        </p:txBody>
      </p:sp>
      <p:sp>
        <p:nvSpPr>
          <p:cNvPr id="12" name="s9-d2-body">
            <a:extLst xmlns:a="http://schemas.openxmlformats.org/drawingml/2006/main">
              <a:ext uri="{FF2B5EF4-FFF2-40B4-BE49-F238E27FC236}">
                <a16:creationId xmlns:a16="http://schemas.microsoft.com/office/drawing/2014/main" id="{EAF87FE2-0420-41DE-B31D-8380DF3938D9}"/>
              </a:ext>
            </a:extLst>
          </p:cNvPr>
          <p:cNvSpPr>
            <a:spLocks xmlns:a="http://schemas.openxmlformats.org/drawingml/2006/main" noGrp="1"/>
          </p:cNvSpPr>
          <p:nvPr/>
        </p:nvSpPr>
        <p:spPr>
          <a:xfrm xmlns:a="http://schemas.openxmlformats.org/drawingml/2006/main">
            <a:off x="4638675" y="2066925"/>
            <a:ext cx="2933700" cy="3086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endParaRPr/>
          </a:p>
        </p:txBody>
      </p:sp>
      <p:sp>
        <p:nvSpPr>
          <p:cNvPr id="13" name="s9-rule-box">
            <a:extLst xmlns:a="http://schemas.openxmlformats.org/drawingml/2006/main">
              <a:ext uri="{FF2B5EF4-FFF2-40B4-BE49-F238E27FC236}">
                <a16:creationId xmlns:a16="http://schemas.microsoft.com/office/drawing/2014/main" id="{9F6D4831-9C97-4880-8E17-5643C28890D7}"/>
              </a:ext>
            </a:extLst>
          </p:cNvPr>
          <p:cNvSpPr>
            <a:spLocks xmlns:a="http://schemas.openxmlformats.org/drawingml/2006/main" noGrp="1"/>
          </p:cNvSpPr>
          <p:nvPr/>
        </p:nvSpPr>
        <p:spPr>
          <a:xfrm xmlns:a="http://schemas.openxmlformats.org/drawingml/2006/main">
            <a:off x="8286750" y="1476375"/>
            <a:ext cx="3333750" cy="3810000"/>
          </a:xfrm>
          <a:prstGeom xmlns:a="http://schemas.openxmlformats.org/drawingml/2006/main" prst="roundRect">
            <a:avLst>
              <a:gd name="adj" fmla="val 2286"/>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9-rule-accent">
            <a:extLst xmlns:a="http://schemas.openxmlformats.org/drawingml/2006/main">
              <a:ext uri="{FF2B5EF4-FFF2-40B4-BE49-F238E27FC236}">
                <a16:creationId xmlns:a16="http://schemas.microsoft.com/office/drawing/2014/main" id="{0729D4AE-2ACC-4ACB-BF83-E33E6F3390EB}"/>
              </a:ext>
            </a:extLst>
          </p:cNvPr>
          <p:cNvSpPr>
            <a:spLocks xmlns:a="http://schemas.openxmlformats.org/drawingml/2006/main" noGrp="1"/>
          </p:cNvSpPr>
          <p:nvPr/>
        </p:nvSpPr>
        <p:spPr>
          <a:xfrm xmlns:a="http://schemas.openxmlformats.org/drawingml/2006/main">
            <a:off x="8286750" y="1476375"/>
            <a:ext cx="66675" cy="381000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9-rule-heading">
            <a:extLst xmlns:a="http://schemas.openxmlformats.org/drawingml/2006/main">
              <a:ext uri="{FF2B5EF4-FFF2-40B4-BE49-F238E27FC236}">
                <a16:creationId xmlns:a16="http://schemas.microsoft.com/office/drawing/2014/main" id="{3BACE3C8-557E-4E69-8D75-64722E7396F9}"/>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Selected checkpoints</a:t>
            </a:r>
          </a:p>
        </p:txBody>
      </p:sp>
      <p:sp>
        <p:nvSpPr>
          <p:cNvPr id="16" name="s9-rule-body">
            <a:extLst xmlns:a="http://schemas.openxmlformats.org/drawingml/2006/main">
              <a:ext uri="{FF2B5EF4-FFF2-40B4-BE49-F238E27FC236}">
                <a16:creationId xmlns:a16="http://schemas.microsoft.com/office/drawing/2014/main" id="{B02C7BB7-6F12-49F7-B194-BF43174B16B9}"/>
              </a:ext>
            </a:extLst>
          </p:cNvPr>
          <p:cNvSpPr>
            <a:spLocks xmlns:a="http://schemas.openxmlformats.org/drawingml/2006/main" noGrp="1"/>
          </p:cNvSpPr>
          <p:nvPr/>
        </p:nvSpPr>
        <p:spPr>
          <a:xfrm xmlns:a="http://schemas.openxmlformats.org/drawingml/2006/main">
            <a:off x="8496300" y="2066925"/>
            <a:ext cx="2933700" cy="3086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Seed 42 → epoch 4</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57.16%</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Seed 123 → epoch 5</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57.85%</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Seed 456 → epoch 18</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58.01%</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3,651 eligible signal events</a:t>
            </a:r>
          </a:p>
        </p:txBody>
      </p:sp>
      <p:sp>
        <p:nvSpPr>
          <p:cNvPr id="17" name="s9-limit">
            <a:extLst xmlns:a="http://schemas.openxmlformats.org/drawingml/2006/main">
              <a:ext uri="{FF2B5EF4-FFF2-40B4-BE49-F238E27FC236}">
                <a16:creationId xmlns:a16="http://schemas.microsoft.com/office/drawing/2014/main" id="{23190148-E1A9-47A1-B50E-A820A4465CC6}"/>
              </a:ext>
            </a:extLst>
          </p:cNvPr>
          <p:cNvSpPr>
            <a:spLocks xmlns:a="http://schemas.openxmlformats.org/drawingml/2006/main" noGrp="1"/>
          </p:cNvSpPr>
          <p:nvPr/>
        </p:nvSpPr>
        <p:spPr>
          <a:xfrm xmlns:a="http://schemas.openxmlformats.org/drawingml/2006/main">
            <a:off x="1190625" y="5600700"/>
            <a:ext cx="9810750" cy="523875"/>
          </a:xfrm>
          <a:prstGeom xmlns:a="http://schemas.openxmlformats.org/drawingml/2006/main" prst="roundRect">
            <a:avLst>
              <a:gd name="adj" fmla="val 14545"/>
            </a:avLst>
          </a:prstGeom>
          <a:solidFill xmlns:a="http://schemas.openxmlformats.org/drawingml/2006/main">
            <a:srgbClr val="FFF4DE"/>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9-limit-text">
            <a:extLst xmlns:a="http://schemas.openxmlformats.org/drawingml/2006/main">
              <a:ext uri="{FF2B5EF4-FFF2-40B4-BE49-F238E27FC236}">
                <a16:creationId xmlns:a16="http://schemas.microsoft.com/office/drawing/2014/main" id="{DBCCD8D6-9329-494D-BEE7-508BD40ED63B}"/>
              </a:ext>
            </a:extLst>
          </p:cNvPr>
          <p:cNvSpPr>
            <a:spLocks xmlns:a="http://schemas.openxmlformats.org/drawingml/2006/main" noGrp="1"/>
          </p:cNvSpPr>
          <p:nvPr/>
        </p:nvSpPr>
        <p:spPr>
          <a:xfrm xmlns:a="http://schemas.openxmlformats.org/drawingml/2006/main">
            <a:off x="1428750" y="5743575"/>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p xmlns:a="http://schemas.openxmlformats.org/drawingml/2006/main">
            <a:pPr algn="ctr">
              <a:buNone/>
              <a:defRPr sz="1650" b="1">
                <a:solidFill>
                  <a:srgbClr val="B45309"/>
                </a:solidFill>
                <a:latin typeface="Aptos"/>
                <a:ea typeface="Aptos"/>
                <a:cs typeface="Aptos"/>
              </a:defRPr>
            </a:pPr>
            <a:r>
              <a:rPr sz="1650" b="1">
                <a:solidFill>
                  <a:srgbClr val="B45309"/>
                </a:solidFill>
                <a:latin typeface="Aptos"/>
                <a:ea typeface="Aptos"/>
                <a:cs typeface="Aptos"/>
              </a:rPr>
              <a:t>Cross-fitted validation selected one checkpoint per seed; the final epoch was not automatically retained.</a:t>
            </a:r>
          </a:p>
        </p:txBody>
      </p:sp>
      <p:graphicFrame>
        <p:nvGraphicFramePr>
          <p:cNvPr id="158" name="phase7-checkpoint-efficiency-v13"/>
          <p:cNvGraphicFramePr/>
          <p:nvPr/>
        </p:nvGraphicFramePr>
        <p:xfrm>
          <a:off xmlns:a="http://schemas.openxmlformats.org/drawingml/2006/main" x="781050" y="1809750"/>
          <a:ext xmlns:a="http://schemas.openxmlformats.org/drawingml/2006/main" cx="7239000" cy="3333750"/>
        </p:xfrm>
        <a:graphic xmlns:a="http://schemas.openxmlformats.org/drawingml/2006/main">
          <a:graphicData uri="http://schemas.openxmlformats.org/drawingml/2006/chart">
            <c:chart xmlns:r="http://schemas.openxmlformats.org/officeDocument/2006/relationships" xmlns:c="http://schemas.openxmlformats.org/drawingml/2006/chart" r:id="Ra677c2ba45714c23"/>
          </a:graphicData>
        </a:graphic>
      </p:graphicFrame>
    </p:spTree>
    <p:extLst>
      <p:ext uri="{BB962C8B-B14F-4D97-AF65-F5344CB8AC3E}">
        <p14:creationId xmlns:p14="http://schemas.microsoft.com/office/powerpoint/2010/main" val="55412942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STAGE 7 — VALIDATION RESULT</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pT-only network remained below the baseline</a:t>
            </a:r>
          </a:p>
        </p:txBody>
      </p:sp>
      <p:cxnSp>
        <p:nvCxnSpPr>
          <p:cNvPr id="157"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16</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Eligible signal efficiency</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endParaRP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Inclusive signal efficiency</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endParaRP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Independent calibration made the comparison fair; the pT-only model still remained below the baseline.</a:t>
            </a:r>
          </a:p>
        </p:txBody>
      </p:sp>
      <p:graphicFrame>
        <p:nvGraphicFramePr>
          <p:cNvPr id="169" name="phase7-eligible-efficiency-v13"/>
          <p:cNvGraphicFramePr/>
          <p:nvPr/>
        </p:nvGraphicFramePr>
        <p:xfrm>
          <a:off xmlns:a="http://schemas.openxmlformats.org/drawingml/2006/main" x="876300" y="2209800"/>
          <a:ext xmlns:a="http://schemas.openxmlformats.org/drawingml/2006/main" cx="4514850" cy="2876550"/>
        </p:xfrm>
        <a:graphic xmlns:a="http://schemas.openxmlformats.org/drawingml/2006/main">
          <a:graphicData uri="http://schemas.openxmlformats.org/drawingml/2006/chart">
            <c:chart xmlns:r="http://schemas.openxmlformats.org/officeDocument/2006/relationships" xmlns:c="http://schemas.openxmlformats.org/drawingml/2006/chart" r:id="R4bfea93ea7634003"/>
          </a:graphicData>
        </a:graphic>
      </p:graphicFrame>
      <p:graphicFrame>
        <p:nvGraphicFramePr>
          <p:cNvPr id="170" name="phase7-inclusive-efficiency-v13"/>
          <p:cNvGraphicFramePr/>
          <p:nvPr/>
        </p:nvGraphicFramePr>
        <p:xfrm>
          <a:off xmlns:a="http://schemas.openxmlformats.org/drawingml/2006/main" x="6705600" y="2209800"/>
          <a:ext xmlns:a="http://schemas.openxmlformats.org/drawingml/2006/main" cx="4514850" cy="2876550"/>
        </p:xfrm>
        <a:graphic xmlns:a="http://schemas.openxmlformats.org/drawingml/2006/main">
          <a:graphicData uri="http://schemas.openxmlformats.org/drawingml/2006/chart">
            <c:chart xmlns:r="http://schemas.openxmlformats.org/officeDocument/2006/relationships" xmlns:c="http://schemas.openxmlformats.org/drawingml/2006/chart" r:id="Re96f2a0a2dbf4ade"/>
          </a:graphicData>
        </a:graphic>
      </p:graphicFrame>
    </p:spTree>
    <p:extLst>
      <p:ext uri="{BB962C8B-B14F-4D97-AF65-F5344CB8AC3E}">
        <p14:creationId xmlns:p14="http://schemas.microsoft.com/office/powerpoint/2010/main" val="8323859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STAGE 7 — COMPLETE</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511"/>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machinery passed; the pT representation did not</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17</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Mechanical verdict</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63"/>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PASSED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Pair and event counts reconcile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Aggregation is exact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Independent calibration works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Cross-fitting executes correctly</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Outputs are traceable</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Scientific observation</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VALIDATION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Baseline eligible: 60.23%</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Pair seeds: 56.61–57.55%</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Same ordering under cross-fit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No causal overclaim</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Programme decision</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CONTINUE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Audit richer pair inputs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Freeze representation candidates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Change one factor at a time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Keep test unopened</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Conclusion</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839"/>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Reject the two-scalar representation as competitive; retain the validated pair-comparison machinery.</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next scientific question is representation—not whether the pipeline works.</a:t>
            </a:r>
          </a:p>
        </p:txBody>
      </p:sp>
    </p:spTree>
    <p:extLst>
      <p:ext uri="{BB962C8B-B14F-4D97-AF65-F5344CB8AC3E}">
        <p14:creationId xmlns:p14="http://schemas.microsoft.com/office/powerpoint/2010/main" val="196784276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NEXT SCIENTIFIC QUESTION</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What information should represent a pair?</a:t>
            </a:r>
          </a:p>
        </p:txBody>
      </p:sp>
      <p:cxnSp>
        <p:nvCxnSpPr>
          <p:cNvPr id="125"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18</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Preserve information</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Keep both five-layer calorimeter tensors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Preserve layer and cell structure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Optionally append measured pT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Use as an information reference</a:t>
            </a: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Compress information</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Replace cells with verified layer summaries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Retain each member separately</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Optionally append measured pT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Measure any performance loss</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85"/>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first controlled experiment changes only the representation. Target, loss, weighting, seeds, aggregation, and validation remain fixed.</a:t>
            </a:r>
          </a:p>
        </p:txBody>
      </p:sp>
    </p:spTree>
    <p:extLst>
      <p:ext uri="{BB962C8B-B14F-4D97-AF65-F5344CB8AC3E}">
        <p14:creationId xmlns:p14="http://schemas.microsoft.com/office/powerpoint/2010/main" val="83238599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TRAINING-ONLY FEATURE ANALYSIS</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Training data identifies promising information</a:t>
            </a:r>
          </a:p>
        </p:txBody>
      </p:sp>
      <p:cxnSp>
        <p:nvCxnSpPr>
          <p:cNvPr id="140"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19</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590"/>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One-feature separation score (AUC; higher is better)</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endParaRP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Examples of repeated information</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Pair minimum = lower-member pT</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Pair maximum = higher-member pT</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Angular gap = acoplanarity</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EM2 total = coarse EM2 sum</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Each matched pair of variables ranks the training pairs in exactly the same order.</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This screen prioritizes experiments. Only trained validation comparisons select the model.</a:t>
            </a:r>
          </a:p>
        </p:txBody>
      </p:sp>
      <p:graphicFrame>
        <p:nvGraphicFramePr>
          <p:cNvPr id="152" name="training-feature-family-ranking-v13"/>
          <p:cNvGraphicFramePr/>
          <p:nvPr/>
        </p:nvGraphicFramePr>
        <p:xfrm>
          <a:off xmlns:a="http://schemas.openxmlformats.org/drawingml/2006/main" x="857250" y="2266950"/>
          <a:ext xmlns:a="http://schemas.openxmlformats.org/drawingml/2006/main" cx="4762500" cy="2781300"/>
        </p:xfrm>
        <a:graphic xmlns:a="http://schemas.openxmlformats.org/drawingml/2006/main">
          <a:graphicData uri="http://schemas.openxmlformats.org/drawingml/2006/chart">
            <c:chart xmlns:r="http://schemas.openxmlformats.org/officeDocument/2006/relationships" xmlns:c="http://schemas.openxmlformats.org/drawingml/2006/chart" r:id="Rcd8bd7f652ce460b"/>
          </a:graphicData>
        </a:graphic>
      </p:graphicFrame>
    </p:spTree>
    <p:extLst>
      <p:ext uri="{BB962C8B-B14F-4D97-AF65-F5344CB8AC3E}">
        <p14:creationId xmlns:p14="http://schemas.microsoft.com/office/powerpoint/2010/main" val="8323859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REPRESENTATION LADDER</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57"/>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candidates trade information for compactness</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20</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Raw reference</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Raw cells: 90 values per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Raw cells + measured pT: 92</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Preserves every coarse cell and layer</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Layer summaries</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Layer summaries: 32 values per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Summaries + measured pT: 34</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Preserves each layer separately</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Conditional compression</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Cross-layer summed grid: 18 values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With measured pT: 20</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Allowed only if cell coordinates align physically</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Comparison logic</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698"/>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The raw reference shows available information. Smaller candidates show how much can be retained with fewer inputs.</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Candidate names describe their content; the old letter-number labels are omitted.</a:t>
            </a:r>
          </a:p>
        </p:txBody>
      </p:sp>
    </p:spTree>
    <p:extLst>
      <p:ext uri="{BB962C8B-B14F-4D97-AF65-F5344CB8AC3E}">
        <p14:creationId xmlns:p14="http://schemas.microsoft.com/office/powerpoint/2010/main" val="19678427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RAW-CELL CANDIDATES</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Raw cells preserve the complete coarse tensors</a:t>
            </a:r>
          </a:p>
        </p:txBody>
      </p:sp>
      <p:cxnSp>
        <p:nvCxnSpPr>
          <p:cNvPr id="125"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21</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Raw cells</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Input = [45 cells from L, 45 cells from 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90 values per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Exact layer and cell order preserved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No measured pT inside the representation</a:t>
            </a: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Raw cells + measured pT</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Input = [45 cells from L, pT of L, 45 cells from S, pT of 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92 values per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Measured pT occupies member-local slots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Raw pT units are MeV</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Both mappings passed on 1,292,919 complete training pairs and 1,143,864 eligible training pairs.</a:t>
            </a:r>
          </a:p>
        </p:txBody>
      </p:sp>
    </p:spTree>
    <p:extLst>
      <p:ext uri="{BB962C8B-B14F-4D97-AF65-F5344CB8AC3E}">
        <p14:creationId xmlns:p14="http://schemas.microsoft.com/office/powerpoint/2010/main" val="83238599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SUMMARY CANDIDATES</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18"/>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Layer summaries reduce each TOB from 45 values to 16</a:t>
            </a:r>
          </a:p>
        </p:txBody>
      </p:sp>
      <p:cxnSp>
        <p:nvCxnSpPr>
          <p:cNvPr id="125"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22</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Layer summaries</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Per member: 5 active-cell counts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5 layer sums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5 dominance values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1 EM2 containment fraction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32 values per pair</a:t>
            </a: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Layer summaries + measured pT</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same verified 16 summaries per member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One member-local measured pT value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34 values per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Raw pT units are MeV</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Both mappings passed exactly and remain untrained representation candidates.</a:t>
            </a:r>
          </a:p>
        </p:txBody>
      </p:sp>
    </p:spTree>
    <p:extLst>
      <p:ext uri="{BB962C8B-B14F-4D97-AF65-F5344CB8AC3E}">
        <p14:creationId xmlns:p14="http://schemas.microsoft.com/office/powerpoint/2010/main" val="83238599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PHYSICS COMPATIBILITY</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807"/>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Cross-layer cell sums lack a defensible spatial meaning</a:t>
            </a:r>
          </a:p>
        </p:txBody>
      </p:sp>
      <p:cxnSp>
        <p:nvCxnSpPr>
          <p:cNvPr id="125"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23</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Why it looked attractive</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Add cells at the same row and column across five layers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Reduce each TOB from 45 values to 9</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Produce an 18-value pair input</a:t>
            </a: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Why it is likely excluded</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Detector layers have different native granularities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Equal array indices need not cover equal physical regions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sum also removes layer identity</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450"/>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Unless preprocessing resampled every layer onto one common physical grid, the cross-layer summed candidate will be removed.</a:t>
            </a:r>
          </a:p>
        </p:txBody>
      </p:sp>
    </p:spTree>
    <p:extLst>
      <p:ext uri="{BB962C8B-B14F-4D97-AF65-F5344CB8AC3E}">
        <p14:creationId xmlns:p14="http://schemas.microsoft.com/office/powerpoint/2010/main" val="83238599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MAPPING STATUS</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49"/>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Four pair representations passed their mapping checks</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24</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Verified mappings</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Raw cells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Raw cells + measured pT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Layer summaries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Layer summaries + measured pT</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Production scale</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1,292,919 complete pairs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1,143,864 eligible pairs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All mapped values finite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Zero holdout access</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Model-screen status</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Raw cells + measured pT: screened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Summaries + measured pT: screened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pT-free forms: mapped references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Additional compact candidates also screened</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Meaning of verified</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66"/>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Each vector contains the intended values from the intended two TOBs before model training begins.</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Mapping correctness and model performance remain separate results.</a:t>
            </a:r>
          </a:p>
        </p:txBody>
      </p:sp>
    </p:spTree>
    <p:extLst>
      <p:ext uri="{BB962C8B-B14F-4D97-AF65-F5344CB8AC3E}">
        <p14:creationId xmlns:p14="http://schemas.microsoft.com/office/powerpoint/2010/main" val="196784276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PHASE 8B CONTRACT</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first screen changed only the representation</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25</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Fixed across candidates</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Binary both-positive target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Unweighted BCE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Equal weight per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Same seeds and training recipe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Maximum event aggregation</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Changed across candidates</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Member input and dimension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Candidate-specific training normalizer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Measured-pT inclusion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Raw cells or layer summaries</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Evaluation</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Cross-fitted checkpoint selection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Independent model thresholds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Baseline thresholds reused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Event efficiency at 0.5% FPR</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Primary selection metric</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Inclusive signal-sample event efficiency, including ineligible and no-pair events.</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 common encoder and pair head were fixed before any candidate reached validation.</a:t>
            </a:r>
          </a:p>
        </p:txBody>
      </p:sp>
    </p:spTree>
    <p:extLst>
      <p:ext uri="{BB962C8B-B14F-4D97-AF65-F5344CB8AC3E}">
        <p14:creationId xmlns:p14="http://schemas.microsoft.com/office/powerpoint/2010/main" val="196784276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PERFORMANCE METRICS</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What the performance percentages mean</a:t>
            </a:r>
          </a:p>
        </p:txBody>
      </p:sp>
      <p:cxnSp>
        <p:nvCxnSpPr>
          <p:cNvPr id="142"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26</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Interpretation</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48250"/>
            <a:ext cx="819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1">
                <a:solidFill>
                  <a:srgbClr val="111827"/>
                </a:solidFill>
                <a:latin typeface="Arial"/>
                <a:ea typeface="Arial"/>
                <a:cs typeface="Arial"/>
              </a:defRPr>
            </a:pPr>
            <a:r>
              <a:rPr sz="1425" b="1">
                <a:solidFill>
                  <a:srgbClr val="111827"/>
                </a:solidFill>
                <a:latin typeface="Arial"/>
                <a:ea typeface="Arial"/>
                <a:cs typeface="Arial"/>
              </a:rPr>
              <a:t>At the same background limit, a higher signal efficiency means that more signal events pass.</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a:r>
          </a:p>
        </p:txBody>
      </p:sp>
      <p:sp>
        <p:nvSpPr>
          <p:cNvPr id="117" name="metric-accepted-definition">
            <a:extLst xmlns:a="http://schemas.openxmlformats.org/drawingml/2006/main">
              <a:ext uri="{FF2B5EF4-FFF2-40B4-BE49-F238E27FC236}">
                <a16:creationId xmlns:a16="http://schemas.microsoft.com/office/drawing/2014/main" id="{10C73E5C-C43C-4604-A12E-3E0BE052B2DB}"/>
              </a:ext>
            </a:extLst>
          </p:cNvPr>
          <p:cNvSpPr>
            <a:spLocks xmlns:a="http://schemas.openxmlformats.org/drawingml/2006/main" noGrp="1"/>
          </p:cNvSpPr>
          <p:nvPr/>
        </p:nvSpPr>
        <p:spPr>
          <a:xfrm xmlns:a="http://schemas.openxmlformats.org/drawingml/2006/main">
            <a:off x="809625" y="150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111827"/>
                </a:solidFill>
                <a:latin typeface="Arial"/>
                <a:ea typeface="Arial"/>
                <a:cs typeface="Arial"/>
              </a:defRPr>
            </a:pPr>
            <a:r>
              <a:rPr sz="1650" b="1">
                <a:solidFill>
                  <a:srgbClr val="111827"/>
                </a:solidFill>
                <a:latin typeface="Arial"/>
                <a:ea typeface="Arial"/>
                <a:cs typeface="Arial"/>
              </a:rPr>
              <a:t>An event is accepted when it passes the event-level selection.</a:t>
            </a:r>
          </a:p>
        </p:txBody>
      </p:sp>
      <p:sp>
        <p:nvSpPr>
          <p:cNvPr id="118" name="metric-signal-heading">
            <a:extLst xmlns:a="http://schemas.openxmlformats.org/drawingml/2006/main">
              <a:ext uri="{FF2B5EF4-FFF2-40B4-BE49-F238E27FC236}">
                <a16:creationId xmlns:a16="http://schemas.microsoft.com/office/drawing/2014/main" id="{EF529157-6F41-4497-955E-0623CE1711AE}"/>
              </a:ext>
            </a:extLst>
          </p:cNvPr>
          <p:cNvSpPr>
            <a:spLocks xmlns:a="http://schemas.openxmlformats.org/drawingml/2006/main" noGrp="1"/>
          </p:cNvSpPr>
          <p:nvPr/>
        </p:nvSpPr>
        <p:spPr>
          <a:xfrm xmlns:a="http://schemas.openxmlformats.org/drawingml/2006/main">
            <a:off x="904875" y="2266950"/>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75" b="1">
                <a:solidFill>
                  <a:srgbClr val="2563EB"/>
                </a:solidFill>
                <a:latin typeface="Arial"/>
                <a:ea typeface="Arial"/>
                <a:cs typeface="Arial"/>
              </a:defRPr>
            </a:pPr>
            <a:r>
              <a:rPr sz="1575" b="1">
                <a:solidFill>
                  <a:srgbClr val="2563EB"/>
                </a:solidFill>
                <a:latin typeface="Arial"/>
                <a:ea typeface="Arial"/>
                <a:cs typeface="Arial"/>
              </a:rPr>
              <a:t>Signal efficiency</a:t>
            </a:r>
          </a:p>
        </p:txBody>
      </p:sp>
      <p:sp>
        <p:nvSpPr>
          <p:cNvPr id="119" name="metric-signal-numerator">
            <a:extLst xmlns:a="http://schemas.openxmlformats.org/drawingml/2006/main">
              <a:ext uri="{FF2B5EF4-FFF2-40B4-BE49-F238E27FC236}">
                <a16:creationId xmlns:a16="http://schemas.microsoft.com/office/drawing/2014/main" id="{13C92FC7-1D1B-4E95-943E-6CF792360E0D}"/>
              </a:ext>
            </a:extLst>
          </p:cNvPr>
          <p:cNvSpPr>
            <a:spLocks xmlns:a="http://schemas.openxmlformats.org/drawingml/2006/main" noGrp="1"/>
          </p:cNvSpPr>
          <p:nvPr/>
        </p:nvSpPr>
        <p:spPr>
          <a:xfrm xmlns:a="http://schemas.openxmlformats.org/drawingml/2006/main">
            <a:off x="1095375" y="28194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buNone/>
              <a:defRPr sz="1425" b="0">
                <a:solidFill>
                  <a:srgbClr val="111827"/>
                </a:solidFill>
                <a:latin typeface="Arial"/>
                <a:ea typeface="Arial"/>
                <a:cs typeface="Arial"/>
              </a:defRPr>
            </a:pPr>
            <a:r>
              <a:rPr sz="1425" b="0">
                <a:solidFill>
                  <a:srgbClr val="111827"/>
                </a:solidFill>
                <a:latin typeface="Arial"/>
                <a:ea typeface="Arial"/>
                <a:cs typeface="Arial"/>
              </a:rPr>
              <a:t>accepted signal-sample events</a:t>
            </a:r>
          </a:p>
        </p:txBody>
      </p:sp>
      <p:sp>
        <p:nvSpPr>
          <p:cNvPr id="120" name="metric-signal-fraction-rule">
            <a:extLst xmlns:a="http://schemas.openxmlformats.org/drawingml/2006/main">
              <a:ext uri="{FF2B5EF4-FFF2-40B4-BE49-F238E27FC236}">
                <a16:creationId xmlns:a16="http://schemas.microsoft.com/office/drawing/2014/main" id="{456C6486-9672-4DED-AB81-16E830941575}"/>
              </a:ext>
            </a:extLst>
          </p:cNvPr>
          <p:cNvSpPr>
            <a:spLocks xmlns:a="http://schemas.openxmlformats.org/drawingml/2006/main" noGrp="1"/>
          </p:cNvSpPr>
          <p:nvPr/>
        </p:nvSpPr>
        <p:spPr>
          <a:xfrm xmlns:a="http://schemas.openxmlformats.org/drawingml/2006/main">
            <a:off x="1476375" y="3190875"/>
            <a:ext cx="3524250" cy="14288"/>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121" name="metric-signal-denominator">
            <a:extLst xmlns:a="http://schemas.openxmlformats.org/drawingml/2006/main">
              <a:ext uri="{FF2B5EF4-FFF2-40B4-BE49-F238E27FC236}">
                <a16:creationId xmlns:a16="http://schemas.microsoft.com/office/drawing/2014/main" id="{9C48A9EF-F349-4777-B1F9-1701CDDF0D16}"/>
              </a:ext>
            </a:extLst>
          </p:cNvPr>
          <p:cNvSpPr>
            <a:spLocks xmlns:a="http://schemas.openxmlformats.org/drawingml/2006/main" noGrp="1"/>
          </p:cNvSpPr>
          <p:nvPr/>
        </p:nvSpPr>
        <p:spPr>
          <a:xfrm xmlns:a="http://schemas.openxmlformats.org/drawingml/2006/main">
            <a:off x="1095375" y="32766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buNone/>
              <a:defRPr sz="1425" b="0">
                <a:solidFill>
                  <a:srgbClr val="111827"/>
                </a:solidFill>
                <a:latin typeface="Arial"/>
                <a:ea typeface="Arial"/>
                <a:cs typeface="Arial"/>
              </a:defRPr>
            </a:pPr>
            <a:r>
              <a:rPr sz="1425" b="0">
                <a:solidFill>
                  <a:srgbClr val="111827"/>
                </a:solidFill>
                <a:latin typeface="Arial"/>
                <a:ea typeface="Arial"/>
                <a:cs typeface="Arial"/>
              </a:rPr>
              <a:t>all signal-sample events</a:t>
            </a:r>
          </a:p>
        </p:txBody>
      </p:sp>
      <p:sp>
        <p:nvSpPr>
          <p:cNvPr id="122" name="metric-column-divider">
            <a:extLst xmlns:a="http://schemas.openxmlformats.org/drawingml/2006/main">
              <a:ext uri="{FF2B5EF4-FFF2-40B4-BE49-F238E27FC236}">
                <a16:creationId xmlns:a16="http://schemas.microsoft.com/office/drawing/2014/main" id="{FA1D42E3-A83B-40A1-9327-4FD963FC8F55}"/>
              </a:ext>
            </a:extLst>
          </p:cNvPr>
          <p:cNvSpPr>
            <a:spLocks xmlns:a="http://schemas.openxmlformats.org/drawingml/2006/main" noGrp="1"/>
          </p:cNvSpPr>
          <p:nvPr/>
        </p:nvSpPr>
        <p:spPr>
          <a:xfrm xmlns:a="http://schemas.openxmlformats.org/drawingml/2006/main">
            <a:off x="6086475" y="2238375"/>
            <a:ext cx="14288" cy="147637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123" name="metric-background-heading">
            <a:extLst xmlns:a="http://schemas.openxmlformats.org/drawingml/2006/main">
              <a:ext uri="{FF2B5EF4-FFF2-40B4-BE49-F238E27FC236}">
                <a16:creationId xmlns:a16="http://schemas.microsoft.com/office/drawing/2014/main" id="{8E7A7169-14E6-4FF7-93B6-4E45F8FE6A23}"/>
              </a:ext>
            </a:extLst>
          </p:cNvPr>
          <p:cNvSpPr>
            <a:spLocks xmlns:a="http://schemas.openxmlformats.org/drawingml/2006/main" noGrp="1"/>
          </p:cNvSpPr>
          <p:nvPr/>
        </p:nvSpPr>
        <p:spPr>
          <a:xfrm xmlns:a="http://schemas.openxmlformats.org/drawingml/2006/main">
            <a:off x="6619875" y="2266950"/>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75" b="1">
                <a:solidFill>
                  <a:srgbClr val="0F7F91"/>
                </a:solidFill>
                <a:latin typeface="Arial"/>
                <a:ea typeface="Arial"/>
                <a:cs typeface="Arial"/>
              </a:defRPr>
            </a:pPr>
            <a:r>
              <a:rPr sz="1575" b="1">
                <a:solidFill>
                  <a:srgbClr val="0F7F91"/>
                </a:solidFill>
                <a:latin typeface="Arial"/>
                <a:ea typeface="Arial"/>
                <a:cs typeface="Arial"/>
              </a:rPr>
              <a:t>Background false-positive rate</a:t>
            </a:r>
          </a:p>
        </p:txBody>
      </p:sp>
      <p:sp>
        <p:nvSpPr>
          <p:cNvPr id="124" name="metric-background-numerator">
            <a:extLst xmlns:a="http://schemas.openxmlformats.org/drawingml/2006/main">
              <a:ext uri="{FF2B5EF4-FFF2-40B4-BE49-F238E27FC236}">
                <a16:creationId xmlns:a16="http://schemas.microsoft.com/office/drawing/2014/main" id="{A7D338C8-97E1-44A3-B7A1-B744DE61D77F}"/>
              </a:ext>
            </a:extLst>
          </p:cNvPr>
          <p:cNvSpPr>
            <a:spLocks xmlns:a="http://schemas.openxmlformats.org/drawingml/2006/main" noGrp="1"/>
          </p:cNvSpPr>
          <p:nvPr/>
        </p:nvSpPr>
        <p:spPr>
          <a:xfrm xmlns:a="http://schemas.openxmlformats.org/drawingml/2006/main">
            <a:off x="6810375" y="28194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buNone/>
              <a:defRPr sz="1425" b="0">
                <a:solidFill>
                  <a:srgbClr val="111827"/>
                </a:solidFill>
                <a:latin typeface="Arial"/>
                <a:ea typeface="Arial"/>
                <a:cs typeface="Arial"/>
              </a:defRPr>
            </a:pPr>
            <a:r>
              <a:rPr sz="1425" b="0">
                <a:solidFill>
                  <a:srgbClr val="111827"/>
                </a:solidFill>
                <a:latin typeface="Arial"/>
                <a:ea typeface="Arial"/>
                <a:cs typeface="Arial"/>
              </a:rPr>
              <a:t>accepted background events</a:t>
            </a:r>
          </a:p>
        </p:txBody>
      </p:sp>
      <p:sp>
        <p:nvSpPr>
          <p:cNvPr id="125" name="metric-background-fraction-rule">
            <a:extLst xmlns:a="http://schemas.openxmlformats.org/drawingml/2006/main">
              <a:ext uri="{FF2B5EF4-FFF2-40B4-BE49-F238E27FC236}">
                <a16:creationId xmlns:a16="http://schemas.microsoft.com/office/drawing/2014/main" id="{81BC3691-A83C-4FA3-82A5-A1017B286FA8}"/>
              </a:ext>
            </a:extLst>
          </p:cNvPr>
          <p:cNvSpPr>
            <a:spLocks xmlns:a="http://schemas.openxmlformats.org/drawingml/2006/main" noGrp="1"/>
          </p:cNvSpPr>
          <p:nvPr/>
        </p:nvSpPr>
        <p:spPr>
          <a:xfrm xmlns:a="http://schemas.openxmlformats.org/drawingml/2006/main">
            <a:off x="7191375" y="3190875"/>
            <a:ext cx="3524250" cy="14288"/>
          </a:xfrm>
          <a:prstGeom xmlns:a="http://schemas.openxmlformats.org/drawingml/2006/main" prst="rect">
            <a:avLst/>
          </a:prstGeom>
          <a:solidFill xmlns:a="http://schemas.openxmlformats.org/drawingml/2006/main">
            <a:srgbClr val="0F7F91"/>
          </a:solidFill>
          <a:ln xmlns:a="http://schemas.openxmlformats.org/drawingml/2006/main" w="0">
            <a:solidFill>
              <a:srgbClr val="0F7F91"/>
            </a:solidFill>
          </a:ln>
        </p:spPr>
      </p:sp>
      <p:sp>
        <p:nvSpPr>
          <p:cNvPr id="126" name="metric-background-denominator">
            <a:extLst xmlns:a="http://schemas.openxmlformats.org/drawingml/2006/main">
              <a:ext uri="{FF2B5EF4-FFF2-40B4-BE49-F238E27FC236}">
                <a16:creationId xmlns:a16="http://schemas.microsoft.com/office/drawing/2014/main" id="{A6081AB9-A231-410A-ACF9-EAE7A870B358}"/>
              </a:ext>
            </a:extLst>
          </p:cNvPr>
          <p:cNvSpPr>
            <a:spLocks xmlns:a="http://schemas.openxmlformats.org/drawingml/2006/main" noGrp="1"/>
          </p:cNvSpPr>
          <p:nvPr/>
        </p:nvSpPr>
        <p:spPr>
          <a:xfrm xmlns:a="http://schemas.openxmlformats.org/drawingml/2006/main">
            <a:off x="6810375" y="32766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46"/>
          </a:bodyPr>
          <a:lstStyle xmlns:a="http://schemas.openxmlformats.org/drawingml/2006/main"/>
          <a:p xmlns:a="http://schemas.openxmlformats.org/drawingml/2006/main">
            <a:pPr>
              <a:buNone/>
              <a:defRPr sz="1425" b="0">
                <a:solidFill>
                  <a:srgbClr val="111827"/>
                </a:solidFill>
                <a:latin typeface="Arial"/>
                <a:ea typeface="Arial"/>
                <a:cs typeface="Arial"/>
              </a:defRPr>
            </a:pPr>
            <a:r>
              <a:rPr sz="1425" b="0">
                <a:solidFill>
                  <a:srgbClr val="111827"/>
                </a:solidFill>
                <a:latin typeface="Arial"/>
                <a:ea typeface="Arial"/>
                <a:cs typeface="Arial"/>
              </a:rPr>
              <a:t>all background events</a:t>
            </a:r>
          </a:p>
        </p:txBody>
      </p:sp>
      <p:sp>
        <p:nvSpPr>
          <p:cNvPr id="127" name="metric-common-limit">
            <a:extLst xmlns:a="http://schemas.openxmlformats.org/drawingml/2006/main">
              <a:ext uri="{FF2B5EF4-FFF2-40B4-BE49-F238E27FC236}">
                <a16:creationId xmlns:a16="http://schemas.microsoft.com/office/drawing/2014/main" id="{0DEC53FB-FD73-4079-B766-B073D1D97A7E}"/>
              </a:ext>
            </a:extLst>
          </p:cNvPr>
          <p:cNvSpPr>
            <a:spLocks xmlns:a="http://schemas.openxmlformats.org/drawingml/2006/main" noGrp="1"/>
          </p:cNvSpPr>
          <p:nvPr/>
        </p:nvSpPr>
        <p:spPr>
          <a:xfrm xmlns:a="http://schemas.openxmlformats.org/drawingml/2006/main">
            <a:off x="1524000" y="4029075"/>
            <a:ext cx="914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111827"/>
                </a:solidFill>
                <a:latin typeface="Arial"/>
                <a:ea typeface="Arial"/>
                <a:cs typeface="Arial"/>
              </a:defRPr>
            </a:pPr>
            <a:r>
              <a:rPr sz="1650" b="1">
                <a:solidFill>
                  <a:srgbClr val="111827"/>
                </a:solidFill>
                <a:latin typeface="Arial"/>
                <a:ea typeface="Arial"/>
                <a:cs typeface="Arial"/>
              </a:rPr>
              <a:t>All methods are compared at background-event FPR ≤ 0.5%.</a:t>
            </a:r>
          </a:p>
        </p:txBody>
      </p:sp>
    </p:spTree>
    <p:extLst>
      <p:ext uri="{BB962C8B-B14F-4D97-AF65-F5344CB8AC3E}">
        <p14:creationId xmlns:p14="http://schemas.microsoft.com/office/powerpoint/2010/main" val="196784276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REPRESENTATION RESULTS</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Richer pair inputs improve validation efficiency</a:t>
            </a:r>
          </a:p>
        </p:txBody>
      </p:sp>
      <p:cxnSp>
        <p:nvCxnSpPr>
          <p:cNvPr id="140"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27</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Inclusive validation efficiency (%)</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endParaRP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Controlled comparison</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816"/>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Three training seeds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Same shared member encoder</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Independent model thresholds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All methods evaluated near 0.5% background event FPR</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Best mean: 42.46%</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Baseline: 34.39%</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Difference: +8.07 percentage points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Protected confirmation remains pending.</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Pair information beyond two measured pT values improves the validation event decision.</a:t>
            </a:r>
          </a:p>
        </p:txBody>
      </p:sp>
      <p:graphicFrame>
        <p:nvGraphicFramePr>
          <p:cNvPr id="152" name="representation-result-v13"/>
          <p:cNvGraphicFramePr/>
          <p:nvPr/>
        </p:nvGraphicFramePr>
        <p:xfrm>
          <a:off xmlns:a="http://schemas.openxmlformats.org/drawingml/2006/main" x="857250" y="2266950"/>
          <a:ext xmlns:a="http://schemas.openxmlformats.org/drawingml/2006/main" cx="4762500" cy="2781300"/>
        </p:xfrm>
        <a:graphic xmlns:a="http://schemas.openxmlformats.org/drawingml/2006/main">
          <a:graphicData uri="http://schemas.openxmlformats.org/drawingml/2006/chart">
            <c:chart xmlns:r="http://schemas.openxmlformats.org/officeDocument/2006/relationships" xmlns:c="http://schemas.openxmlformats.org/drawingml/2006/chart" r:id="R5df45b41145b418e"/>
          </a:graphicData>
        </a:graphic>
      </p:graphicFrame>
    </p:spTree>
    <p:extLst>
      <p:ext uri="{BB962C8B-B14F-4D97-AF65-F5344CB8AC3E}">
        <p14:creationId xmlns:p14="http://schemas.microsoft.com/office/powerpoint/2010/main" val="83238599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BROAD REPRESENTATION SCREEN</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32"/>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Twenty-two inputs were tested with one fixed pair model</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28</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Fixed model</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Shared encoder for both members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Symmetric pair combination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Binary target and unweighted loss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Maximum event score</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Independent thresholds</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Screen outcome</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22 representations tested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19 closed after seed 42</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3 reproduced with seeds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42, 123 and 456</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Three family checks</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45 coarse cells per TOB</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Coarse cells plus measured pT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Compact EM2 shower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measurements plus measured pT</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Controlled comparison</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820"/>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Input information changed. The encoder, pair rule, target, loss and evaluation procedure stayed fixed.</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screen reduced a broad input search to three representative checks.</a:t>
            </a:r>
          </a:p>
        </p:txBody>
      </p:sp>
    </p:spTree>
    <p:extLst>
      <p:ext uri="{BB962C8B-B14F-4D97-AF65-F5344CB8AC3E}">
        <p14:creationId xmlns:p14="http://schemas.microsoft.com/office/powerpoint/2010/main" val="196784276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THREE-SEED REPRESENTATION RESULT</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803"/>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Coarse calorimeter information improves global efficiency</a:t>
            </a:r>
          </a:p>
        </p:txBody>
      </p:sp>
      <p:cxnSp>
        <p:nvCxnSpPr>
          <p:cNvPr id="140"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29</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Inclusive signal-sample efficiency (%)</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t/>
            </a:r>
            <a:endParaRP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What the three seeds show</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Every candidate exceeds the baseline overall</a:t>
            </a:r>
          </a:p>
          <a:p xmlns:a="http://schemas.openxmlformats.org/drawingml/2006/main">
            <a:pPr algn="l">
              <a:buNone/>
              <a:defRPr sz="1613" b="0">
                <a:solidFill>
                  <a:srgbClr val="111827"/>
                </a:solidFill>
                <a:latin typeface="Aptos"/>
                <a:ea typeface="Aptos"/>
                <a:cs typeface="Aptos"/>
              </a:defRPr>
            </a:pPr>
            <a:r>
              <a:t/>
            </a: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Raw cells give the strongest means</a:t>
            </a:r>
          </a:p>
          <a:p xmlns:a="http://schemas.openxmlformats.org/drawingml/2006/main">
            <a:pPr algn="l">
              <a:buNone/>
              <a:defRPr sz="1613" b="0">
                <a:solidFill>
                  <a:srgbClr val="111827"/>
                </a:solidFill>
                <a:latin typeface="Aptos"/>
                <a:ea typeface="Aptos"/>
                <a:cs typeface="Aptos"/>
              </a:defRPr>
            </a:pPr>
            <a:r>
              <a:t/>
            </a: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Adding measured pT changes the mean by only +0.08 points</a:t>
            </a:r>
          </a:p>
          <a:p xmlns:a="http://schemas.openxmlformats.org/drawingml/2006/main">
            <a:pPr algn="l">
              <a:buNone/>
              <a:defRPr sz="1613" b="0">
                <a:solidFill>
                  <a:srgbClr val="111827"/>
                </a:solidFill>
                <a:latin typeface="Aptos"/>
                <a:ea typeface="Aptos"/>
                <a:cs typeface="Aptos"/>
              </a:defRPr>
            </a:pPr>
            <a:r>
              <a:t/>
            </a: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two raw-cell candidates swap order across seeds</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Coarse calorimeter cells are useful. Explicit measured pT adds no reproducible extra gain here.</a:t>
            </a:r>
          </a:p>
        </p:txBody>
      </p:sp>
      <p:graphicFrame>
        <p:nvGraphicFramePr>
          <p:cNvPr id="152" name="broad-representation-inclusive-chart"/>
          <p:cNvGraphicFramePr/>
          <p:nvPr/>
        </p:nvGraphicFramePr>
        <p:xfrm>
          <a:off xmlns:a="http://schemas.openxmlformats.org/drawingml/2006/main" x="838200" y="2457450"/>
          <a:ext xmlns:a="http://schemas.openxmlformats.org/drawingml/2006/main" cx="5095875" cy="2571750"/>
        </p:xfrm>
        <a:graphic xmlns:a="http://schemas.openxmlformats.org/drawingml/2006/main">
          <a:graphicData uri="http://schemas.openxmlformats.org/drawingml/2006/chart">
            <c:chart xmlns:r="http://schemas.openxmlformats.org/officeDocument/2006/relationships" xmlns:c="http://schemas.openxmlformats.org/drawingml/2006/chart" r:id="Rb3440736111542ff"/>
          </a:graphicData>
        </a:graphic>
      </p:graphicFrame>
    </p:spTree>
    <p:extLst>
      <p:ext uri="{BB962C8B-B14F-4D97-AF65-F5344CB8AC3E}">
        <p14:creationId xmlns:p14="http://schemas.microsoft.com/office/powerpoint/2010/main" val="83238599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ENERGY-DEPENDENT RESULT</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global gain does not extend to high energy</a:t>
            </a:r>
          </a:p>
        </p:txBody>
      </p:sp>
      <p:cxnSp>
        <p:nvCxnSpPr>
          <p:cNvPr id="141"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30</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963"/>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Coarse inputs help at low and medium energy, but every candidate remains below the baseline at high energy.</a:t>
            </a:r>
          </a:p>
        </p:txBody>
      </p:sp>
      <p:sp>
        <p:nvSpPr>
          <p:cNvPr id="85" name="highres-callout-title">
            <a:extLst xmlns:a="http://schemas.openxmlformats.org/drawingml/2006/main">
              <a:ext uri="{FF2B5EF4-FFF2-40B4-BE49-F238E27FC236}">
                <a16:creationId xmlns:a16="http://schemas.microsoft.com/office/drawing/2014/main" id="{A5261B4F-9C8C-4122-8ED5-490A590DE20E}"/>
              </a:ext>
            </a:extLst>
          </p:cNvPr>
          <p:cNvSpPr>
            <a:spLocks xmlns:a="http://schemas.openxmlformats.org/drawingml/2006/main" noGrp="1"/>
          </p:cNvSpPr>
          <p:nvPr/>
        </p:nvSpPr>
        <p:spPr>
          <a:xfrm xmlns:a="http://schemas.openxmlformats.org/drawingml/2006/main">
            <a:off x="8143875" y="2143125"/>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111827"/>
                </a:solidFill>
                <a:latin typeface="Calibri"/>
                <a:ea typeface="Calibri"/>
                <a:cs typeface="Calibri"/>
              </a:defRPr>
            </a:pPr>
            <a:r>
              <a:rPr sz="1350" b="1">
                <a:solidFill>
                  <a:srgbClr val="111827"/>
                </a:solidFill>
                <a:latin typeface="Calibri"/>
                <a:ea typeface="Calibri"/>
                <a:cs typeface="Calibri"/>
              </a:rPr>
              <a:t>Mean change from baseline</a:t>
            </a:r>
          </a:p>
        </p:txBody>
      </p:sp>
      <p:sp>
        <p:nvSpPr>
          <p:cNvPr id="86" name="highres-callout">
            <a:extLst xmlns:a="http://schemas.openxmlformats.org/drawingml/2006/main">
              <a:ext uri="{FF2B5EF4-FFF2-40B4-BE49-F238E27FC236}">
                <a16:creationId xmlns:a16="http://schemas.microsoft.com/office/drawing/2014/main" id="{393CFAEA-1E4D-4644-BCA1-85EBDC43659C}"/>
              </a:ext>
            </a:extLst>
          </p:cNvPr>
          <p:cNvSpPr>
            <a:spLocks xmlns:a="http://schemas.openxmlformats.org/drawingml/2006/main" noGrp="1"/>
          </p:cNvSpPr>
          <p:nvPr/>
        </p:nvSpPr>
        <p:spPr>
          <a:xfrm xmlns:a="http://schemas.openxmlformats.org/drawingml/2006/main">
            <a:off x="8143875" y="2714625"/>
            <a:ext cx="31908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Low and medium energy</a:t>
            </a:r>
          </a:p>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All three inputs improve</a:t>
            </a:r>
          </a:p>
          <a:p xmlns:a="http://schemas.openxmlformats.org/drawingml/2006/main">
            <a:r>
              <a:t/>
            </a:r>
            <a:endParaRPr sz="1500" b="0">
              <a:solidFill>
                <a:srgbClr val="111827"/>
              </a:solidFill>
              <a:latin typeface="Calibri"/>
              <a:ea typeface="Calibri"/>
              <a:cs typeface="Calibri"/>
            </a:endParaRPr>
          </a:p>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60 GeV and above</a:t>
            </a:r>
          </a:p>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All three inputs remain below baseline</a:t>
            </a:r>
          </a:p>
          <a:p xmlns:a="http://schemas.openxmlformats.org/drawingml/2006/main">
            <a:r>
              <a:t/>
            </a:r>
            <a:endParaRPr sz="1500" b="0">
              <a:solidFill>
                <a:srgbClr val="111827"/>
              </a:solidFill>
              <a:latin typeface="Calibri"/>
              <a:ea typeface="Calibri"/>
              <a:cs typeface="Calibri"/>
            </a:endParaRPr>
          </a:p>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Smallest high-energy deficit</a:t>
            </a:r>
          </a:p>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Compact EM2 + pT: −2.21 points</a:t>
            </a:r>
          </a:p>
        </p:txBody>
      </p:sp>
      <p:graphicFrame>
        <p:nvGraphicFramePr>
          <p:cNvPr id="147" name="broad-representation-regional-chart"/>
          <p:cNvGraphicFramePr/>
          <p:nvPr/>
        </p:nvGraphicFramePr>
        <p:xfrm>
          <a:off xmlns:a="http://schemas.openxmlformats.org/drawingml/2006/main" x="1000125" y="2238375"/>
          <a:ext xmlns:a="http://schemas.openxmlformats.org/drawingml/2006/main" cx="6953250" cy="3000375"/>
        </p:xfrm>
        <a:graphic xmlns:a="http://schemas.openxmlformats.org/drawingml/2006/main">
          <a:graphicData uri="http://schemas.openxmlformats.org/drawingml/2006/chart">
            <c:chart xmlns:r="http://schemas.openxmlformats.org/officeDocument/2006/relationships" xmlns:c="http://schemas.openxmlformats.org/drawingml/2006/chart" r:id="R6770942d1e724f70"/>
          </a:graphicData>
        </a:graphic>
      </p:graphicFrame>
    </p:spTree>
    <p:extLst>
      <p:ext uri="{BB962C8B-B14F-4D97-AF65-F5344CB8AC3E}">
        <p14:creationId xmlns:p14="http://schemas.microsoft.com/office/powerpoint/2010/main" val="83238599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GAIN-SOURCE STUDY</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Shower information and event context both help</a:t>
            </a:r>
          </a:p>
        </p:txBody>
      </p:sp>
      <p:cxnSp>
        <p:nvCxnSpPr>
          <p:cNvPr id="140"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31</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Mean inclusive validation efficiency (%)</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endParaRP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What changed</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Same model and training procedure</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Binary output with ordered members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Three seeds per configuration</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Event context alone: +3.40 points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Shower information alone: +4.27 points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Combined interaction: +1.72 points</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strongest result uses both member shower information and event-level pT context.</a:t>
            </a:r>
          </a:p>
        </p:txBody>
      </p:sp>
      <p:graphicFrame>
        <p:nvGraphicFramePr>
          <p:cNvPr id="152" name="gain-source-result-v13"/>
          <p:cNvGraphicFramePr/>
          <p:nvPr/>
        </p:nvGraphicFramePr>
        <p:xfrm>
          <a:off xmlns:a="http://schemas.openxmlformats.org/drawingml/2006/main" x="857250" y="2266950"/>
          <a:ext xmlns:a="http://schemas.openxmlformats.org/drawingml/2006/main" cx="4762500" cy="2781300"/>
        </p:xfrm>
        <a:graphic xmlns:a="http://schemas.openxmlformats.org/drawingml/2006/main">
          <a:graphicData uri="http://schemas.openxmlformats.org/drawingml/2006/chart">
            <c:chart xmlns:r="http://schemas.openxmlformats.org/officeDocument/2006/relationships" xmlns:c="http://schemas.openxmlformats.org/drawingml/2006/chart" r:id="R9c5ce30476a14e97"/>
          </a:graphicData>
        </a:graphic>
      </p:graphicFrame>
    </p:spTree>
    <p:extLst>
      <p:ext uri="{BB962C8B-B14F-4D97-AF65-F5344CB8AC3E}">
        <p14:creationId xmlns:p14="http://schemas.microsoft.com/office/powerpoint/2010/main" val="83238599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OUTPUT AND FUSION</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Output and fusion changes are not decisive</a:t>
            </a:r>
          </a:p>
        </p:txBody>
      </p:sp>
      <p:cxnSp>
        <p:nvCxnSpPr>
          <p:cNvPr id="125"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32</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Three controlled variants</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Binary output, ordered members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42.457% inclusive efficiency</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Three-class output, ordered members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42.539% inclusive efficiency</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Three-class output, symmetric fusion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42.425% inclusive efficiency</a:t>
            </a: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Interpretation</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Binary to three-class output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Change: +0.082 percentage points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Ordered to symmetric fusion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Change: -0.114 percentage points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Seed standard deviations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0.55 to 0.87 percentage points</a:t>
            </a:r>
          </a:p>
          <a:p xmlns:a="http://schemas.openxmlformats.org/drawingml/2006/main">
            <a:pPr algn="l">
              <a:buNone/>
              <a:defRPr sz="1613" b="0">
                <a:solidFill>
                  <a:srgbClr val="111827"/>
                </a:solidFill>
                <a:latin typeface="Aptos"/>
                <a:ea typeface="Aptos"/>
                <a:cs typeface="Aptos"/>
              </a:defRPr>
            </a:pP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These differences are too small to support a winner.</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working reference follows the frozen ranking rule. The scientific comparison remains unresolved.</a:t>
            </a:r>
          </a:p>
        </p:txBody>
      </p:sp>
    </p:spTree>
    <p:extLst>
      <p:ext uri="{BB962C8B-B14F-4D97-AF65-F5344CB8AC3E}">
        <p14:creationId xmlns:p14="http://schemas.microsoft.com/office/powerpoint/2010/main" val="83238599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3" name="status-encoder">
            <a:extLst xmlns:a="http://schemas.openxmlformats.org/drawingml/2006/main">
              <a:ext uri="{FF2B5EF4-FFF2-40B4-BE49-F238E27FC236}">
                <a16:creationId xmlns:a16="http://schemas.microsoft.com/office/drawing/2014/main" id="{28EE8A74-AEA4-4F75-A7FC-250FECD289C3}"/>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buNone/>
              <a:defRPr sz="975" b="1">
                <a:solidFill>
                  <a:srgbClr val="64748B"/>
                </a:solidFill>
                <a:latin typeface="Calibri"/>
                <a:ea typeface="Calibri"/>
                <a:cs typeface="Calibri"/>
              </a:defRPr>
            </a:pPr>
            <a:r>
              <a:rPr sz="975" b="1">
                <a:solidFill>
                  <a:srgbClr val="64748B"/>
                </a:solidFill>
                <a:latin typeface="Calibri"/>
                <a:ea typeface="Calibri"/>
                <a:cs typeface="Calibri"/>
              </a:rPr>
              <a:t>HIGH-RESOLUTION PAIR MODEL</a:t>
            </a:r>
          </a:p>
        </p:txBody>
      </p:sp>
      <p:sp>
        <p:nvSpPr>
          <p:cNvPr id="2" name="title-encoder">
            <a:extLst xmlns:a="http://schemas.openxmlformats.org/drawingml/2006/main">
              <a:ext uri="{FF2B5EF4-FFF2-40B4-BE49-F238E27FC236}">
                <a16:creationId xmlns:a16="http://schemas.microsoft.com/office/drawing/2014/main" id="{6DB6E82F-22D9-439E-9071-8F7335B3DAC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2250" b="1">
                <a:solidFill>
                  <a:srgbClr val="111827"/>
                </a:solidFill>
                <a:latin typeface="Calibri"/>
                <a:ea typeface="Calibri"/>
                <a:cs typeface="Calibri"/>
              </a:defRPr>
            </a:pPr>
            <a:r>
              <a:rPr sz="2250" b="1">
                <a:solidFill>
                  <a:srgbClr val="111827"/>
                </a:solidFill>
                <a:latin typeface="Calibri"/>
                <a:ea typeface="Calibri"/>
                <a:cs typeface="Calibri"/>
              </a:rPr>
              <a:t>How the model summarizes one TOB</a:t>
            </a:r>
          </a:p>
        </p:txBody>
      </p:sp>
      <p:sp>
        <p:nvSpPr>
          <p:cNvPr id="3" name="header-rule-encoder">
            <a:extLst xmlns:a="http://schemas.openxmlformats.org/drawingml/2006/main">
              <a:ext uri="{FF2B5EF4-FFF2-40B4-BE49-F238E27FC236}">
                <a16:creationId xmlns:a16="http://schemas.microsoft.com/office/drawing/2014/main" id="{34BE6FFE-DEB9-405A-A446-2FFB2509FCE9}"/>
              </a:ext>
            </a:extLst>
          </p:cNvPr>
          <p:cNvSpPr>
            <a:spLocks xmlns:a="http://schemas.openxmlformats.org/drawingml/2006/main" noGrp="1"/>
          </p:cNvSpPr>
          <p:nvPr/>
        </p:nvSpPr>
        <p:spPr>
          <a:xfrm xmlns:a="http://schemas.openxmlformats.org/drawingml/2006/main">
            <a:off x="514350" y="1228725"/>
            <a:ext cx="11163300" cy="9525"/>
          </a:xfrm>
          <a:prstGeom xmlns:a="http://schemas.openxmlformats.org/drawingml/2006/main" prst="rect">
            <a:avLst/>
          </a:prstGeom>
          <a:solidFill xmlns:a="http://schemas.openxmlformats.org/drawingml/2006/main">
            <a:srgbClr val="11182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encoder-image">
            <a:extLst xmlns:a="http://schemas.openxmlformats.org/drawingml/2006/main">
              <a:ext uri="{FF2B5EF4-FFF2-40B4-BE49-F238E27FC236}">
                <a16:creationId xmlns:a16="http://schemas.microsoft.com/office/drawing/2014/main" id="{CE81DF22-C139-455D-AAF5-E2CD078B543F}"/>
              </a:ext>
            </a:extLst>
          </p:cNvPr>
          <p:cNvSpPr>
            <a:spLocks xmlns:a="http://schemas.openxmlformats.org/drawingml/2006/main" noGrp="1"/>
          </p:cNvSpPr>
          <p:nvPr/>
        </p:nvSpPr>
        <p:spPr>
          <a:xfrm xmlns:a="http://schemas.openxmlformats.org/drawingml/2006/main">
            <a:off x="685800" y="1657350"/>
            <a:ext cx="1952625" cy="781050"/>
          </a:xfrm>
          <a:prstGeom xmlns:a="http://schemas.openxmlformats.org/drawingml/2006/main" prst="roundRect">
            <a:avLst>
              <a:gd name="adj" fmla="val 9756"/>
            </a:avLst>
          </a:prstGeom>
          <a:solidFill xmlns:a="http://schemas.openxmlformats.org/drawingml/2006/main">
            <a:srgbClr val="FFF7ED"/>
          </a:solidFill>
          <a:ln xmlns:a="http://schemas.openxmlformats.org/drawingml/2006/main" w="14288">
            <a:solidFill>
              <a:srgbClr val="F97316"/>
            </a:solidFill>
          </a:ln>
        </p:spPr>
        <p:txBody>
          <a:bodyPr xmlns:a="http://schemas.openxmlformats.org/drawingml/2006/main" anchor="ctr">
            <a:normAutofit fontScale="100000"/>
          </a:bodyPr>
          <a:lstStyle xmlns:a="http://schemas.openxmlformats.org/drawingml/2006/main"/>
          <a:p xmlns:a="http://schemas.openxmlformats.org/drawingml/2006/main">
            <a:pPr>
              <a:buNone/>
              <a:defRPr sz="1200" b="1">
                <a:solidFill>
                  <a:srgbClr val="111827"/>
                </a:solidFill>
                <a:latin typeface="Calibri"/>
                <a:ea typeface="Calibri"/>
                <a:cs typeface="Calibri"/>
              </a:defRPr>
            </a:pPr>
            <a:r>
              <a:rPr sz="1200" b="1">
                <a:solidFill>
                  <a:srgbClr val="111827"/>
                </a:solidFill>
                <a:latin typeface="Calibri"/>
                <a:ea typeface="Calibri"/>
                <a:cs typeface="Calibri"/>
              </a:rPr>
              <a:t>Two 12 × 12 views</a:t>
            </a:r>
          </a:p>
          <a:p xmlns:a="http://schemas.openxmlformats.org/drawingml/2006/main">
            <a:pPr>
              <a:buNone/>
              <a:defRPr sz="1200" b="1">
                <a:solidFill>
                  <a:srgbClr val="111827"/>
                </a:solidFill>
                <a:latin typeface="Calibri"/>
                <a:ea typeface="Calibri"/>
                <a:cs typeface="Calibri"/>
              </a:defRPr>
            </a:pPr>
            <a:r>
              <a:rPr sz="1200" b="1">
                <a:solidFill>
                  <a:srgbClr val="111827"/>
                </a:solidFill>
                <a:latin typeface="Calibri"/>
                <a:ea typeface="Calibri"/>
                <a:cs typeface="Calibri"/>
              </a:rPr>
              <a:t>of one EM2 image</a:t>
            </a:r>
          </a:p>
        </p:txBody>
      </p:sp>
      <p:sp>
        <p:nvSpPr>
          <p:cNvPr id="5" name="encoder-patterns">
            <a:extLst xmlns:a="http://schemas.openxmlformats.org/drawingml/2006/main">
              <a:ext uri="{FF2B5EF4-FFF2-40B4-BE49-F238E27FC236}">
                <a16:creationId xmlns:a16="http://schemas.microsoft.com/office/drawing/2014/main" id="{EC5B6901-FE88-4BEE-952C-C1C952F1665F}"/>
              </a:ext>
            </a:extLst>
          </p:cNvPr>
          <p:cNvSpPr>
            <a:spLocks xmlns:a="http://schemas.openxmlformats.org/drawingml/2006/main" noGrp="1"/>
          </p:cNvSpPr>
          <p:nvPr/>
        </p:nvSpPr>
        <p:spPr>
          <a:xfrm xmlns:a="http://schemas.openxmlformats.org/drawingml/2006/main">
            <a:off x="3105150" y="1657350"/>
            <a:ext cx="2095500" cy="781050"/>
          </a:xfrm>
          <a:prstGeom xmlns:a="http://schemas.openxmlformats.org/drawingml/2006/main" prst="roundRect">
            <a:avLst>
              <a:gd name="adj" fmla="val 9756"/>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200" b="0">
                <a:solidFill>
                  <a:srgbClr val="111827"/>
                </a:solidFill>
                <a:latin typeface="Calibri"/>
                <a:ea typeface="Calibri"/>
                <a:cs typeface="Calibri"/>
              </a:defRPr>
            </a:pPr>
            <a:r>
              <a:rPr sz="1200" b="0">
                <a:solidFill>
                  <a:srgbClr val="111827"/>
                </a:solidFill>
                <a:latin typeface="Calibri"/>
                <a:ea typeface="Calibri"/>
                <a:cs typeface="Calibri"/>
              </a:rPr>
              <a:t>Look for four</a:t>
            </a:r>
          </a:p>
          <a:p xmlns:a="http://schemas.openxmlformats.org/drawingml/2006/main">
            <a:pPr>
              <a:buNone/>
              <a:defRPr sz="1200" b="0">
                <a:solidFill>
                  <a:srgbClr val="111827"/>
                </a:solidFill>
                <a:latin typeface="Calibri"/>
                <a:ea typeface="Calibri"/>
                <a:cs typeface="Calibri"/>
              </a:defRPr>
            </a:pPr>
            <a:r>
              <a:rPr sz="1200" b="0">
                <a:solidFill>
                  <a:srgbClr val="111827"/>
                </a:solidFill>
                <a:latin typeface="Calibri"/>
                <a:ea typeface="Calibri"/>
                <a:cs typeface="Calibri"/>
              </a:rPr>
              <a:t>different patterns</a:t>
            </a:r>
          </a:p>
        </p:txBody>
      </p:sp>
      <p:sp>
        <p:nvSpPr>
          <p:cNvPr id="6" name="encoder-strongest">
            <a:extLst xmlns:a="http://schemas.openxmlformats.org/drawingml/2006/main">
              <a:ext uri="{FF2B5EF4-FFF2-40B4-BE49-F238E27FC236}">
                <a16:creationId xmlns:a16="http://schemas.microsoft.com/office/drawing/2014/main" id="{F136C72B-1663-4715-8173-721B3C97BB23}"/>
              </a:ext>
            </a:extLst>
          </p:cNvPr>
          <p:cNvSpPr>
            <a:spLocks xmlns:a="http://schemas.openxmlformats.org/drawingml/2006/main" noGrp="1"/>
          </p:cNvSpPr>
          <p:nvPr/>
        </p:nvSpPr>
        <p:spPr>
          <a:xfrm xmlns:a="http://schemas.openxmlformats.org/drawingml/2006/main">
            <a:off x="5667375" y="1657350"/>
            <a:ext cx="2095500" cy="781050"/>
          </a:xfrm>
          <a:prstGeom xmlns:a="http://schemas.openxmlformats.org/drawingml/2006/main" prst="roundRect">
            <a:avLst>
              <a:gd name="adj" fmla="val 9756"/>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200" b="0">
                <a:solidFill>
                  <a:srgbClr val="111827"/>
                </a:solidFill>
                <a:latin typeface="Calibri"/>
                <a:ea typeface="Calibri"/>
                <a:cs typeface="Calibri"/>
              </a:defRPr>
            </a:pPr>
            <a:r>
              <a:rPr sz="1200" b="0">
                <a:solidFill>
                  <a:srgbClr val="111827"/>
                </a:solidFill>
                <a:latin typeface="Calibri"/>
                <a:ea typeface="Calibri"/>
                <a:cs typeface="Calibri"/>
              </a:rPr>
              <a:t>Keep the strongest</a:t>
            </a:r>
          </a:p>
          <a:p xmlns:a="http://schemas.openxmlformats.org/drawingml/2006/main">
            <a:pPr>
              <a:buNone/>
              <a:defRPr sz="1200" b="0">
                <a:solidFill>
                  <a:srgbClr val="111827"/>
                </a:solidFill>
                <a:latin typeface="Calibri"/>
                <a:ea typeface="Calibri"/>
                <a:cs typeface="Calibri"/>
              </a:defRPr>
            </a:pPr>
            <a:r>
              <a:rPr sz="1200" b="0">
                <a:solidFill>
                  <a:srgbClr val="111827"/>
                </a:solidFill>
                <a:latin typeface="Calibri"/>
                <a:ea typeface="Calibri"/>
                <a:cs typeface="Calibri"/>
              </a:rPr>
              <a:t>local responses</a:t>
            </a:r>
          </a:p>
        </p:txBody>
      </p:sp>
      <p:sp>
        <p:nvSpPr>
          <p:cNvPr id="7" name="encoder-image-values">
            <a:extLst xmlns:a="http://schemas.openxmlformats.org/drawingml/2006/main">
              <a:ext uri="{FF2B5EF4-FFF2-40B4-BE49-F238E27FC236}">
                <a16:creationId xmlns:a16="http://schemas.microsoft.com/office/drawing/2014/main" id="{CCFECCB5-2C3C-4819-8F04-DB07B8EF30C4}"/>
              </a:ext>
            </a:extLst>
          </p:cNvPr>
          <p:cNvSpPr>
            <a:spLocks xmlns:a="http://schemas.openxmlformats.org/drawingml/2006/main" noGrp="1"/>
          </p:cNvSpPr>
          <p:nvPr/>
        </p:nvSpPr>
        <p:spPr>
          <a:xfrm xmlns:a="http://schemas.openxmlformats.org/drawingml/2006/main">
            <a:off x="8229600" y="1657350"/>
            <a:ext cx="1714500" cy="781050"/>
          </a:xfrm>
          <a:prstGeom xmlns:a="http://schemas.openxmlformats.org/drawingml/2006/main" prst="roundRect">
            <a:avLst>
              <a:gd name="adj" fmla="val 9756"/>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a:bodyPr>
          <a:lstStyle xmlns:a="http://schemas.openxmlformats.org/drawingml/2006/main"/>
          <a:p xmlns:a="http://schemas.openxmlformats.org/drawingml/2006/main">
            <a:pPr>
              <a:buNone/>
              <a:defRPr sz="1200" b="1">
                <a:solidFill>
                  <a:srgbClr val="111827"/>
                </a:solidFill>
                <a:latin typeface="Calibri"/>
                <a:ea typeface="Calibri"/>
                <a:cs typeface="Calibri"/>
              </a:defRPr>
            </a:pPr>
            <a:r>
              <a:rPr sz="1200" b="1">
                <a:solidFill>
                  <a:srgbClr val="111827"/>
                </a:solidFill>
                <a:latin typeface="Calibri"/>
                <a:ea typeface="Calibri"/>
                <a:cs typeface="Calibri"/>
              </a:rPr>
              <a:t>100 image values</a:t>
            </a:r>
          </a:p>
        </p:txBody>
      </p:sp>
      <p:cxnSp>
        <p:nvCxnSpPr>
          <p:cNvPr id="174" name="Straight Arrow Connector 47"/>
          <p:cNvCxnSpPr>
            <a:stCxn xmlns:a="http://schemas.openxmlformats.org/drawingml/2006/main" id="4" idx="3"/>
            <a:endCxn xmlns:a="http://schemas.openxmlformats.org/drawingml/2006/main" id="5" idx="1"/>
          </p:cNvCxnSpPr>
          <p:nvPr/>
        </p:nvCxnSpPr>
        <p:spPr>
          <a:xfrm xmlns:a="http://schemas.openxmlformats.org/drawingml/2006/main">
            <a:off x="2638425" y="2047875"/>
            <a:ext cx="466725" cy="0"/>
          </a:xfrm>
          <a:prstGeom xmlns:a="http://schemas.openxmlformats.org/drawingml/2006/main" prst="straightConnector1">
            <a:avLst/>
          </a:prstGeom>
          <a:ln xmlns:a="http://schemas.openxmlformats.org/drawingml/2006/main" w="16193">
            <a:solidFill>
              <a:srgbClr val="94A3B8"/>
            </a:solidFill>
            <a:prstDash val="solid"/>
            <a:headEnd type="none" w="med" len="med"/>
            <a:tailEnd type="arrow" w="sm" len="sm"/>
          </a:ln>
        </p:spPr>
      </p:cxnSp>
      <p:cxnSp>
        <p:nvCxnSpPr>
          <p:cNvPr id="175" name="Straight Arrow Connector 48"/>
          <p:cNvCxnSpPr>
            <a:stCxn xmlns:a="http://schemas.openxmlformats.org/drawingml/2006/main" id="5" idx="3"/>
            <a:endCxn xmlns:a="http://schemas.openxmlformats.org/drawingml/2006/main" id="6" idx="1"/>
          </p:cNvCxnSpPr>
          <p:nvPr/>
        </p:nvCxnSpPr>
        <p:spPr>
          <a:xfrm xmlns:a="http://schemas.openxmlformats.org/drawingml/2006/main">
            <a:off x="5200650" y="2047875"/>
            <a:ext cx="466725" cy="0"/>
          </a:xfrm>
          <a:prstGeom xmlns:a="http://schemas.openxmlformats.org/drawingml/2006/main" prst="straightConnector1">
            <a:avLst/>
          </a:prstGeom>
          <a:ln xmlns:a="http://schemas.openxmlformats.org/drawingml/2006/main" w="16193">
            <a:solidFill>
              <a:srgbClr val="94A3B8"/>
            </a:solidFill>
            <a:prstDash val="solid"/>
            <a:headEnd type="none" w="med" len="med"/>
            <a:tailEnd type="arrow" w="sm" len="sm"/>
          </a:ln>
        </p:spPr>
      </p:cxnSp>
      <p:cxnSp>
        <p:nvCxnSpPr>
          <p:cNvPr id="176" name="Straight Arrow Connector 49"/>
          <p:cNvCxnSpPr>
            <a:stCxn xmlns:a="http://schemas.openxmlformats.org/drawingml/2006/main" id="6" idx="3"/>
            <a:endCxn xmlns:a="http://schemas.openxmlformats.org/drawingml/2006/main" id="7" idx="1"/>
          </p:cNvCxnSpPr>
          <p:nvPr/>
        </p:nvCxnSpPr>
        <p:spPr>
          <a:xfrm xmlns:a="http://schemas.openxmlformats.org/drawingml/2006/main">
            <a:off x="7762875" y="2047875"/>
            <a:ext cx="466725" cy="0"/>
          </a:xfrm>
          <a:prstGeom xmlns:a="http://schemas.openxmlformats.org/drawingml/2006/main" prst="straightConnector1">
            <a:avLst/>
          </a:prstGeom>
          <a:ln xmlns:a="http://schemas.openxmlformats.org/drawingml/2006/main" w="16193">
            <a:solidFill>
              <a:srgbClr val="94A3B8"/>
            </a:solidFill>
            <a:prstDash val="solid"/>
            <a:headEnd type="none" w="med" len="med"/>
            <a:tailEnd type="arrow" w="sm" len="sm"/>
          </a:ln>
        </p:spPr>
      </p:cxnSp>
      <p:sp>
        <p:nvSpPr>
          <p:cNvPr id="11" name="encoder-measurements">
            <a:extLst xmlns:a="http://schemas.openxmlformats.org/drawingml/2006/main">
              <a:ext uri="{FF2B5EF4-FFF2-40B4-BE49-F238E27FC236}">
                <a16:creationId xmlns:a16="http://schemas.microsoft.com/office/drawing/2014/main" id="{738A2584-BF70-4419-8F16-029D6298048D}"/>
              </a:ext>
            </a:extLst>
          </p:cNvPr>
          <p:cNvSpPr>
            <a:spLocks xmlns:a="http://schemas.openxmlformats.org/drawingml/2006/main" noGrp="1"/>
          </p:cNvSpPr>
          <p:nvPr/>
        </p:nvSpPr>
        <p:spPr>
          <a:xfrm xmlns:a="http://schemas.openxmlformats.org/drawingml/2006/main">
            <a:off x="685800" y="3371850"/>
            <a:ext cx="2381250" cy="781050"/>
          </a:xfrm>
          <a:prstGeom xmlns:a="http://schemas.openxmlformats.org/drawingml/2006/main" prst="roundRect">
            <a:avLst>
              <a:gd name="adj" fmla="val 9756"/>
            </a:avLst>
          </a:prstGeom>
          <a:solidFill xmlns:a="http://schemas.openxmlformats.org/drawingml/2006/main">
            <a:srgbClr val="FFF7ED"/>
          </a:solidFill>
          <a:ln xmlns:a="http://schemas.openxmlformats.org/drawingml/2006/main" w="14288">
            <a:solidFill>
              <a:srgbClr val="F97316"/>
            </a:solidFill>
          </a:ln>
        </p:spPr>
        <p:txBody>
          <a:bodyPr xmlns:a="http://schemas.openxmlformats.org/drawingml/2006/main" anchor="ctr">
            <a:normAutofit/>
          </a:bodyPr>
          <a:lstStyle xmlns:a="http://schemas.openxmlformats.org/drawingml/2006/main"/>
          <a:p xmlns:a="http://schemas.openxmlformats.org/drawingml/2006/main">
            <a:pPr>
              <a:buNone/>
              <a:defRPr sz="1200" b="0">
                <a:solidFill>
                  <a:srgbClr val="111827"/>
                </a:solidFill>
                <a:latin typeface="Calibri"/>
                <a:ea typeface="Calibri"/>
                <a:cs typeface="Calibri"/>
              </a:defRPr>
            </a:pPr>
            <a:r>
              <a:rPr sz="1200" b="0">
                <a:solidFill>
                  <a:srgbClr val="111827"/>
                </a:solidFill>
                <a:latin typeface="Calibri"/>
                <a:ea typeface="Calibri"/>
                <a:cs typeface="Calibri"/>
              </a:rPr>
              <a:t>47 other measurements</a:t>
            </a:r>
          </a:p>
          <a:p xmlns:a="http://schemas.openxmlformats.org/drawingml/2006/main">
            <a:pPr>
              <a:buNone/>
              <a:defRPr sz="1200" b="0">
                <a:solidFill>
                  <a:srgbClr val="111827"/>
                </a:solidFill>
                <a:latin typeface="Calibri"/>
                <a:ea typeface="Calibri"/>
                <a:cs typeface="Calibri"/>
              </a:defRPr>
            </a:pPr>
            <a:r>
              <a:rPr sz="1200" b="0">
                <a:solidFill>
                  <a:srgbClr val="111827"/>
                </a:solidFill>
                <a:latin typeface="Calibri"/>
                <a:ea typeface="Calibri"/>
                <a:cs typeface="Calibri"/>
              </a:rPr>
              <a:t>including measured pT</a:t>
            </a:r>
          </a:p>
        </p:txBody>
      </p:sp>
      <p:sp>
        <p:nvSpPr>
          <p:cNvPr id="12" name="encoder-learned">
            <a:extLst xmlns:a="http://schemas.openxmlformats.org/drawingml/2006/main">
              <a:ext uri="{FF2B5EF4-FFF2-40B4-BE49-F238E27FC236}">
                <a16:creationId xmlns:a16="http://schemas.microsoft.com/office/drawing/2014/main" id="{7258F4AF-8DF0-48DC-8CE1-B84791AC45B5}"/>
              </a:ext>
            </a:extLst>
          </p:cNvPr>
          <p:cNvSpPr>
            <a:spLocks xmlns:a="http://schemas.openxmlformats.org/drawingml/2006/main" noGrp="1"/>
          </p:cNvSpPr>
          <p:nvPr/>
        </p:nvSpPr>
        <p:spPr>
          <a:xfrm xmlns:a="http://schemas.openxmlformats.org/drawingml/2006/main">
            <a:off x="3676650" y="3371850"/>
            <a:ext cx="1714500" cy="781050"/>
          </a:xfrm>
          <a:prstGeom xmlns:a="http://schemas.openxmlformats.org/drawingml/2006/main" prst="roundRect">
            <a:avLst>
              <a:gd name="adj" fmla="val 9756"/>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a:bodyPr>
          <a:lstStyle xmlns:a="http://schemas.openxmlformats.org/drawingml/2006/main"/>
          <a:p xmlns:a="http://schemas.openxmlformats.org/drawingml/2006/main">
            <a:pPr>
              <a:buNone/>
              <a:defRPr sz="1200" b="1">
                <a:solidFill>
                  <a:srgbClr val="111827"/>
                </a:solidFill>
                <a:latin typeface="Calibri"/>
                <a:ea typeface="Calibri"/>
                <a:cs typeface="Calibri"/>
              </a:defRPr>
            </a:pPr>
            <a:r>
              <a:rPr sz="1200" b="1">
                <a:solidFill>
                  <a:srgbClr val="111827"/>
                </a:solidFill>
                <a:latin typeface="Calibri"/>
                <a:ea typeface="Calibri"/>
                <a:cs typeface="Calibri"/>
              </a:rPr>
              <a:t>16 learned values</a:t>
            </a:r>
          </a:p>
        </p:txBody>
      </p:sp>
      <p:sp>
        <p:nvSpPr>
          <p:cNvPr id="13" name="encoder-combine">
            <a:extLst xmlns:a="http://schemas.openxmlformats.org/drawingml/2006/main">
              <a:ext uri="{FF2B5EF4-FFF2-40B4-BE49-F238E27FC236}">
                <a16:creationId xmlns:a16="http://schemas.microsoft.com/office/drawing/2014/main" id="{B5CD2565-2BBF-45C7-BD04-A365708455EE}"/>
              </a:ext>
            </a:extLst>
          </p:cNvPr>
          <p:cNvSpPr>
            <a:spLocks xmlns:a="http://schemas.openxmlformats.org/drawingml/2006/main" noGrp="1"/>
          </p:cNvSpPr>
          <p:nvPr/>
        </p:nvSpPr>
        <p:spPr>
          <a:xfrm xmlns:a="http://schemas.openxmlformats.org/drawingml/2006/main">
            <a:off x="6610350" y="3371850"/>
            <a:ext cx="1619250" cy="781050"/>
          </a:xfrm>
          <a:prstGeom xmlns:a="http://schemas.openxmlformats.org/drawingml/2006/main" prst="roundRect">
            <a:avLst>
              <a:gd name="adj" fmla="val 9756"/>
            </a:avLst>
          </a:prstGeom>
          <a:solidFill xmlns:a="http://schemas.openxmlformats.org/drawingml/2006/main">
            <a:srgbClr val="FDF2F8"/>
          </a:solidFill>
          <a:ln xmlns:a="http://schemas.openxmlformats.org/drawingml/2006/main" w="14288">
            <a:solidFill>
              <a:srgbClr val="EC4899"/>
            </a:solidFill>
          </a:ln>
        </p:spPr>
        <p:txBody>
          <a:bodyPr xmlns:a="http://schemas.openxmlformats.org/drawingml/2006/main" anchor="ctr">
            <a:normAutofit/>
          </a:bodyPr>
          <a:lstStyle xmlns:a="http://schemas.openxmlformats.org/drawingml/2006/main"/>
          <a:p xmlns:a="http://schemas.openxmlformats.org/drawingml/2006/main">
            <a:pPr>
              <a:buNone/>
              <a:defRPr sz="1200" b="0">
                <a:solidFill>
                  <a:srgbClr val="111827"/>
                </a:solidFill>
                <a:latin typeface="Calibri"/>
                <a:ea typeface="Calibri"/>
                <a:cs typeface="Calibri"/>
              </a:defRPr>
            </a:pPr>
            <a:r>
              <a:rPr sz="1200" b="0">
                <a:solidFill>
                  <a:srgbClr val="111827"/>
                </a:solidFill>
                <a:latin typeface="Calibri"/>
                <a:ea typeface="Calibri"/>
                <a:cs typeface="Calibri"/>
              </a:rPr>
              <a:t>Combine the</a:t>
            </a:r>
          </a:p>
          <a:p xmlns:a="http://schemas.openxmlformats.org/drawingml/2006/main">
            <a:pPr>
              <a:buNone/>
              <a:defRPr sz="1200" b="0">
                <a:solidFill>
                  <a:srgbClr val="111827"/>
                </a:solidFill>
                <a:latin typeface="Calibri"/>
                <a:ea typeface="Calibri"/>
                <a:cs typeface="Calibri"/>
              </a:defRPr>
            </a:pPr>
            <a:r>
              <a:rPr sz="1200" b="0">
                <a:solidFill>
                  <a:srgbClr val="111827"/>
                </a:solidFill>
                <a:latin typeface="Calibri"/>
                <a:ea typeface="Calibri"/>
                <a:cs typeface="Calibri"/>
              </a:rPr>
              <a:t>information</a:t>
            </a:r>
          </a:p>
        </p:txBody>
      </p:sp>
      <p:sp>
        <p:nvSpPr>
          <p:cNvPr id="14" name="encoder-summary">
            <a:extLst xmlns:a="http://schemas.openxmlformats.org/drawingml/2006/main">
              <a:ext uri="{FF2B5EF4-FFF2-40B4-BE49-F238E27FC236}">
                <a16:creationId xmlns:a16="http://schemas.microsoft.com/office/drawing/2014/main" id="{69BF083F-CADC-4927-A174-902EA48C821D}"/>
              </a:ext>
            </a:extLst>
          </p:cNvPr>
          <p:cNvSpPr>
            <a:spLocks xmlns:a="http://schemas.openxmlformats.org/drawingml/2006/main" noGrp="1"/>
          </p:cNvSpPr>
          <p:nvPr/>
        </p:nvSpPr>
        <p:spPr>
          <a:xfrm xmlns:a="http://schemas.openxmlformats.org/drawingml/2006/main">
            <a:off x="8858250" y="3371850"/>
            <a:ext cx="2190750" cy="781050"/>
          </a:xfrm>
          <a:prstGeom xmlns:a="http://schemas.openxmlformats.org/drawingml/2006/main" prst="roundRect">
            <a:avLst>
              <a:gd name="adj" fmla="val 9756"/>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a:bodyPr>
          <a:lstStyle xmlns:a="http://schemas.openxmlformats.org/drawingml/2006/main"/>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16-number summary</a:t>
            </a:r>
          </a:p>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of this TOB</a:t>
            </a:r>
          </a:p>
        </p:txBody>
      </p:sp>
      <p:cxnSp>
        <p:nvCxnSpPr>
          <p:cNvPr id="181" name="Straight Arrow Connector 54"/>
          <p:cNvCxnSpPr>
            <a:stCxn xmlns:a="http://schemas.openxmlformats.org/drawingml/2006/main" id="11" idx="3"/>
            <a:endCxn xmlns:a="http://schemas.openxmlformats.org/drawingml/2006/main" id="12" idx="1"/>
          </p:cNvCxnSpPr>
          <p:nvPr/>
        </p:nvCxnSpPr>
        <p:spPr>
          <a:xfrm xmlns:a="http://schemas.openxmlformats.org/drawingml/2006/main">
            <a:off x="3067050" y="3762375"/>
            <a:ext cx="609600" cy="0"/>
          </a:xfrm>
          <a:prstGeom xmlns:a="http://schemas.openxmlformats.org/drawingml/2006/main" prst="straightConnector1">
            <a:avLst/>
          </a:prstGeom>
          <a:ln xmlns:a="http://schemas.openxmlformats.org/drawingml/2006/main" w="16193">
            <a:solidFill>
              <a:srgbClr val="94A3B8"/>
            </a:solidFill>
            <a:prstDash val="solid"/>
            <a:headEnd type="none" w="med" len="med"/>
            <a:tailEnd type="arrow" w="sm" len="sm"/>
          </a:ln>
        </p:spPr>
      </p:cxnSp>
      <p:cxnSp>
        <p:nvCxnSpPr>
          <p:cNvPr id="182" name="Straight Arrow Connector 55"/>
          <p:cNvCxnSpPr>
            <a:stCxn xmlns:a="http://schemas.openxmlformats.org/drawingml/2006/main" id="12" idx="3"/>
            <a:endCxn xmlns:a="http://schemas.openxmlformats.org/drawingml/2006/main" id="13" idx="1"/>
          </p:cNvCxnSpPr>
          <p:nvPr/>
        </p:nvCxnSpPr>
        <p:spPr>
          <a:xfrm xmlns:a="http://schemas.openxmlformats.org/drawingml/2006/main">
            <a:off x="5391150" y="3762375"/>
            <a:ext cx="1219200" cy="0"/>
          </a:xfrm>
          <a:prstGeom xmlns:a="http://schemas.openxmlformats.org/drawingml/2006/main" prst="straightConnector1">
            <a:avLst/>
          </a:prstGeom>
          <a:ln xmlns:a="http://schemas.openxmlformats.org/drawingml/2006/main" w="16193">
            <a:solidFill>
              <a:srgbClr val="94A3B8"/>
            </a:solidFill>
            <a:prstDash val="solid"/>
            <a:headEnd type="none" w="med" len="med"/>
            <a:tailEnd type="arrow" w="sm" len="sm"/>
          </a:ln>
        </p:spPr>
      </p:cxnSp>
      <p:cxnSp>
        <p:nvCxnSpPr>
          <p:cNvPr id="183" name="Elbow Connector 56"/>
          <p:cNvCxnSpPr>
            <a:stCxn xmlns:a="http://schemas.openxmlformats.org/drawingml/2006/main" id="7" idx="2"/>
            <a:endCxn xmlns:a="http://schemas.openxmlformats.org/drawingml/2006/main" id="13" idx="0"/>
          </p:cNvCxnSpPr>
          <p:nvPr/>
        </p:nvCxnSpPr>
        <p:spPr>
          <a:xfrm xmlns:a="http://schemas.openxmlformats.org/drawingml/2006/main" flipH="1">
            <a:off x="7419975" y="2438400"/>
            <a:ext cx="1666875" cy="933450"/>
          </a:xfrm>
          <a:prstGeom xmlns:a="http://schemas.openxmlformats.org/drawingml/2006/main" prst="bentConnector4">
            <a:avLst>
              <a:gd name="adj1" fmla="val 0"/>
              <a:gd name="adj2" fmla="val 50000"/>
            </a:avLst>
          </a:prstGeom>
          <a:ln xmlns:a="http://schemas.openxmlformats.org/drawingml/2006/main" w="16193">
            <a:solidFill>
              <a:srgbClr val="94A3B8"/>
            </a:solidFill>
            <a:prstDash val="solid"/>
            <a:headEnd type="none" w="med" len="med"/>
            <a:tailEnd type="arrow" w="sm" len="sm"/>
          </a:ln>
        </p:spPr>
      </p:cxnSp>
      <p:cxnSp>
        <p:nvCxnSpPr>
          <p:cNvPr id="184" name="Straight Arrow Connector 57"/>
          <p:cNvCxnSpPr>
            <a:stCxn xmlns:a="http://schemas.openxmlformats.org/drawingml/2006/main" id="13" idx="3"/>
            <a:endCxn xmlns:a="http://schemas.openxmlformats.org/drawingml/2006/main" id="14" idx="1"/>
          </p:cNvCxnSpPr>
          <p:nvPr/>
        </p:nvCxnSpPr>
        <p:spPr>
          <a:xfrm xmlns:a="http://schemas.openxmlformats.org/drawingml/2006/main">
            <a:off x="8229600" y="3762375"/>
            <a:ext cx="628650" cy="0"/>
          </a:xfrm>
          <a:prstGeom xmlns:a="http://schemas.openxmlformats.org/drawingml/2006/main" prst="straightConnector1">
            <a:avLst/>
          </a:prstGeom>
          <a:ln xmlns:a="http://schemas.openxmlformats.org/drawingml/2006/main" w="16193">
            <a:solidFill>
              <a:srgbClr val="94A3B8"/>
            </a:solidFill>
            <a:prstDash val="solid"/>
            <a:headEnd type="none" w="med" len="med"/>
            <a:tailEnd type="arrow" w="sm" len="sm"/>
          </a:ln>
        </p:spPr>
      </p:cxnSp>
      <p:sp>
        <p:nvSpPr>
          <p:cNvPr id="19" name="encoder-shared-note">
            <a:extLst xmlns:a="http://schemas.openxmlformats.org/drawingml/2006/main">
              <a:ext uri="{FF2B5EF4-FFF2-40B4-BE49-F238E27FC236}">
                <a16:creationId xmlns:a16="http://schemas.microsoft.com/office/drawing/2014/main" id="{694B8E59-8BD3-4FE2-92B9-DDFDCB6D8BF4}"/>
              </a:ext>
            </a:extLst>
          </p:cNvPr>
          <p:cNvSpPr>
            <a:spLocks xmlns:a="http://schemas.openxmlformats.org/drawingml/2006/main" noGrp="1"/>
          </p:cNvSpPr>
          <p:nvPr/>
        </p:nvSpPr>
        <p:spPr>
          <a:xfrm xmlns:a="http://schemas.openxmlformats.org/drawingml/2006/main">
            <a:off x="1524000" y="4572000"/>
            <a:ext cx="914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b="1">
                <a:solidFill>
                  <a:srgbClr val="111827"/>
                </a:solidFill>
                <a:latin typeface="Calibri"/>
                <a:ea typeface="Calibri"/>
                <a:cs typeface="Calibri"/>
              </a:defRPr>
            </a:pPr>
            <a:r>
              <a:rPr sz="1350" b="1">
                <a:solidFill>
                  <a:srgbClr val="111827"/>
                </a:solidFill>
                <a:latin typeface="Calibri"/>
                <a:ea typeface="Calibri"/>
                <a:cs typeface="Calibri"/>
              </a:rPr>
              <a:t>The same process, with the same learned weights, is applied to both TOBs.</a:t>
            </a:r>
          </a:p>
        </p:txBody>
      </p:sp>
      <p:sp>
        <p:nvSpPr>
          <p:cNvPr id="20" name="encoder-close">
            <a:extLst xmlns:a="http://schemas.openxmlformats.org/drawingml/2006/main">
              <a:ext uri="{FF2B5EF4-FFF2-40B4-BE49-F238E27FC236}">
                <a16:creationId xmlns:a16="http://schemas.microsoft.com/office/drawing/2014/main" id="{C3A31DA0-8A16-4C26-B42A-A151DCAB75CF}"/>
              </a:ext>
            </a:extLst>
          </p:cNvPr>
          <p:cNvSpPr>
            <a:spLocks xmlns:a="http://schemas.openxmlformats.org/drawingml/2006/main" noGrp="1"/>
          </p:cNvSpPr>
          <p:nvPr/>
        </p:nvSpPr>
        <p:spPr>
          <a:xfrm xmlns:a="http://schemas.openxmlformats.org/drawingml/2006/main">
            <a:off x="904875" y="5381625"/>
            <a:ext cx="10382250" cy="781050"/>
          </a:xfrm>
          <a:prstGeom xmlns:a="http://schemas.openxmlformats.org/drawingml/2006/main" prst="roundRect">
            <a:avLst>
              <a:gd name="adj" fmla="val 9756"/>
            </a:avLst>
          </a:prstGeom>
          <a:solidFill xmlns:a="http://schemas.openxmlformats.org/drawingml/2006/main">
            <a:srgbClr val="F8FAFC"/>
          </a:solidFill>
          <a:ln xmlns:a="http://schemas.openxmlformats.org/drawingml/2006/main" w="9525">
            <a:solidFill>
              <a:srgbClr val="94A3B8"/>
            </a:solidFill>
          </a:ln>
        </p:spPr>
        <p:txBody>
          <a:bodyPr xmlns:a="http://schemas.openxmlformats.org/drawingml/2006/main"/>
          <a:lstStyle xmlns:a="http://schemas.openxmlformats.org/drawingml/2006/main"/>
          <a:p xmlns:a="http://schemas.openxmlformats.org/drawingml/2006/main">
            <a:endParaRPr/>
          </a:p>
        </p:txBody>
      </p:sp>
      <p:sp>
        <p:nvSpPr>
          <p:cNvPr id="21" name="encoder-close-text">
            <a:extLst xmlns:a="http://schemas.openxmlformats.org/drawingml/2006/main">
              <a:ext uri="{FF2B5EF4-FFF2-40B4-BE49-F238E27FC236}">
                <a16:creationId xmlns:a16="http://schemas.microsoft.com/office/drawing/2014/main" id="{F298B28F-CF98-442F-B159-075BADD7D674}"/>
              </a:ext>
            </a:extLst>
          </p:cNvPr>
          <p:cNvSpPr>
            <a:spLocks xmlns:a="http://schemas.openxmlformats.org/drawingml/2006/main" noGrp="1"/>
          </p:cNvSpPr>
          <p:nvPr/>
        </p:nvSpPr>
        <p:spPr>
          <a:xfrm xmlns:a="http://schemas.openxmlformats.org/drawingml/2006/main">
            <a:off x="1190625" y="554355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Encoder comparison complete: preferences depended on the input, but no vector model replaced the high-resolution model.</a:t>
            </a:r>
          </a:p>
        </p:txBody>
      </p:sp>
      <p:sp>
        <p:nvSpPr>
          <p:cNvPr id="22" name="footer-encoder">
            <a:extLst xmlns:a="http://schemas.openxmlformats.org/drawingml/2006/main">
              <a:ext uri="{FF2B5EF4-FFF2-40B4-BE49-F238E27FC236}">
                <a16:creationId xmlns:a16="http://schemas.microsoft.com/office/drawing/2014/main" id="{6643F71D-E732-4092-B9C9-51DB27DBE057}"/>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buNone/>
              <a:defRPr sz="825" b="0">
                <a:solidFill>
                  <a:srgbClr val="64748B"/>
                </a:solidFill>
                <a:latin typeface="Calibri"/>
                <a:ea typeface="Calibri"/>
                <a:cs typeface="Calibri"/>
              </a:defRPr>
            </a:pPr>
            <a:r>
              <a:rPr sz="825" b="0">
                <a:solidFill>
                  <a:srgbClr val="64748B"/>
                </a:solidFill>
                <a:latin typeface="Calibri"/>
                <a:ea typeface="Calibri"/>
                <a:cs typeface="Calibri"/>
              </a:rPr>
              <a:t>33</a:t>
            </a:r>
          </a:p>
        </p:txBody>
      </p:sp>
    </p:spTree>
    <p:extLst>
      <p:ext uri="{BB962C8B-B14F-4D97-AF65-F5344CB8AC3E}">
        <p14:creationId xmlns:p14="http://schemas.microsoft.com/office/powerpoint/2010/main" val="85330501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HIGH-RESOLUTION PAIR MODEL</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Shared member encoders produce one pair score</a:t>
            </a:r>
          </a:p>
        </p:txBody>
      </p:sp>
      <p:cxnSp>
        <p:nvCxnSpPr>
          <p:cNvPr id="430"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34</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retained 4,357-parameter network scores every finite pair with shared member encoders.</a:t>
            </a:r>
          </a:p>
        </p:txBody>
      </p:sp>
      <p:sp>
        <p:nvSpPr>
          <p:cNvPr id="84" name="arch-row-l">
            <a:extLst xmlns:a="http://schemas.openxmlformats.org/drawingml/2006/main">
              <a:ext uri="{FF2B5EF4-FFF2-40B4-BE49-F238E27FC236}">
                <a16:creationId xmlns:a16="http://schemas.microsoft.com/office/drawing/2014/main" id="{5D05D2AA-3C1D-48F9-A99E-A6A721F0C512}"/>
              </a:ext>
            </a:extLst>
          </p:cNvPr>
          <p:cNvSpPr>
            <a:spLocks xmlns:a="http://schemas.openxmlformats.org/drawingml/2006/main" noGrp="1"/>
          </p:cNvSpPr>
          <p:nvPr/>
        </p:nvSpPr>
        <p:spPr>
          <a:xfrm xmlns:a="http://schemas.openxmlformats.org/drawingml/2006/main">
            <a:off x="590550" y="1647825"/>
            <a:ext cx="112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283"/>
          </a:bodyPr>
          <a:lstStyle xmlns:a="http://schemas.openxmlformats.org/drawingml/2006/main"/>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Higher-pT TOB</a:t>
            </a:r>
          </a:p>
        </p:txBody>
      </p:sp>
      <p:sp>
        <p:nvSpPr>
          <p:cNvPr id="85" name="arch-row-s">
            <a:extLst xmlns:a="http://schemas.openxmlformats.org/drawingml/2006/main">
              <a:ext uri="{FF2B5EF4-FFF2-40B4-BE49-F238E27FC236}">
                <a16:creationId xmlns:a16="http://schemas.microsoft.com/office/drawing/2014/main" id="{619931FA-8327-4177-8503-C41ACE29C4EB}"/>
              </a:ext>
            </a:extLst>
          </p:cNvPr>
          <p:cNvSpPr>
            <a:spLocks xmlns:a="http://schemas.openxmlformats.org/drawingml/2006/main" noGrp="1"/>
          </p:cNvSpPr>
          <p:nvPr/>
        </p:nvSpPr>
        <p:spPr>
          <a:xfrm xmlns:a="http://schemas.openxmlformats.org/drawingml/2006/main">
            <a:off x="590550" y="3190875"/>
            <a:ext cx="112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83"/>
          </a:bodyPr>
          <a:lstStyle xmlns:a="http://schemas.openxmlformats.org/drawingml/2006/main"/>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Lower-pT TOB</a:t>
            </a:r>
          </a:p>
        </p:txBody>
      </p:sp>
      <p:sp>
        <p:nvSpPr>
          <p:cNvPr id="86" name="arch-l-input">
            <a:extLst xmlns:a="http://schemas.openxmlformats.org/drawingml/2006/main">
              <a:ext uri="{FF2B5EF4-FFF2-40B4-BE49-F238E27FC236}">
                <a16:creationId xmlns:a16="http://schemas.microsoft.com/office/drawing/2014/main" id="{3D8777BD-A43F-4735-97F3-FEE32D9C47D2}"/>
              </a:ext>
            </a:extLst>
          </p:cNvPr>
          <p:cNvSpPr>
            <a:spLocks xmlns:a="http://schemas.openxmlformats.org/drawingml/2006/main" noGrp="1"/>
          </p:cNvSpPr>
          <p:nvPr/>
        </p:nvSpPr>
        <p:spPr>
          <a:xfrm xmlns:a="http://schemas.openxmlformats.org/drawingml/2006/main">
            <a:off x="1714500" y="1476375"/>
            <a:ext cx="1952625" cy="762000"/>
          </a:xfrm>
          <a:prstGeom xmlns:a="http://schemas.openxmlformats.org/drawingml/2006/main" prst="roundRect">
            <a:avLst>
              <a:gd name="adj" fmla="val 10000"/>
            </a:avLst>
          </a:prstGeom>
          <a:solidFill xmlns:a="http://schemas.openxmlformats.org/drawingml/2006/main">
            <a:srgbClr val="FFF7ED"/>
          </a:solidFill>
          <a:ln xmlns:a="http://schemas.openxmlformats.org/drawingml/2006/main" w="14288">
            <a:solidFill>
              <a:srgbClr val="F97316"/>
            </a:solidFill>
          </a:ln>
        </p:spPr>
        <p:txBody>
          <a:bodyPr xmlns:a="http://schemas.openxmlformats.org/drawingml/2006/main" anchor="ctr">
            <a:normAutofit fontScale="97788"/>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Two 12 × 12 EM2 image views</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47 member scalars:</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45 cells + pT + EM2 fraction</a:t>
            </a:r>
          </a:p>
        </p:txBody>
      </p:sp>
      <p:sp>
        <p:nvSpPr>
          <p:cNvPr id="87" name="arch-l-encoder">
            <a:extLst xmlns:a="http://schemas.openxmlformats.org/drawingml/2006/main">
              <a:ext uri="{FF2B5EF4-FFF2-40B4-BE49-F238E27FC236}">
                <a16:creationId xmlns:a16="http://schemas.microsoft.com/office/drawing/2014/main" id="{EE875995-173E-4A16-AF81-BE9923BC002C}"/>
              </a:ext>
            </a:extLst>
          </p:cNvPr>
          <p:cNvSpPr>
            <a:spLocks xmlns:a="http://schemas.openxmlformats.org/drawingml/2006/main" noGrp="1"/>
          </p:cNvSpPr>
          <p:nvPr/>
        </p:nvSpPr>
        <p:spPr>
          <a:xfrm xmlns:a="http://schemas.openxmlformats.org/drawingml/2006/main">
            <a:off x="4238625" y="1476375"/>
            <a:ext cx="2095500" cy="762000"/>
          </a:xfrm>
          <a:prstGeom xmlns:a="http://schemas.openxmlformats.org/drawingml/2006/main" prst="roundRect">
            <a:avLst>
              <a:gd name="adj" fmla="val 10000"/>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Shared member encoder</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CNN + scalar branch</a:t>
            </a:r>
          </a:p>
        </p:txBody>
      </p:sp>
      <p:sp>
        <p:nvSpPr>
          <p:cNvPr id="88" name="arch-l-embedding">
            <a:extLst xmlns:a="http://schemas.openxmlformats.org/drawingml/2006/main">
              <a:ext uri="{FF2B5EF4-FFF2-40B4-BE49-F238E27FC236}">
                <a16:creationId xmlns:a16="http://schemas.microsoft.com/office/drawing/2014/main" id="{83B20AD4-28CD-461C-81AC-A5C8536FF9E5}"/>
              </a:ext>
            </a:extLst>
          </p:cNvPr>
          <p:cNvSpPr>
            <a:spLocks xmlns:a="http://schemas.openxmlformats.org/drawingml/2006/main" noGrp="1"/>
          </p:cNvSpPr>
          <p:nvPr/>
        </p:nvSpPr>
        <p:spPr>
          <a:xfrm xmlns:a="http://schemas.openxmlformats.org/drawingml/2006/main">
            <a:off x="6905625" y="1476375"/>
            <a:ext cx="1619250" cy="762000"/>
          </a:xfrm>
          <a:prstGeom xmlns:a="http://schemas.openxmlformats.org/drawingml/2006/main" prst="roundRect">
            <a:avLst>
              <a:gd name="adj" fmla="val 10000"/>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16-number member</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representation</a:t>
            </a:r>
          </a:p>
        </p:txBody>
      </p:sp>
      <p:sp>
        <p:nvSpPr>
          <p:cNvPr id="89" name="arch-s-input">
            <a:extLst xmlns:a="http://schemas.openxmlformats.org/drawingml/2006/main">
              <a:ext uri="{FF2B5EF4-FFF2-40B4-BE49-F238E27FC236}">
                <a16:creationId xmlns:a16="http://schemas.microsoft.com/office/drawing/2014/main" id="{2FD5F03F-8EA5-4B8D-A307-AE5A1A6ED1F2}"/>
              </a:ext>
            </a:extLst>
          </p:cNvPr>
          <p:cNvSpPr>
            <a:spLocks xmlns:a="http://schemas.openxmlformats.org/drawingml/2006/main" noGrp="1"/>
          </p:cNvSpPr>
          <p:nvPr/>
        </p:nvSpPr>
        <p:spPr>
          <a:xfrm xmlns:a="http://schemas.openxmlformats.org/drawingml/2006/main">
            <a:off x="1714500" y="3019425"/>
            <a:ext cx="1952625" cy="762000"/>
          </a:xfrm>
          <a:prstGeom xmlns:a="http://schemas.openxmlformats.org/drawingml/2006/main" prst="roundRect">
            <a:avLst>
              <a:gd name="adj" fmla="val 10000"/>
            </a:avLst>
          </a:prstGeom>
          <a:solidFill xmlns:a="http://schemas.openxmlformats.org/drawingml/2006/main">
            <a:srgbClr val="FFF7ED"/>
          </a:solidFill>
          <a:ln xmlns:a="http://schemas.openxmlformats.org/drawingml/2006/main" w="14288">
            <a:solidFill>
              <a:srgbClr val="F97316"/>
            </a:solidFill>
          </a:ln>
        </p:spPr>
        <p:txBody>
          <a:bodyPr xmlns:a="http://schemas.openxmlformats.org/drawingml/2006/main" anchor="ctr">
            <a:normAutofit fontScale="97788"/>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Two 12 × 12 EM2 image views</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47 member scalars:</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45 cells + pT + EM2 fraction</a:t>
            </a:r>
          </a:p>
        </p:txBody>
      </p:sp>
      <p:sp>
        <p:nvSpPr>
          <p:cNvPr id="90" name="arch-s-encoder">
            <a:extLst xmlns:a="http://schemas.openxmlformats.org/drawingml/2006/main">
              <a:ext uri="{FF2B5EF4-FFF2-40B4-BE49-F238E27FC236}">
                <a16:creationId xmlns:a16="http://schemas.microsoft.com/office/drawing/2014/main" id="{4600AE49-07CD-418C-8F27-BD548AEACBBA}"/>
              </a:ext>
            </a:extLst>
          </p:cNvPr>
          <p:cNvSpPr>
            <a:spLocks xmlns:a="http://schemas.openxmlformats.org/drawingml/2006/main" noGrp="1"/>
          </p:cNvSpPr>
          <p:nvPr/>
        </p:nvSpPr>
        <p:spPr>
          <a:xfrm xmlns:a="http://schemas.openxmlformats.org/drawingml/2006/main">
            <a:off x="4238625" y="3019425"/>
            <a:ext cx="2095500" cy="762000"/>
          </a:xfrm>
          <a:prstGeom xmlns:a="http://schemas.openxmlformats.org/drawingml/2006/main" prst="roundRect">
            <a:avLst>
              <a:gd name="adj" fmla="val 10000"/>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Same member encoder</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Same learned weights</a:t>
            </a:r>
          </a:p>
        </p:txBody>
      </p:sp>
      <p:sp>
        <p:nvSpPr>
          <p:cNvPr id="91" name="arch-s-embedding">
            <a:extLst xmlns:a="http://schemas.openxmlformats.org/drawingml/2006/main">
              <a:ext uri="{FF2B5EF4-FFF2-40B4-BE49-F238E27FC236}">
                <a16:creationId xmlns:a16="http://schemas.microsoft.com/office/drawing/2014/main" id="{ED9AFDB3-936B-4517-9BB9-2D4E427F4F52}"/>
              </a:ext>
            </a:extLst>
          </p:cNvPr>
          <p:cNvSpPr>
            <a:spLocks xmlns:a="http://schemas.openxmlformats.org/drawingml/2006/main" noGrp="1"/>
          </p:cNvSpPr>
          <p:nvPr/>
        </p:nvSpPr>
        <p:spPr>
          <a:xfrm xmlns:a="http://schemas.openxmlformats.org/drawingml/2006/main">
            <a:off x="6905625" y="3019425"/>
            <a:ext cx="1619250" cy="762000"/>
          </a:xfrm>
          <a:prstGeom xmlns:a="http://schemas.openxmlformats.org/drawingml/2006/main" prst="roundRect">
            <a:avLst>
              <a:gd name="adj" fmla="val 10000"/>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16-number member</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representation</a:t>
            </a:r>
          </a:p>
        </p:txBody>
      </p:sp>
      <p:sp>
        <p:nvSpPr>
          <p:cNvPr id="92" name="arch-pair-head">
            <a:extLst xmlns:a="http://schemas.openxmlformats.org/drawingml/2006/main">
              <a:ext uri="{FF2B5EF4-FFF2-40B4-BE49-F238E27FC236}">
                <a16:creationId xmlns:a16="http://schemas.microsoft.com/office/drawing/2014/main" id="{30193693-5EE5-4FAB-81AA-C11AFA6301FE}"/>
              </a:ext>
            </a:extLst>
          </p:cNvPr>
          <p:cNvSpPr>
            <a:spLocks xmlns:a="http://schemas.openxmlformats.org/drawingml/2006/main" noGrp="1"/>
          </p:cNvSpPr>
          <p:nvPr/>
        </p:nvSpPr>
        <p:spPr>
          <a:xfrm xmlns:a="http://schemas.openxmlformats.org/drawingml/2006/main">
            <a:off x="9191625" y="1962150"/>
            <a:ext cx="2333625" cy="1143000"/>
          </a:xfrm>
          <a:prstGeom xmlns:a="http://schemas.openxmlformats.org/drawingml/2006/main" prst="roundRect">
            <a:avLst>
              <a:gd name="adj" fmla="val 6667"/>
            </a:avLst>
          </a:prstGeom>
          <a:solidFill xmlns:a="http://schemas.openxmlformats.org/drawingml/2006/main">
            <a:srgbClr val="FDF2F8"/>
          </a:solidFill>
          <a:ln xmlns:a="http://schemas.openxmlformats.org/drawingml/2006/main" w="14288">
            <a:solidFill>
              <a:srgbClr val="EC4899"/>
            </a:solidFill>
          </a:ln>
        </p:spPr>
        <p:txBody>
          <a:bodyPr xmlns:a="http://schemas.openxmlformats.org/drawingml/2006/main" anchor="ctr">
            <a:normAutofit/>
          </a:bodyPr>
          <a:lstStyle xmlns:a="http://schemas.openxmlformats.org/drawingml/2006/main"/>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Pair head</a:t>
            </a:r>
          </a:p>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16 + 16 + event pT</a:t>
            </a:r>
          </a:p>
          <a:p xmlns:a="http://schemas.openxmlformats.org/drawingml/2006/main">
            <a:endParaRPr sz="1125" b="1">
              <a:solidFill>
                <a:srgbClr val="111827"/>
              </a:solidFill>
              <a:latin typeface="Calibri"/>
              <a:ea typeface="Calibri"/>
              <a:cs typeface="Calibri"/>
            </a:endParaRPr>
          </a:p>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One pair score</a:t>
            </a:r>
          </a:p>
        </p:txBody>
      </p:sp>
      <p:sp>
        <p:nvSpPr>
          <p:cNvPr id="93" name="arch-event-score">
            <a:extLst xmlns:a="http://schemas.openxmlformats.org/drawingml/2006/main">
              <a:ext uri="{FF2B5EF4-FFF2-40B4-BE49-F238E27FC236}">
                <a16:creationId xmlns:a16="http://schemas.microsoft.com/office/drawing/2014/main" id="{A4692D4F-2E7C-4C81-A875-AE7293BDC26A}"/>
              </a:ext>
            </a:extLst>
          </p:cNvPr>
          <p:cNvSpPr>
            <a:spLocks xmlns:a="http://schemas.openxmlformats.org/drawingml/2006/main" noGrp="1"/>
          </p:cNvSpPr>
          <p:nvPr/>
        </p:nvSpPr>
        <p:spPr>
          <a:xfrm xmlns:a="http://schemas.openxmlformats.org/drawingml/2006/main">
            <a:off x="9191625" y="3638550"/>
            <a:ext cx="2333625" cy="685800"/>
          </a:xfrm>
          <a:prstGeom xmlns:a="http://schemas.openxmlformats.org/drawingml/2006/main" prst="roundRect">
            <a:avLst>
              <a:gd name="adj" fmla="val 11111"/>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fontScale="100000"/>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Repeat for every finite pair</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and keep the maximum</a:t>
            </a:r>
          </a:p>
        </p:txBody>
      </p:sp>
      <p:sp>
        <p:nvSpPr>
          <p:cNvPr id="94" name="arch-threshold">
            <a:extLst xmlns:a="http://schemas.openxmlformats.org/drawingml/2006/main">
              <a:ext uri="{FF2B5EF4-FFF2-40B4-BE49-F238E27FC236}">
                <a16:creationId xmlns:a16="http://schemas.microsoft.com/office/drawing/2014/main" id="{E4127DA9-82B9-45C3-91C6-F8C7D06FACD2}"/>
              </a:ext>
            </a:extLst>
          </p:cNvPr>
          <p:cNvSpPr>
            <a:spLocks xmlns:a="http://schemas.openxmlformats.org/drawingml/2006/main" noGrp="1"/>
          </p:cNvSpPr>
          <p:nvPr/>
        </p:nvSpPr>
        <p:spPr>
          <a:xfrm xmlns:a="http://schemas.openxmlformats.org/drawingml/2006/main">
            <a:off x="9191625" y="4810125"/>
            <a:ext cx="2333625" cy="609600"/>
          </a:xfrm>
          <a:prstGeom xmlns:a="http://schemas.openxmlformats.org/drawingml/2006/main" prst="roundRect">
            <a:avLst>
              <a:gd name="adj" fmla="val 12500"/>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Compare with the model's</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calibrated threshold</a:t>
            </a:r>
          </a:p>
        </p:txBody>
      </p:sp>
      <p:cxnSp>
        <p:nvCxnSpPr>
          <p:cNvPr id="445" name="Straight Arrow Connector 269"/>
          <p:cNvCxnSpPr>
            <a:stCxn xmlns:a="http://schemas.openxmlformats.org/drawingml/2006/main" id="86" idx="3"/>
            <a:endCxn xmlns:a="http://schemas.openxmlformats.org/drawingml/2006/main" id="87" idx="1"/>
          </p:cNvCxnSpPr>
          <p:nvPr/>
        </p:nvCxnSpPr>
        <p:spPr>
          <a:xfrm xmlns:a="http://schemas.openxmlformats.org/drawingml/2006/main">
            <a:off x="3667125" y="1857375"/>
            <a:ext cx="571500"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46" name="Straight Arrow Connector 270"/>
          <p:cNvCxnSpPr>
            <a:stCxn xmlns:a="http://schemas.openxmlformats.org/drawingml/2006/main" id="87" idx="3"/>
            <a:endCxn xmlns:a="http://schemas.openxmlformats.org/drawingml/2006/main" id="88" idx="1"/>
          </p:cNvCxnSpPr>
          <p:nvPr/>
        </p:nvCxnSpPr>
        <p:spPr>
          <a:xfrm xmlns:a="http://schemas.openxmlformats.org/drawingml/2006/main">
            <a:off x="6334125" y="1857375"/>
            <a:ext cx="571500"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47" name="Straight Arrow Connector 271"/>
          <p:cNvCxnSpPr>
            <a:stCxn xmlns:a="http://schemas.openxmlformats.org/drawingml/2006/main" id="89" idx="3"/>
            <a:endCxn xmlns:a="http://schemas.openxmlformats.org/drawingml/2006/main" id="90" idx="1"/>
          </p:cNvCxnSpPr>
          <p:nvPr/>
        </p:nvCxnSpPr>
        <p:spPr>
          <a:xfrm xmlns:a="http://schemas.openxmlformats.org/drawingml/2006/main">
            <a:off x="3667125" y="3400425"/>
            <a:ext cx="571500"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48" name="Straight Arrow Connector 272"/>
          <p:cNvCxnSpPr>
            <a:stCxn xmlns:a="http://schemas.openxmlformats.org/drawingml/2006/main" id="90" idx="3"/>
            <a:endCxn xmlns:a="http://schemas.openxmlformats.org/drawingml/2006/main" id="91" idx="1"/>
          </p:cNvCxnSpPr>
          <p:nvPr/>
        </p:nvCxnSpPr>
        <p:spPr>
          <a:xfrm xmlns:a="http://schemas.openxmlformats.org/drawingml/2006/main">
            <a:off x="6334125" y="3400425"/>
            <a:ext cx="571500"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49" name="Straight Arrow Connector 273"/>
          <p:cNvCxnSpPr>
            <a:stCxn xmlns:a="http://schemas.openxmlformats.org/drawingml/2006/main" id="88" idx="3"/>
            <a:endCxn xmlns:a="http://schemas.openxmlformats.org/drawingml/2006/main" id="92" idx="1"/>
          </p:cNvCxnSpPr>
          <p:nvPr/>
        </p:nvCxnSpPr>
        <p:spPr>
          <a:xfrm xmlns:a="http://schemas.openxmlformats.org/drawingml/2006/main">
            <a:off x="8524875" y="1857375"/>
            <a:ext cx="666750" cy="676275"/>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50" name="Straight Arrow Connector 274"/>
          <p:cNvCxnSpPr>
            <a:stCxn xmlns:a="http://schemas.openxmlformats.org/drawingml/2006/main" id="91" idx="3"/>
            <a:endCxn xmlns:a="http://schemas.openxmlformats.org/drawingml/2006/main" id="92" idx="1"/>
          </p:cNvCxnSpPr>
          <p:nvPr/>
        </p:nvCxnSpPr>
        <p:spPr>
          <a:xfrm xmlns:a="http://schemas.openxmlformats.org/drawingml/2006/main" flipV="1">
            <a:off x="8524875" y="2533650"/>
            <a:ext cx="666750" cy="866775"/>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51" name="Straight Arrow Connector 275"/>
          <p:cNvCxnSpPr>
            <a:stCxn xmlns:a="http://schemas.openxmlformats.org/drawingml/2006/main" id="92" idx="2"/>
            <a:endCxn xmlns:a="http://schemas.openxmlformats.org/drawingml/2006/main" id="93" idx="0"/>
          </p:cNvCxnSpPr>
          <p:nvPr/>
        </p:nvCxnSpPr>
        <p:spPr>
          <a:xfrm xmlns:a="http://schemas.openxmlformats.org/drawingml/2006/main">
            <a:off x="10358438" y="3105150"/>
            <a:ext cx="0" cy="53340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52" name="Straight Arrow Connector 276"/>
          <p:cNvCxnSpPr>
            <a:stCxn xmlns:a="http://schemas.openxmlformats.org/drawingml/2006/main" id="93" idx="2"/>
            <a:endCxn xmlns:a="http://schemas.openxmlformats.org/drawingml/2006/main" id="94" idx="0"/>
          </p:cNvCxnSpPr>
          <p:nvPr/>
        </p:nvCxnSpPr>
        <p:spPr>
          <a:xfrm xmlns:a="http://schemas.openxmlformats.org/drawingml/2006/main">
            <a:off x="10358438" y="4324350"/>
            <a:ext cx="0" cy="485775"/>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spTree>
    <p:extLst>
      <p:ext uri="{BB962C8B-B14F-4D97-AF65-F5344CB8AC3E}">
        <p14:creationId xmlns:p14="http://schemas.microsoft.com/office/powerpoint/2010/main" val="83238599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ENERGY-DEPENDENT VALIDATION</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High-resolution gains depend on energy</a:t>
            </a:r>
          </a:p>
        </p:txBody>
      </p:sp>
      <p:cxnSp>
        <p:nvCxnSpPr>
          <p:cNvPr id="141"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35</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global gain was real on validation, but a small high-energy deficit remained.</a:t>
            </a:r>
          </a:p>
        </p:txBody>
      </p:sp>
      <p:graphicFrame>
        <p:nvGraphicFramePr>
          <p:cNvPr id="145" name="high-resolution-conditional-regions"/>
          <p:cNvGraphicFramePr/>
          <p:nvPr/>
        </p:nvGraphicFramePr>
        <p:xfrm>
          <a:off xmlns:a="http://schemas.openxmlformats.org/drawingml/2006/main" x="723900" y="2095500"/>
          <a:ext xmlns:a="http://schemas.openxmlformats.org/drawingml/2006/main" cx="7000875" cy="3238500"/>
        </p:xfrm>
        <a:graphic xmlns:a="http://schemas.openxmlformats.org/drawingml/2006/main">
          <a:graphicData uri="http://schemas.openxmlformats.org/drawingml/2006/chart">
            <c:chart xmlns:r="http://schemas.openxmlformats.org/officeDocument/2006/relationships" xmlns:c="http://schemas.openxmlformats.org/drawingml/2006/chart" r:id="R90fc5fe474f0427c"/>
          </a:graphicData>
        </a:graphic>
      </p:graphicFrame>
      <p:sp>
        <p:nvSpPr>
          <p:cNvPr id="85" name="highres-callout-title">
            <a:extLst xmlns:a="http://schemas.openxmlformats.org/drawingml/2006/main">
              <a:ext uri="{FF2B5EF4-FFF2-40B4-BE49-F238E27FC236}">
                <a16:creationId xmlns:a16="http://schemas.microsoft.com/office/drawing/2014/main" id="{A5261B4F-9C8C-4122-8ED5-490A590DE20E}"/>
              </a:ext>
            </a:extLst>
          </p:cNvPr>
          <p:cNvSpPr>
            <a:spLocks xmlns:a="http://schemas.openxmlformats.org/drawingml/2006/main" noGrp="1"/>
          </p:cNvSpPr>
          <p:nvPr/>
        </p:nvSpPr>
        <p:spPr>
          <a:xfrm xmlns:a="http://schemas.openxmlformats.org/drawingml/2006/main">
            <a:off x="8143875" y="2143125"/>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b="1">
                <a:solidFill>
                  <a:srgbClr val="111827"/>
                </a:solidFill>
                <a:latin typeface="Calibri"/>
                <a:ea typeface="Calibri"/>
                <a:cs typeface="Calibri"/>
              </a:defRPr>
            </a:pPr>
            <a:r>
              <a:rPr sz="1350" b="1">
                <a:solidFill>
                  <a:srgbClr val="111827"/>
                </a:solidFill>
                <a:latin typeface="Calibri"/>
                <a:ea typeface="Calibri"/>
                <a:cs typeface="Calibri"/>
              </a:rPr>
              <a:t>Mean change from baseline</a:t>
            </a:r>
          </a:p>
        </p:txBody>
      </p:sp>
      <p:sp>
        <p:nvSpPr>
          <p:cNvPr id="86" name="highres-callout">
            <a:extLst xmlns:a="http://schemas.openxmlformats.org/drawingml/2006/main">
              <a:ext uri="{FF2B5EF4-FFF2-40B4-BE49-F238E27FC236}">
                <a16:creationId xmlns:a16="http://schemas.microsoft.com/office/drawing/2014/main" id="{393CFAEA-1E4D-4644-BCA1-85EBDC43659C}"/>
              </a:ext>
            </a:extLst>
          </p:cNvPr>
          <p:cNvSpPr>
            <a:spLocks xmlns:a="http://schemas.openxmlformats.org/drawingml/2006/main" noGrp="1"/>
          </p:cNvSpPr>
          <p:nvPr/>
        </p:nvSpPr>
        <p:spPr>
          <a:xfrm xmlns:a="http://schemas.openxmlformats.org/drawingml/2006/main">
            <a:off x="8143875" y="2714625"/>
            <a:ext cx="31908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+22.0 points</a:t>
            </a:r>
          </a:p>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10 to 25 GeV</a:t>
            </a:r>
          </a:p>
          <a:p xmlns:a="http://schemas.openxmlformats.org/drawingml/2006/main">
            <a:endParaRPr sz="1500" b="0">
              <a:solidFill>
                <a:srgbClr val="111827"/>
              </a:solidFill>
              <a:latin typeface="Calibri"/>
              <a:ea typeface="Calibri"/>
              <a:cs typeface="Calibri"/>
            </a:endParaRPr>
          </a:p>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+21.0 points</a:t>
            </a:r>
          </a:p>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25 to 60 GeV</a:t>
            </a:r>
          </a:p>
          <a:p xmlns:a="http://schemas.openxmlformats.org/drawingml/2006/main">
            <a:endParaRPr sz="1500" b="0">
              <a:solidFill>
                <a:srgbClr val="111827"/>
              </a:solidFill>
              <a:latin typeface="Calibri"/>
              <a:ea typeface="Calibri"/>
              <a:cs typeface="Calibri"/>
            </a:endParaRPr>
          </a:p>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-2.6 points</a:t>
            </a:r>
          </a:p>
          <a:p xmlns:a="http://schemas.openxmlformats.org/drawingml/2006/main">
            <a:pPr>
              <a:buNone/>
              <a:defRPr sz="1500" b="0">
                <a:solidFill>
                  <a:srgbClr val="111827"/>
                </a:solidFill>
                <a:latin typeface="Calibri"/>
                <a:ea typeface="Calibri"/>
                <a:cs typeface="Calibri"/>
              </a:defRPr>
            </a:pPr>
            <a:r>
              <a:rPr sz="1500" b="0">
                <a:solidFill>
                  <a:srgbClr val="111827"/>
                </a:solidFill>
                <a:latin typeface="Calibri"/>
                <a:ea typeface="Calibri"/>
                <a:cs typeface="Calibri"/>
              </a:rPr>
              <a:t>60 GeV and above</a:t>
            </a:r>
          </a:p>
        </p:txBody>
      </p:sp>
    </p:spTree>
    <p:extLst>
      <p:ext uri="{BB962C8B-B14F-4D97-AF65-F5344CB8AC3E}">
        <p14:creationId xmlns:p14="http://schemas.microsoft.com/office/powerpoint/2010/main" val="83238599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HIGH-ENERGY RECOVERY</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Recovery tests narrowed the high-energy gap</a:t>
            </a:r>
          </a:p>
        </p:txBody>
      </p:sp>
      <p:cxnSp>
        <p:nvCxnSpPr>
          <p:cNvPr id="141"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36</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7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measured-pT OR crossed above the baseline point estimate, but protected confirmation is still required.</a:t>
            </a:r>
          </a:p>
        </p:txBody>
      </p:sp>
      <p:graphicFrame>
        <p:nvGraphicFramePr>
          <p:cNvPr id="145" name="high-energy-recovery-progression"/>
          <p:cNvGraphicFramePr/>
          <p:nvPr/>
        </p:nvGraphicFramePr>
        <p:xfrm>
          <a:off xmlns:a="http://schemas.openxmlformats.org/drawingml/2006/main" x="723900" y="2095500"/>
          <a:ext xmlns:a="http://schemas.openxmlformats.org/drawingml/2006/main" cx="7000875" cy="3238500"/>
        </p:xfrm>
        <a:graphic xmlns:a="http://schemas.openxmlformats.org/drawingml/2006/main">
          <a:graphicData uri="http://schemas.openxmlformats.org/drawingml/2006/chart">
            <c:chart xmlns:r="http://schemas.openxmlformats.org/officeDocument/2006/relationships" xmlns:c="http://schemas.openxmlformats.org/drawingml/2006/chart" r:id="Rb02d9cfd6f984fab"/>
          </a:graphicData>
        </a:graphic>
      </p:graphicFrame>
      <p:sp>
        <p:nvSpPr>
          <p:cNvPr id="85" name="recovery-callout-title">
            <a:extLst xmlns:a="http://schemas.openxmlformats.org/drawingml/2006/main">
              <a:ext uri="{FF2B5EF4-FFF2-40B4-BE49-F238E27FC236}">
                <a16:creationId xmlns:a16="http://schemas.microsoft.com/office/drawing/2014/main" id="{9A104EDF-0FA5-4982-808E-2FDE9A32731F}"/>
              </a:ext>
            </a:extLst>
          </p:cNvPr>
          <p:cNvSpPr>
            <a:spLocks xmlns:a="http://schemas.openxmlformats.org/drawingml/2006/main" noGrp="1"/>
          </p:cNvSpPr>
          <p:nvPr/>
        </p:nvSpPr>
        <p:spPr>
          <a:xfrm xmlns:a="http://schemas.openxmlformats.org/drawingml/2006/main">
            <a:off x="8143875" y="2143125"/>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b="1">
                <a:solidFill>
                  <a:srgbClr val="111827"/>
                </a:solidFill>
                <a:latin typeface="Calibri"/>
                <a:ea typeface="Calibri"/>
                <a:cs typeface="Calibri"/>
              </a:defRPr>
            </a:pPr>
            <a:r>
              <a:rPr sz="1350" b="1">
                <a:solidFill>
                  <a:srgbClr val="111827"/>
                </a:solidFill>
                <a:latin typeface="Calibri"/>
                <a:ea typeface="Calibri"/>
                <a:cs typeface="Calibri"/>
              </a:rPr>
              <a:t>What changed</a:t>
            </a:r>
          </a:p>
        </p:txBody>
      </p:sp>
      <p:sp>
        <p:nvSpPr>
          <p:cNvPr id="86" name="recovery-callout">
            <a:extLst xmlns:a="http://schemas.openxmlformats.org/drawingml/2006/main">
              <a:ext uri="{FF2B5EF4-FFF2-40B4-BE49-F238E27FC236}">
                <a16:creationId xmlns:a16="http://schemas.microsoft.com/office/drawing/2014/main" id="{18B12A33-DEE1-4163-8CED-1C74178F8813}"/>
              </a:ext>
            </a:extLst>
          </p:cNvPr>
          <p:cNvSpPr>
            <a:spLocks xmlns:a="http://schemas.openxmlformats.org/drawingml/2006/main" noGrp="1"/>
          </p:cNvSpPr>
          <p:nvPr/>
        </p:nvSpPr>
        <p:spPr>
          <a:xfrm xmlns:a="http://schemas.openxmlformats.org/drawingml/2006/main">
            <a:off x="8143875" y="2714625"/>
            <a:ext cx="31908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275" b="0">
                <a:solidFill>
                  <a:srgbClr val="111827"/>
                </a:solidFill>
                <a:latin typeface="Calibri"/>
                <a:ea typeface="Calibri"/>
                <a:cs typeface="Calibri"/>
              </a:defRPr>
            </a:pPr>
            <a:r>
              <a:rPr sz="1275" b="0">
                <a:solidFill>
                  <a:srgbClr val="111827"/>
                </a:solidFill>
                <a:latin typeface="Calibri"/>
                <a:ea typeface="Calibri"/>
                <a:cs typeface="Calibri"/>
              </a:rPr>
              <a:t>High-resolution model: -2.57</a:t>
            </a:r>
          </a:p>
          <a:p xmlns:a="http://schemas.openxmlformats.org/drawingml/2006/main">
            <a:pPr>
              <a:buNone/>
              <a:defRPr sz="1275" b="0">
                <a:solidFill>
                  <a:srgbClr val="111827"/>
                </a:solidFill>
                <a:latin typeface="Calibri"/>
                <a:ea typeface="Calibri"/>
                <a:cs typeface="Calibri"/>
              </a:defRPr>
            </a:pPr>
            <a:r>
              <a:rPr sz="1275" b="0">
                <a:solidFill>
                  <a:srgbClr val="111827"/>
                </a:solidFill>
                <a:latin typeface="Calibri"/>
                <a:ea typeface="Calibri"/>
                <a:cs typeface="Calibri"/>
              </a:rPr>
              <a:t>Inverse-frequency weights: -0.89</a:t>
            </a:r>
          </a:p>
          <a:p xmlns:a="http://schemas.openxmlformats.org/drawingml/2006/main">
            <a:pPr>
              <a:buNone/>
              <a:defRPr sz="1275" b="0">
                <a:solidFill>
                  <a:srgbClr val="111827"/>
                </a:solidFill>
                <a:latin typeface="Calibri"/>
                <a:ea typeface="Calibri"/>
                <a:cs typeface="Calibri"/>
              </a:defRPr>
            </a:pPr>
            <a:r>
              <a:rPr sz="1275" b="0">
                <a:solidFill>
                  <a:srgbClr val="111827"/>
                </a:solidFill>
                <a:latin typeface="Calibri"/>
                <a:ea typeface="Calibri"/>
                <a:cs typeface="Calibri"/>
              </a:rPr>
              <a:t>Power-law p = -1: -0.69</a:t>
            </a:r>
          </a:p>
          <a:p xmlns:a="http://schemas.openxmlformats.org/drawingml/2006/main">
            <a:pPr>
              <a:buNone/>
              <a:defRPr sz="1275" b="0">
                <a:solidFill>
                  <a:srgbClr val="111827"/>
                </a:solidFill>
                <a:latin typeface="Calibri"/>
                <a:ea typeface="Calibri"/>
                <a:cs typeface="Calibri"/>
              </a:defRPr>
            </a:pPr>
            <a:r>
              <a:rPr sz="1275" b="0">
                <a:solidFill>
                  <a:srgbClr val="111827"/>
                </a:solidFill>
                <a:latin typeface="Calibri"/>
                <a:ea typeface="Calibri"/>
                <a:cs typeface="Calibri"/>
              </a:rPr>
              <a:t>Raw cells + measured-pT OR: +0.30</a:t>
            </a:r>
          </a:p>
          <a:p xmlns:a="http://schemas.openxmlformats.org/drawingml/2006/main">
            <a:endParaRPr sz="1275" b="0">
              <a:solidFill>
                <a:srgbClr val="111827"/>
              </a:solidFill>
              <a:latin typeface="Calibri"/>
              <a:ea typeface="Calibri"/>
              <a:cs typeface="Calibri"/>
            </a:endParaRPr>
          </a:p>
          <a:p xmlns:a="http://schemas.openxmlformats.org/drawingml/2006/main">
            <a:pPr>
              <a:buNone/>
              <a:defRPr sz="1275" b="0">
                <a:solidFill>
                  <a:srgbClr val="111827"/>
                </a:solidFill>
                <a:latin typeface="Calibri"/>
                <a:ea typeface="Calibri"/>
                <a:cs typeface="Calibri"/>
              </a:defRPr>
            </a:pPr>
            <a:r>
              <a:rPr sz="1275" b="0">
                <a:solidFill>
                  <a:srgbClr val="111827"/>
                </a:solidFill>
                <a:latin typeface="Calibri"/>
                <a:ea typeface="Calibri"/>
                <a:cs typeface="Calibri"/>
              </a:rPr>
              <a:t>The OR is the first tested design with a positive point estimate in all three seeds.</a:t>
            </a:r>
          </a:p>
        </p:txBody>
      </p:sp>
    </p:spTree>
    <p:extLst>
      <p:ext uri="{BB962C8B-B14F-4D97-AF65-F5344CB8AC3E}">
        <p14:creationId xmlns:p14="http://schemas.microsoft.com/office/powerpoint/2010/main" val="83238599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JOINT NEURAL AND pT DECISION</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Neural and pT branches share one budget</a:t>
            </a:r>
          </a:p>
        </p:txBody>
      </p:sp>
      <p:cxnSp>
        <p:nvCxnSpPr>
          <p:cNvPr id="416"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37</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128"/>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neural branch can recover events that the pT branch misses while the union stays within 0.5% background-event FPR.</a:t>
            </a:r>
          </a:p>
        </p:txBody>
      </p:sp>
      <p:sp>
        <p:nvSpPr>
          <p:cNvPr id="84" name="or-neural-label">
            <a:extLst xmlns:a="http://schemas.openxmlformats.org/drawingml/2006/main">
              <a:ext uri="{FF2B5EF4-FFF2-40B4-BE49-F238E27FC236}">
                <a16:creationId xmlns:a16="http://schemas.microsoft.com/office/drawing/2014/main" id="{2EE4B058-3040-4BDA-92C8-72BCA8CAFB16}"/>
              </a:ext>
            </a:extLst>
          </p:cNvPr>
          <p:cNvSpPr>
            <a:spLocks xmlns:a="http://schemas.openxmlformats.org/drawingml/2006/main" noGrp="1"/>
          </p:cNvSpPr>
          <p:nvPr/>
        </p:nvSpPr>
        <p:spPr>
          <a:xfrm xmlns:a="http://schemas.openxmlformats.org/drawingml/2006/main">
            <a:off x="590550" y="1666875"/>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200" b="1">
                <a:solidFill>
                  <a:srgbClr val="111827"/>
                </a:solidFill>
                <a:latin typeface="Calibri"/>
                <a:ea typeface="Calibri"/>
                <a:cs typeface="Calibri"/>
              </a:defRPr>
            </a:pPr>
            <a:r>
              <a:rPr sz="1200" b="1">
                <a:solidFill>
                  <a:srgbClr val="111827"/>
                </a:solidFill>
                <a:latin typeface="Calibri"/>
                <a:ea typeface="Calibri"/>
                <a:cs typeface="Calibri"/>
              </a:rPr>
              <a:t>Neural branch</a:t>
            </a:r>
          </a:p>
        </p:txBody>
      </p:sp>
      <p:sp>
        <p:nvSpPr>
          <p:cNvPr id="85" name="or-pt-label">
            <a:extLst xmlns:a="http://schemas.openxmlformats.org/drawingml/2006/main">
              <a:ext uri="{FF2B5EF4-FFF2-40B4-BE49-F238E27FC236}">
                <a16:creationId xmlns:a16="http://schemas.microsoft.com/office/drawing/2014/main" id="{A7D98B26-FF4F-47DC-902F-5C2248DAA4A0}"/>
              </a:ext>
            </a:extLst>
          </p:cNvPr>
          <p:cNvSpPr>
            <a:spLocks xmlns:a="http://schemas.openxmlformats.org/drawingml/2006/main" noGrp="1"/>
          </p:cNvSpPr>
          <p:nvPr/>
        </p:nvSpPr>
        <p:spPr>
          <a:xfrm xmlns:a="http://schemas.openxmlformats.org/drawingml/2006/main">
            <a:off x="590550" y="3209925"/>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84"/>
          </a:bodyPr>
          <a:lstStyle xmlns:a="http://schemas.openxmlformats.org/drawingml/2006/main"/>
          <a:p xmlns:a="http://schemas.openxmlformats.org/drawingml/2006/main">
            <a:pPr>
              <a:buNone/>
              <a:defRPr sz="1200" b="1">
                <a:solidFill>
                  <a:srgbClr val="111827"/>
                </a:solidFill>
                <a:latin typeface="Calibri"/>
                <a:ea typeface="Calibri"/>
                <a:cs typeface="Calibri"/>
              </a:defRPr>
            </a:pPr>
            <a:r>
              <a:rPr sz="1200" b="1">
                <a:solidFill>
                  <a:srgbClr val="111827"/>
                </a:solidFill>
                <a:latin typeface="Calibri"/>
                <a:ea typeface="Calibri"/>
                <a:cs typeface="Calibri"/>
              </a:rPr>
              <a:t>Measured-pT branch</a:t>
            </a:r>
          </a:p>
        </p:txBody>
      </p:sp>
      <p:sp>
        <p:nvSpPr>
          <p:cNvPr id="86" name="or-raw">
            <a:extLst xmlns:a="http://schemas.openxmlformats.org/drawingml/2006/main">
              <a:ext uri="{FF2B5EF4-FFF2-40B4-BE49-F238E27FC236}">
                <a16:creationId xmlns:a16="http://schemas.microsoft.com/office/drawing/2014/main" id="{1006C977-016C-4C6D-8D0B-13FBCB2BBBE4}"/>
              </a:ext>
            </a:extLst>
          </p:cNvPr>
          <p:cNvSpPr>
            <a:spLocks xmlns:a="http://schemas.openxmlformats.org/drawingml/2006/main" noGrp="1"/>
          </p:cNvSpPr>
          <p:nvPr/>
        </p:nvSpPr>
        <p:spPr>
          <a:xfrm xmlns:a="http://schemas.openxmlformats.org/drawingml/2006/main">
            <a:off x="1905000" y="1476375"/>
            <a:ext cx="1905000" cy="781050"/>
          </a:xfrm>
          <a:prstGeom xmlns:a="http://schemas.openxmlformats.org/drawingml/2006/main" prst="roundRect">
            <a:avLst>
              <a:gd name="adj" fmla="val 9756"/>
            </a:avLst>
          </a:prstGeom>
          <a:solidFill xmlns:a="http://schemas.openxmlformats.org/drawingml/2006/main">
            <a:srgbClr val="FFF7ED"/>
          </a:solidFill>
          <a:ln xmlns:a="http://schemas.openxmlformats.org/drawingml/2006/main" w="14288">
            <a:solidFill>
              <a:srgbClr val="F97316"/>
            </a:solidFill>
          </a:ln>
        </p:spPr>
        <p:txBody>
          <a:bodyPr xmlns:a="http://schemas.openxmlformats.org/drawingml/2006/main" anchor="ctr">
            <a:normAutofit/>
          </a:bodyPr>
          <a:lstStyle xmlns:a="http://schemas.openxmlformats.org/drawingml/2006/main"/>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Two raw tensors</a:t>
            </a:r>
          </a:p>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45 + 45 values</a:t>
            </a:r>
          </a:p>
        </p:txBody>
      </p:sp>
      <p:sp>
        <p:nvSpPr>
          <p:cNvPr id="87" name="or-mlp">
            <a:extLst xmlns:a="http://schemas.openxmlformats.org/drawingml/2006/main">
              <a:ext uri="{FF2B5EF4-FFF2-40B4-BE49-F238E27FC236}">
                <a16:creationId xmlns:a16="http://schemas.microsoft.com/office/drawing/2014/main" id="{9D61FEFB-FB52-4C2A-A25C-6A513146F54E}"/>
              </a:ext>
            </a:extLst>
          </p:cNvPr>
          <p:cNvSpPr>
            <a:spLocks xmlns:a="http://schemas.openxmlformats.org/drawingml/2006/main" noGrp="1"/>
          </p:cNvSpPr>
          <p:nvPr/>
        </p:nvSpPr>
        <p:spPr>
          <a:xfrm xmlns:a="http://schemas.openxmlformats.org/drawingml/2006/main">
            <a:off x="4333875" y="1476375"/>
            <a:ext cx="2000250" cy="781050"/>
          </a:xfrm>
          <a:prstGeom xmlns:a="http://schemas.openxmlformats.org/drawingml/2006/main" prst="roundRect">
            <a:avLst>
              <a:gd name="adj" fmla="val 9756"/>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Neural network</a:t>
            </a:r>
          </a:p>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90 to 32 to 16 to 1</a:t>
            </a:r>
          </a:p>
        </p:txBody>
      </p:sp>
      <p:sp>
        <p:nvSpPr>
          <p:cNvPr id="88" name="or-nn-pass">
            <a:extLst xmlns:a="http://schemas.openxmlformats.org/drawingml/2006/main">
              <a:ext uri="{FF2B5EF4-FFF2-40B4-BE49-F238E27FC236}">
                <a16:creationId xmlns:a16="http://schemas.microsoft.com/office/drawing/2014/main" id="{84FE3C80-DE68-4832-B646-2338A5C73F0B}"/>
              </a:ext>
            </a:extLst>
          </p:cNvPr>
          <p:cNvSpPr>
            <a:spLocks xmlns:a="http://schemas.openxmlformats.org/drawingml/2006/main" noGrp="1"/>
          </p:cNvSpPr>
          <p:nvPr/>
        </p:nvSpPr>
        <p:spPr>
          <a:xfrm xmlns:a="http://schemas.openxmlformats.org/drawingml/2006/main">
            <a:off x="6858000" y="1476375"/>
            <a:ext cx="1809750" cy="781050"/>
          </a:xfrm>
          <a:prstGeom xmlns:a="http://schemas.openxmlformats.org/drawingml/2006/main" prst="roundRect">
            <a:avLst>
              <a:gd name="adj" fmla="val 9756"/>
            </a:avLst>
          </a:prstGeom>
          <a:solidFill xmlns:a="http://schemas.openxmlformats.org/drawingml/2006/main">
            <a:srgbClr val="FDF2F8"/>
          </a:solidFill>
          <a:ln xmlns:a="http://schemas.openxmlformats.org/drawingml/2006/main" w="14288">
            <a:solidFill>
              <a:srgbClr val="EC4899"/>
            </a:solidFill>
          </a:ln>
        </p:spPr>
        <p:txBody>
          <a:bodyPr xmlns:a="http://schemas.openxmlformats.org/drawingml/2006/main" anchor="ctr">
            <a:normAutofit/>
          </a:bodyPr>
          <a:lstStyle xmlns:a="http://schemas.openxmlformats.org/drawingml/2006/main"/>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Neural score &gt;= t</a:t>
            </a:r>
          </a:p>
        </p:txBody>
      </p:sp>
      <p:sp>
        <p:nvSpPr>
          <p:cNvPr id="89" name="or-pair-pt">
            <a:extLst xmlns:a="http://schemas.openxmlformats.org/drawingml/2006/main">
              <a:ext uri="{FF2B5EF4-FFF2-40B4-BE49-F238E27FC236}">
                <a16:creationId xmlns:a16="http://schemas.microsoft.com/office/drawing/2014/main" id="{A9C1B000-B5BB-49FA-8FE5-8BE6C58D2DC4}"/>
              </a:ext>
            </a:extLst>
          </p:cNvPr>
          <p:cNvSpPr>
            <a:spLocks xmlns:a="http://schemas.openxmlformats.org/drawingml/2006/main" noGrp="1"/>
          </p:cNvSpPr>
          <p:nvPr/>
        </p:nvSpPr>
        <p:spPr>
          <a:xfrm xmlns:a="http://schemas.openxmlformats.org/drawingml/2006/main">
            <a:off x="1905000" y="3019425"/>
            <a:ext cx="1905000" cy="781050"/>
          </a:xfrm>
          <a:prstGeom xmlns:a="http://schemas.openxmlformats.org/drawingml/2006/main" prst="roundRect">
            <a:avLst>
              <a:gd name="adj" fmla="val 9756"/>
            </a:avLst>
          </a:prstGeom>
          <a:solidFill xmlns:a="http://schemas.openxmlformats.org/drawingml/2006/main">
            <a:srgbClr val="FFF7ED"/>
          </a:solidFill>
          <a:ln xmlns:a="http://schemas.openxmlformats.org/drawingml/2006/main" w="14288">
            <a:solidFill>
              <a:srgbClr val="F97316"/>
            </a:solidFill>
          </a:ln>
        </p:spPr>
        <p:txBody>
          <a:bodyPr xmlns:a="http://schemas.openxmlformats.org/drawingml/2006/main" anchor="ctr">
            <a:normAutofit/>
          </a:bodyPr>
          <a:lstStyle xmlns:a="http://schemas.openxmlformats.org/drawingml/2006/main"/>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Lower measured pT</a:t>
            </a:r>
          </a:p>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of the pair</a:t>
            </a:r>
          </a:p>
        </p:txBody>
      </p:sp>
      <p:sp>
        <p:nvSpPr>
          <p:cNvPr id="90" name="or-pt-cut">
            <a:extLst xmlns:a="http://schemas.openxmlformats.org/drawingml/2006/main">
              <a:ext uri="{FF2B5EF4-FFF2-40B4-BE49-F238E27FC236}">
                <a16:creationId xmlns:a16="http://schemas.microsoft.com/office/drawing/2014/main" id="{CA6505C0-A06C-4391-B8CB-C87D1E9FEF6B}"/>
              </a:ext>
            </a:extLst>
          </p:cNvPr>
          <p:cNvSpPr>
            <a:spLocks xmlns:a="http://schemas.openxmlformats.org/drawingml/2006/main" noGrp="1"/>
          </p:cNvSpPr>
          <p:nvPr/>
        </p:nvSpPr>
        <p:spPr>
          <a:xfrm xmlns:a="http://schemas.openxmlformats.org/drawingml/2006/main">
            <a:off x="4333875" y="3019425"/>
            <a:ext cx="2000250" cy="781050"/>
          </a:xfrm>
          <a:prstGeom xmlns:a="http://schemas.openxmlformats.org/drawingml/2006/main" prst="roundRect">
            <a:avLst>
              <a:gd name="adj" fmla="val 9756"/>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Compare with</a:t>
            </a:r>
          </a:p>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threshold C</a:t>
            </a:r>
          </a:p>
        </p:txBody>
      </p:sp>
      <p:sp>
        <p:nvSpPr>
          <p:cNvPr id="91" name="or-pt-pass">
            <a:extLst xmlns:a="http://schemas.openxmlformats.org/drawingml/2006/main">
              <a:ext uri="{FF2B5EF4-FFF2-40B4-BE49-F238E27FC236}">
                <a16:creationId xmlns:a16="http://schemas.microsoft.com/office/drawing/2014/main" id="{DB0A9A62-7054-4D79-9E95-D8DADA374F40}"/>
              </a:ext>
            </a:extLst>
          </p:cNvPr>
          <p:cNvSpPr>
            <a:spLocks xmlns:a="http://schemas.openxmlformats.org/drawingml/2006/main" noGrp="1"/>
          </p:cNvSpPr>
          <p:nvPr/>
        </p:nvSpPr>
        <p:spPr>
          <a:xfrm xmlns:a="http://schemas.openxmlformats.org/drawingml/2006/main">
            <a:off x="6858000" y="3019425"/>
            <a:ext cx="1809750" cy="781050"/>
          </a:xfrm>
          <a:prstGeom xmlns:a="http://schemas.openxmlformats.org/drawingml/2006/main" prst="roundRect">
            <a:avLst>
              <a:gd name="adj" fmla="val 9756"/>
            </a:avLst>
          </a:prstGeom>
          <a:solidFill xmlns:a="http://schemas.openxmlformats.org/drawingml/2006/main">
            <a:srgbClr val="FDF2F8"/>
          </a:solidFill>
          <a:ln xmlns:a="http://schemas.openxmlformats.org/drawingml/2006/main" w="14288">
            <a:solidFill>
              <a:srgbClr val="EC4899"/>
            </a:solidFill>
          </a:ln>
        </p:spPr>
        <p:txBody>
          <a:bodyPr xmlns:a="http://schemas.openxmlformats.org/drawingml/2006/main" anchor="ctr">
            <a:normAutofit/>
          </a:bodyPr>
          <a:lstStyle xmlns:a="http://schemas.openxmlformats.org/drawingml/2006/main"/>
          <a:p xmlns:a="http://schemas.openxmlformats.org/drawingml/2006/main">
            <a:pPr>
              <a:buNone/>
              <a:defRPr sz="1125" b="0">
                <a:solidFill>
                  <a:srgbClr val="111827"/>
                </a:solidFill>
                <a:latin typeface="Calibri"/>
                <a:ea typeface="Calibri"/>
                <a:cs typeface="Calibri"/>
              </a:defRPr>
            </a:pPr>
            <a:r>
              <a:rPr sz="1125" b="0">
                <a:solidFill>
                  <a:srgbClr val="111827"/>
                </a:solidFill>
                <a:latin typeface="Calibri"/>
                <a:ea typeface="Calibri"/>
                <a:cs typeface="Calibri"/>
              </a:rPr>
              <a:t>Lower pT &gt;= C</a:t>
            </a:r>
          </a:p>
        </p:txBody>
      </p:sp>
      <p:sp>
        <p:nvSpPr>
          <p:cNvPr id="92" name="or-union">
            <a:extLst xmlns:a="http://schemas.openxmlformats.org/drawingml/2006/main">
              <a:ext uri="{FF2B5EF4-FFF2-40B4-BE49-F238E27FC236}">
                <a16:creationId xmlns:a16="http://schemas.microsoft.com/office/drawing/2014/main" id="{AE16015E-3C22-4B0B-B17F-9A6CCEEF0F04}"/>
              </a:ext>
            </a:extLst>
          </p:cNvPr>
          <p:cNvSpPr>
            <a:spLocks xmlns:a="http://schemas.openxmlformats.org/drawingml/2006/main" noGrp="1"/>
          </p:cNvSpPr>
          <p:nvPr/>
        </p:nvSpPr>
        <p:spPr>
          <a:xfrm xmlns:a="http://schemas.openxmlformats.org/drawingml/2006/main">
            <a:off x="9239250" y="1952625"/>
            <a:ext cx="2190750" cy="1381125"/>
          </a:xfrm>
          <a:prstGeom xmlns:a="http://schemas.openxmlformats.org/drawingml/2006/main" prst="roundRect">
            <a:avLst>
              <a:gd name="adj" fmla="val 5517"/>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a:bodyPr>
          <a:lstStyle xmlns:a="http://schemas.openxmlformats.org/drawingml/2006/main"/>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Pair passes if either</a:t>
            </a:r>
          </a:p>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branch passes</a:t>
            </a:r>
          </a:p>
          <a:p xmlns:a="http://schemas.openxmlformats.org/drawingml/2006/main">
            <a:endParaRPr sz="1125" b="1">
              <a:solidFill>
                <a:srgbClr val="111827"/>
              </a:solidFill>
              <a:latin typeface="Calibri"/>
              <a:ea typeface="Calibri"/>
              <a:cs typeface="Calibri"/>
            </a:endParaRPr>
          </a:p>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Overlap counts once</a:t>
            </a:r>
          </a:p>
        </p:txBody>
      </p:sp>
      <p:sp>
        <p:nvSpPr>
          <p:cNvPr id="93" name="or-event">
            <a:extLst xmlns:a="http://schemas.openxmlformats.org/drawingml/2006/main">
              <a:ext uri="{FF2B5EF4-FFF2-40B4-BE49-F238E27FC236}">
                <a16:creationId xmlns:a16="http://schemas.microsoft.com/office/drawing/2014/main" id="{17B719A3-3F25-4DCF-A7E7-818D4BD8812F}"/>
              </a:ext>
            </a:extLst>
          </p:cNvPr>
          <p:cNvSpPr>
            <a:spLocks xmlns:a="http://schemas.openxmlformats.org/drawingml/2006/main" noGrp="1"/>
          </p:cNvSpPr>
          <p:nvPr/>
        </p:nvSpPr>
        <p:spPr>
          <a:xfrm xmlns:a="http://schemas.openxmlformats.org/drawingml/2006/main">
            <a:off x="9239250" y="4333875"/>
            <a:ext cx="2190750" cy="666750"/>
          </a:xfrm>
          <a:prstGeom xmlns:a="http://schemas.openxmlformats.org/drawingml/2006/main" prst="roundRect">
            <a:avLst>
              <a:gd name="adj" fmla="val 11429"/>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Event passes if any</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same-event pair passes</a:t>
            </a:r>
          </a:p>
        </p:txBody>
      </p:sp>
      <p:sp>
        <p:nvSpPr>
          <p:cNvPr id="94" name="or-budget">
            <a:extLst xmlns:a="http://schemas.openxmlformats.org/drawingml/2006/main">
              <a:ext uri="{FF2B5EF4-FFF2-40B4-BE49-F238E27FC236}">
                <a16:creationId xmlns:a16="http://schemas.microsoft.com/office/drawing/2014/main" id="{6CBC8D90-B240-4B7B-989B-F4982F38C739}"/>
              </a:ext>
            </a:extLst>
          </p:cNvPr>
          <p:cNvSpPr>
            <a:spLocks xmlns:a="http://schemas.openxmlformats.org/drawingml/2006/main" noGrp="1"/>
          </p:cNvSpPr>
          <p:nvPr/>
        </p:nvSpPr>
        <p:spPr>
          <a:xfrm xmlns:a="http://schemas.openxmlformats.org/drawingml/2006/main">
            <a:off x="3524250" y="4476750"/>
            <a:ext cx="4429125" cy="552450"/>
          </a:xfrm>
          <a:prstGeom xmlns:a="http://schemas.openxmlformats.org/drawingml/2006/main" prst="roundRect">
            <a:avLst>
              <a:gd name="adj" fmla="val 13793"/>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C and t are chosen together under one 0.5% background-event budget</a:t>
            </a:r>
          </a:p>
        </p:txBody>
      </p:sp>
      <p:cxnSp>
        <p:nvCxnSpPr>
          <p:cNvPr id="431" name="Straight Arrow Connector 262"/>
          <p:cNvCxnSpPr>
            <a:stCxn xmlns:a="http://schemas.openxmlformats.org/drawingml/2006/main" id="86" idx="3"/>
            <a:endCxn xmlns:a="http://schemas.openxmlformats.org/drawingml/2006/main" id="87" idx="1"/>
          </p:cNvCxnSpPr>
          <p:nvPr/>
        </p:nvCxnSpPr>
        <p:spPr>
          <a:xfrm xmlns:a="http://schemas.openxmlformats.org/drawingml/2006/main">
            <a:off x="3810000" y="1866900"/>
            <a:ext cx="523875"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32" name="Straight Arrow Connector 263"/>
          <p:cNvCxnSpPr>
            <a:stCxn xmlns:a="http://schemas.openxmlformats.org/drawingml/2006/main" id="87" idx="3"/>
            <a:endCxn xmlns:a="http://schemas.openxmlformats.org/drawingml/2006/main" id="88" idx="1"/>
          </p:cNvCxnSpPr>
          <p:nvPr/>
        </p:nvCxnSpPr>
        <p:spPr>
          <a:xfrm xmlns:a="http://schemas.openxmlformats.org/drawingml/2006/main">
            <a:off x="6334125" y="1866900"/>
            <a:ext cx="523875"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33" name="Straight Arrow Connector 264"/>
          <p:cNvCxnSpPr>
            <a:stCxn xmlns:a="http://schemas.openxmlformats.org/drawingml/2006/main" id="89" idx="3"/>
            <a:endCxn xmlns:a="http://schemas.openxmlformats.org/drawingml/2006/main" id="90" idx="1"/>
          </p:cNvCxnSpPr>
          <p:nvPr/>
        </p:nvCxnSpPr>
        <p:spPr>
          <a:xfrm xmlns:a="http://schemas.openxmlformats.org/drawingml/2006/main">
            <a:off x="3810000" y="3409950"/>
            <a:ext cx="523875"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34" name="Straight Arrow Connector 265"/>
          <p:cNvCxnSpPr>
            <a:stCxn xmlns:a="http://schemas.openxmlformats.org/drawingml/2006/main" id="90" idx="3"/>
            <a:endCxn xmlns:a="http://schemas.openxmlformats.org/drawingml/2006/main" id="91" idx="1"/>
          </p:cNvCxnSpPr>
          <p:nvPr/>
        </p:nvCxnSpPr>
        <p:spPr>
          <a:xfrm xmlns:a="http://schemas.openxmlformats.org/drawingml/2006/main">
            <a:off x="6334125" y="3409950"/>
            <a:ext cx="523875"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35" name="Straight Arrow Connector 266"/>
          <p:cNvCxnSpPr>
            <a:stCxn xmlns:a="http://schemas.openxmlformats.org/drawingml/2006/main" id="88" idx="3"/>
            <a:endCxn xmlns:a="http://schemas.openxmlformats.org/drawingml/2006/main" id="92" idx="1"/>
          </p:cNvCxnSpPr>
          <p:nvPr/>
        </p:nvCxnSpPr>
        <p:spPr>
          <a:xfrm xmlns:a="http://schemas.openxmlformats.org/drawingml/2006/main">
            <a:off x="8667750" y="1866900"/>
            <a:ext cx="571500" cy="776288"/>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36" name="Straight Arrow Connector 267"/>
          <p:cNvCxnSpPr>
            <a:stCxn xmlns:a="http://schemas.openxmlformats.org/drawingml/2006/main" id="91" idx="3"/>
            <a:endCxn xmlns:a="http://schemas.openxmlformats.org/drawingml/2006/main" id="92" idx="1"/>
          </p:cNvCxnSpPr>
          <p:nvPr/>
        </p:nvCxnSpPr>
        <p:spPr>
          <a:xfrm xmlns:a="http://schemas.openxmlformats.org/drawingml/2006/main" flipV="1">
            <a:off x="8667750" y="2643188"/>
            <a:ext cx="571500" cy="766763"/>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437" name="Straight Arrow Connector 268"/>
          <p:cNvCxnSpPr>
            <a:stCxn xmlns:a="http://schemas.openxmlformats.org/drawingml/2006/main" id="92" idx="2"/>
            <a:endCxn xmlns:a="http://schemas.openxmlformats.org/drawingml/2006/main" id="93" idx="0"/>
          </p:cNvCxnSpPr>
          <p:nvPr/>
        </p:nvCxnSpPr>
        <p:spPr>
          <a:xfrm xmlns:a="http://schemas.openxmlformats.org/drawingml/2006/main">
            <a:off x="10334625" y="3333750"/>
            <a:ext cx="0" cy="1000125"/>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spTree>
    <p:extLst>
      <p:ext uri="{BB962C8B-B14F-4D97-AF65-F5344CB8AC3E}">
        <p14:creationId xmlns:p14="http://schemas.microsoft.com/office/powerpoint/2010/main" val="83238599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ADAPTIVE VALIDATION RESULT</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Pair OR improves all three energy regions</a:t>
            </a:r>
          </a:p>
        </p:txBody>
      </p:sp>
      <p:cxnSp>
        <p:nvCxnSpPr>
          <p:cNvPr id="139"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38</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All seeds pass the point-estimate gate; the high-energy advantage is still statistically uncertain.</a:t>
            </a:r>
          </a:p>
        </p:txBody>
      </p:sp>
      <p:pic>
        <p:nvPicPr>
          <p:cNvPr id="143" name="joint-or-regional-result"/>
          <p:cNvPicPr>
            <a:picLocks xmlns:a="http://schemas.openxmlformats.org/drawingml/2006/main" noChangeAspect="1"/>
          </p:cNvPicPr>
          <p:nvPr/>
        </p:nvPicPr>
        <p:blipFill>
          <a:blip xmlns:r="http://schemas.openxmlformats.org/officeDocument/2006/relationships" xmlns:a="http://schemas.openxmlformats.org/drawingml/2006/main" r:embed="R175f5afac8ae4a5d"/>
          <a:stretch xmlns:a="http://schemas.openxmlformats.org/drawingml/2006/main"/>
        </p:blipFill>
        <p:spPr>
          <a:xfrm xmlns:a="http://schemas.openxmlformats.org/drawingml/2006/main">
            <a:off x="666750" y="1890280"/>
            <a:ext cx="10858500" cy="3553691"/>
          </a:xfrm>
          <a:prstGeom xmlns:a="http://schemas.openxmlformats.org/drawingml/2006/main" prst="rect">
            <a:avLst/>
          </a:prstGeom>
        </p:spPr>
      </p:pic>
    </p:spTree>
    <p:extLst>
      <p:ext uri="{BB962C8B-B14F-4D97-AF65-F5344CB8AC3E}">
        <p14:creationId xmlns:p14="http://schemas.microsoft.com/office/powerpoint/2010/main" val="83238599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HIGH-RESOLUTION HYBRID DECISION</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36"/>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Measured-pT protection in the complete event decision</a:t>
            </a:r>
          </a:p>
        </p:txBody>
      </p:sp>
      <p:cxnSp>
        <p:nvCxnSpPr>
          <p:cNvPr id="550"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39</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Same trained network. The two thresholds share one total 0.5% background-event budget.</a:t>
            </a:r>
          </a:p>
        </p:txBody>
      </p:sp>
      <p:sp>
        <p:nvSpPr>
          <p:cNvPr id="84" name="arch-row-l">
            <a:extLst xmlns:a="http://schemas.openxmlformats.org/drawingml/2006/main">
              <a:ext uri="{FF2B5EF4-FFF2-40B4-BE49-F238E27FC236}">
                <a16:creationId xmlns:a16="http://schemas.microsoft.com/office/drawing/2014/main" id="{5D05D2AA-3C1D-48F9-A99E-A6A721F0C512}"/>
              </a:ext>
            </a:extLst>
          </p:cNvPr>
          <p:cNvSpPr>
            <a:spLocks xmlns:a="http://schemas.openxmlformats.org/drawingml/2006/main" noGrp="1"/>
          </p:cNvSpPr>
          <p:nvPr/>
        </p:nvSpPr>
        <p:spPr>
          <a:xfrm xmlns:a="http://schemas.openxmlformats.org/drawingml/2006/main">
            <a:off x="590550" y="1647825"/>
            <a:ext cx="112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283"/>
          </a:bodyPr>
          <a:lstStyle xmlns:a="http://schemas.openxmlformats.org/drawingml/2006/main"/>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Higher-pT TOB</a:t>
            </a:r>
          </a:p>
        </p:txBody>
      </p:sp>
      <p:sp>
        <p:nvSpPr>
          <p:cNvPr id="85" name="arch-row-s">
            <a:extLst xmlns:a="http://schemas.openxmlformats.org/drawingml/2006/main">
              <a:ext uri="{FF2B5EF4-FFF2-40B4-BE49-F238E27FC236}">
                <a16:creationId xmlns:a16="http://schemas.microsoft.com/office/drawing/2014/main" id="{619931FA-8327-4177-8503-C41ACE29C4EB}"/>
              </a:ext>
            </a:extLst>
          </p:cNvPr>
          <p:cNvSpPr>
            <a:spLocks xmlns:a="http://schemas.openxmlformats.org/drawingml/2006/main" noGrp="1"/>
          </p:cNvSpPr>
          <p:nvPr/>
        </p:nvSpPr>
        <p:spPr>
          <a:xfrm xmlns:a="http://schemas.openxmlformats.org/drawingml/2006/main">
            <a:off x="590550" y="3190875"/>
            <a:ext cx="112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83"/>
          </a:bodyPr>
          <a:lstStyle xmlns:a="http://schemas.openxmlformats.org/drawingml/2006/main"/>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Lower-pT TOB</a:t>
            </a:r>
          </a:p>
        </p:txBody>
      </p:sp>
      <p:sp>
        <p:nvSpPr>
          <p:cNvPr id="86" name="arch-l-input">
            <a:extLst xmlns:a="http://schemas.openxmlformats.org/drawingml/2006/main">
              <a:ext uri="{FF2B5EF4-FFF2-40B4-BE49-F238E27FC236}">
                <a16:creationId xmlns:a16="http://schemas.microsoft.com/office/drawing/2014/main" id="{3D8777BD-A43F-4735-97F3-FEE32D9C47D2}"/>
              </a:ext>
            </a:extLst>
          </p:cNvPr>
          <p:cNvSpPr>
            <a:spLocks xmlns:a="http://schemas.openxmlformats.org/drawingml/2006/main" noGrp="1"/>
          </p:cNvSpPr>
          <p:nvPr/>
        </p:nvSpPr>
        <p:spPr>
          <a:xfrm xmlns:a="http://schemas.openxmlformats.org/drawingml/2006/main">
            <a:off x="1714500" y="1476375"/>
            <a:ext cx="1952625" cy="762000"/>
          </a:xfrm>
          <a:prstGeom xmlns:a="http://schemas.openxmlformats.org/drawingml/2006/main" prst="roundRect">
            <a:avLst>
              <a:gd name="adj" fmla="val 10000"/>
            </a:avLst>
          </a:prstGeom>
          <a:solidFill xmlns:a="http://schemas.openxmlformats.org/drawingml/2006/main">
            <a:srgbClr val="FFF7ED"/>
          </a:solidFill>
          <a:ln xmlns:a="http://schemas.openxmlformats.org/drawingml/2006/main" w="14288">
            <a:solidFill>
              <a:srgbClr val="F97316"/>
            </a:solidFill>
          </a:ln>
        </p:spPr>
        <p:txBody>
          <a:bodyPr xmlns:a="http://schemas.openxmlformats.org/drawingml/2006/main" anchor="ctr">
            <a:normAutofit fontScale="97788"/>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Two 12 × 12 EM2 image views</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47 member scalars:</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45 cells + pT + EM2 fraction</a:t>
            </a:r>
          </a:p>
        </p:txBody>
      </p:sp>
      <p:sp>
        <p:nvSpPr>
          <p:cNvPr id="87" name="arch-l-encoder">
            <a:extLst xmlns:a="http://schemas.openxmlformats.org/drawingml/2006/main">
              <a:ext uri="{FF2B5EF4-FFF2-40B4-BE49-F238E27FC236}">
                <a16:creationId xmlns:a16="http://schemas.microsoft.com/office/drawing/2014/main" id="{EE875995-173E-4A16-AF81-BE9923BC002C}"/>
              </a:ext>
            </a:extLst>
          </p:cNvPr>
          <p:cNvSpPr>
            <a:spLocks xmlns:a="http://schemas.openxmlformats.org/drawingml/2006/main" noGrp="1"/>
          </p:cNvSpPr>
          <p:nvPr/>
        </p:nvSpPr>
        <p:spPr>
          <a:xfrm xmlns:a="http://schemas.openxmlformats.org/drawingml/2006/main">
            <a:off x="4238625" y="1476375"/>
            <a:ext cx="2095500" cy="762000"/>
          </a:xfrm>
          <a:prstGeom xmlns:a="http://schemas.openxmlformats.org/drawingml/2006/main" prst="roundRect">
            <a:avLst>
              <a:gd name="adj" fmla="val 10000"/>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Shared member encoder</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CNN + scalar branch</a:t>
            </a:r>
          </a:p>
        </p:txBody>
      </p:sp>
      <p:sp>
        <p:nvSpPr>
          <p:cNvPr id="88" name="arch-l-embedding">
            <a:extLst xmlns:a="http://schemas.openxmlformats.org/drawingml/2006/main">
              <a:ext uri="{FF2B5EF4-FFF2-40B4-BE49-F238E27FC236}">
                <a16:creationId xmlns:a16="http://schemas.microsoft.com/office/drawing/2014/main" id="{83B20AD4-28CD-461C-81AC-A5C8536FF9E5}"/>
              </a:ext>
            </a:extLst>
          </p:cNvPr>
          <p:cNvSpPr>
            <a:spLocks xmlns:a="http://schemas.openxmlformats.org/drawingml/2006/main" noGrp="1"/>
          </p:cNvSpPr>
          <p:nvPr/>
        </p:nvSpPr>
        <p:spPr>
          <a:xfrm xmlns:a="http://schemas.openxmlformats.org/drawingml/2006/main">
            <a:off x="6905625" y="1476375"/>
            <a:ext cx="1619250" cy="762000"/>
          </a:xfrm>
          <a:prstGeom xmlns:a="http://schemas.openxmlformats.org/drawingml/2006/main" prst="roundRect">
            <a:avLst>
              <a:gd name="adj" fmla="val 10000"/>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16-number member</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representation</a:t>
            </a:r>
          </a:p>
        </p:txBody>
      </p:sp>
      <p:sp>
        <p:nvSpPr>
          <p:cNvPr id="89" name="arch-s-input">
            <a:extLst xmlns:a="http://schemas.openxmlformats.org/drawingml/2006/main">
              <a:ext uri="{FF2B5EF4-FFF2-40B4-BE49-F238E27FC236}">
                <a16:creationId xmlns:a16="http://schemas.microsoft.com/office/drawing/2014/main" id="{2FD5F03F-8EA5-4B8D-A307-AE5A1A6ED1F2}"/>
              </a:ext>
            </a:extLst>
          </p:cNvPr>
          <p:cNvSpPr>
            <a:spLocks xmlns:a="http://schemas.openxmlformats.org/drawingml/2006/main" noGrp="1"/>
          </p:cNvSpPr>
          <p:nvPr/>
        </p:nvSpPr>
        <p:spPr>
          <a:xfrm xmlns:a="http://schemas.openxmlformats.org/drawingml/2006/main">
            <a:off x="1714500" y="3019425"/>
            <a:ext cx="1952625" cy="762000"/>
          </a:xfrm>
          <a:prstGeom xmlns:a="http://schemas.openxmlformats.org/drawingml/2006/main" prst="roundRect">
            <a:avLst>
              <a:gd name="adj" fmla="val 10000"/>
            </a:avLst>
          </a:prstGeom>
          <a:solidFill xmlns:a="http://schemas.openxmlformats.org/drawingml/2006/main">
            <a:srgbClr val="FFF7ED"/>
          </a:solidFill>
          <a:ln xmlns:a="http://schemas.openxmlformats.org/drawingml/2006/main" w="14288">
            <a:solidFill>
              <a:srgbClr val="F97316"/>
            </a:solidFill>
          </a:ln>
        </p:spPr>
        <p:txBody>
          <a:bodyPr xmlns:a="http://schemas.openxmlformats.org/drawingml/2006/main" anchor="ctr">
            <a:normAutofit fontScale="97788"/>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Two 12 × 12 EM2 image views</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47 member scalars:</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45 cells + pT + EM2 fraction</a:t>
            </a:r>
          </a:p>
        </p:txBody>
      </p:sp>
      <p:sp>
        <p:nvSpPr>
          <p:cNvPr id="90" name="arch-s-encoder">
            <a:extLst xmlns:a="http://schemas.openxmlformats.org/drawingml/2006/main">
              <a:ext uri="{FF2B5EF4-FFF2-40B4-BE49-F238E27FC236}">
                <a16:creationId xmlns:a16="http://schemas.microsoft.com/office/drawing/2014/main" id="{4600AE49-07CD-418C-8F27-BD548AEACBBA}"/>
              </a:ext>
            </a:extLst>
          </p:cNvPr>
          <p:cNvSpPr>
            <a:spLocks xmlns:a="http://schemas.openxmlformats.org/drawingml/2006/main" noGrp="1"/>
          </p:cNvSpPr>
          <p:nvPr/>
        </p:nvSpPr>
        <p:spPr>
          <a:xfrm xmlns:a="http://schemas.openxmlformats.org/drawingml/2006/main">
            <a:off x="4238625" y="3019425"/>
            <a:ext cx="2095500" cy="762000"/>
          </a:xfrm>
          <a:prstGeom xmlns:a="http://schemas.openxmlformats.org/drawingml/2006/main" prst="roundRect">
            <a:avLst>
              <a:gd name="adj" fmla="val 10000"/>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Same member encoder</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Same learned weights</a:t>
            </a:r>
          </a:p>
        </p:txBody>
      </p:sp>
      <p:sp>
        <p:nvSpPr>
          <p:cNvPr id="91" name="arch-s-embedding">
            <a:extLst xmlns:a="http://schemas.openxmlformats.org/drawingml/2006/main">
              <a:ext uri="{FF2B5EF4-FFF2-40B4-BE49-F238E27FC236}">
                <a16:creationId xmlns:a16="http://schemas.microsoft.com/office/drawing/2014/main" id="{ED9AFDB3-936B-4517-9BB9-2D4E427F4F52}"/>
              </a:ext>
            </a:extLst>
          </p:cNvPr>
          <p:cNvSpPr>
            <a:spLocks xmlns:a="http://schemas.openxmlformats.org/drawingml/2006/main" noGrp="1"/>
          </p:cNvSpPr>
          <p:nvPr/>
        </p:nvSpPr>
        <p:spPr>
          <a:xfrm xmlns:a="http://schemas.openxmlformats.org/drawingml/2006/main">
            <a:off x="6905625" y="3019425"/>
            <a:ext cx="1619250" cy="762000"/>
          </a:xfrm>
          <a:prstGeom xmlns:a="http://schemas.openxmlformats.org/drawingml/2006/main" prst="roundRect">
            <a:avLst>
              <a:gd name="adj" fmla="val 10000"/>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16-number member</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representation</a:t>
            </a:r>
          </a:p>
        </p:txBody>
      </p:sp>
      <p:sp>
        <p:nvSpPr>
          <p:cNvPr id="92" name="arch-pair-head">
            <a:extLst xmlns:a="http://schemas.openxmlformats.org/drawingml/2006/main">
              <a:ext uri="{FF2B5EF4-FFF2-40B4-BE49-F238E27FC236}">
                <a16:creationId xmlns:a16="http://schemas.microsoft.com/office/drawing/2014/main" id="{30193693-5EE5-4FAB-81AA-C11AFA6301FE}"/>
              </a:ext>
            </a:extLst>
          </p:cNvPr>
          <p:cNvSpPr>
            <a:spLocks xmlns:a="http://schemas.openxmlformats.org/drawingml/2006/main" noGrp="1"/>
          </p:cNvSpPr>
          <p:nvPr/>
        </p:nvSpPr>
        <p:spPr>
          <a:xfrm xmlns:a="http://schemas.openxmlformats.org/drawingml/2006/main">
            <a:off x="9191625" y="1962150"/>
            <a:ext cx="2333625" cy="1143000"/>
          </a:xfrm>
          <a:prstGeom xmlns:a="http://schemas.openxmlformats.org/drawingml/2006/main" prst="roundRect">
            <a:avLst>
              <a:gd name="adj" fmla="val 6667"/>
            </a:avLst>
          </a:prstGeom>
          <a:solidFill xmlns:a="http://schemas.openxmlformats.org/drawingml/2006/main">
            <a:srgbClr val="FDF2F8"/>
          </a:solidFill>
          <a:ln xmlns:a="http://schemas.openxmlformats.org/drawingml/2006/main" w="14288">
            <a:solidFill>
              <a:srgbClr val="EC4899"/>
            </a:solidFill>
          </a:ln>
        </p:spPr>
        <p:txBody>
          <a:bodyPr xmlns:a="http://schemas.openxmlformats.org/drawingml/2006/main" anchor="ctr">
            <a:normAutofit/>
          </a:bodyPr>
          <a:lstStyle xmlns:a="http://schemas.openxmlformats.org/drawingml/2006/main"/>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Pair head</a:t>
            </a:r>
          </a:p>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16 + 16 + event pT</a:t>
            </a:r>
          </a:p>
          <a:p xmlns:a="http://schemas.openxmlformats.org/drawingml/2006/main">
            <a:endParaRPr sz="1125" b="1">
              <a:solidFill>
                <a:srgbClr val="111827"/>
              </a:solidFill>
              <a:latin typeface="Calibri"/>
              <a:ea typeface="Calibri"/>
              <a:cs typeface="Calibri"/>
            </a:endParaRPr>
          </a:p>
          <a:p xmlns:a="http://schemas.openxmlformats.org/drawingml/2006/main">
            <a:pPr>
              <a:buNone/>
              <a:defRPr sz="1125" b="1">
                <a:solidFill>
                  <a:srgbClr val="111827"/>
                </a:solidFill>
                <a:latin typeface="Calibri"/>
                <a:ea typeface="Calibri"/>
                <a:cs typeface="Calibri"/>
              </a:defRPr>
            </a:pPr>
            <a:r>
              <a:rPr sz="1125" b="1">
                <a:solidFill>
                  <a:srgbClr val="111827"/>
                </a:solidFill>
                <a:latin typeface="Calibri"/>
                <a:ea typeface="Calibri"/>
                <a:cs typeface="Calibri"/>
              </a:rPr>
              <a:t>One pair score</a:t>
            </a:r>
          </a:p>
        </p:txBody>
      </p:sp>
      <p:sp>
        <p:nvSpPr>
          <p:cNvPr id="93" name="arch-event-score">
            <a:extLst xmlns:a="http://schemas.openxmlformats.org/drawingml/2006/main">
              <a:ext uri="{FF2B5EF4-FFF2-40B4-BE49-F238E27FC236}">
                <a16:creationId xmlns:a16="http://schemas.microsoft.com/office/drawing/2014/main" id="{A4692D4F-2E7C-4C81-A875-AE7293BDC26A}"/>
              </a:ext>
            </a:extLst>
          </p:cNvPr>
          <p:cNvSpPr>
            <a:spLocks xmlns:a="http://schemas.openxmlformats.org/drawingml/2006/main" noGrp="1"/>
          </p:cNvSpPr>
          <p:nvPr/>
        </p:nvSpPr>
        <p:spPr>
          <a:xfrm xmlns:a="http://schemas.openxmlformats.org/drawingml/2006/main">
            <a:off x="9191625" y="3286125"/>
            <a:ext cx="2333625" cy="523875"/>
          </a:xfrm>
          <a:prstGeom xmlns:a="http://schemas.openxmlformats.org/drawingml/2006/main" prst="roundRect">
            <a:avLst>
              <a:gd name="adj" fmla="val 11111"/>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fontScale="100000"/>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Maximum neural score</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across every finite pair</a:t>
            </a:r>
          </a:p>
        </p:txBody>
      </p:sp>
      <p:sp>
        <p:nvSpPr>
          <p:cNvPr id="94" name="arch-threshold">
            <a:extLst xmlns:a="http://schemas.openxmlformats.org/drawingml/2006/main">
              <a:ext uri="{FF2B5EF4-FFF2-40B4-BE49-F238E27FC236}">
                <a16:creationId xmlns:a16="http://schemas.microsoft.com/office/drawing/2014/main" id="{E4127DA9-82B9-45C3-91C6-F8C7D06FACD2}"/>
              </a:ext>
            </a:extLst>
          </p:cNvPr>
          <p:cNvSpPr>
            <a:spLocks xmlns:a="http://schemas.openxmlformats.org/drawingml/2006/main" noGrp="1"/>
          </p:cNvSpPr>
          <p:nvPr/>
        </p:nvSpPr>
        <p:spPr>
          <a:xfrm xmlns:a="http://schemas.openxmlformats.org/drawingml/2006/main">
            <a:off x="9191625" y="4000500"/>
            <a:ext cx="2333625" cy="523875"/>
          </a:xfrm>
          <a:prstGeom xmlns:a="http://schemas.openxmlformats.org/drawingml/2006/main" prst="roundRect">
            <a:avLst>
              <a:gd name="adj" fmla="val 12500"/>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Neural event score</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reaches threshold</a:t>
            </a:r>
          </a:p>
        </p:txBody>
      </p:sp>
      <p:cxnSp>
        <p:nvCxnSpPr>
          <p:cNvPr id="565" name="Straight Arrow Connector 319"/>
          <p:cNvCxnSpPr>
            <a:stCxn xmlns:a="http://schemas.openxmlformats.org/drawingml/2006/main" id="86" idx="3"/>
            <a:endCxn xmlns:a="http://schemas.openxmlformats.org/drawingml/2006/main" id="87" idx="1"/>
          </p:cNvCxnSpPr>
          <p:nvPr/>
        </p:nvCxnSpPr>
        <p:spPr>
          <a:xfrm xmlns:a="http://schemas.openxmlformats.org/drawingml/2006/main">
            <a:off x="3667125" y="1857375"/>
            <a:ext cx="571500"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566" name="Straight Arrow Connector 320"/>
          <p:cNvCxnSpPr>
            <a:stCxn xmlns:a="http://schemas.openxmlformats.org/drawingml/2006/main" id="87" idx="3"/>
            <a:endCxn xmlns:a="http://schemas.openxmlformats.org/drawingml/2006/main" id="88" idx="1"/>
          </p:cNvCxnSpPr>
          <p:nvPr/>
        </p:nvCxnSpPr>
        <p:spPr>
          <a:xfrm xmlns:a="http://schemas.openxmlformats.org/drawingml/2006/main">
            <a:off x="6334125" y="1857375"/>
            <a:ext cx="571500"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567" name="Straight Arrow Connector 321"/>
          <p:cNvCxnSpPr>
            <a:stCxn xmlns:a="http://schemas.openxmlformats.org/drawingml/2006/main" id="89" idx="3"/>
            <a:endCxn xmlns:a="http://schemas.openxmlformats.org/drawingml/2006/main" id="90" idx="1"/>
          </p:cNvCxnSpPr>
          <p:nvPr/>
        </p:nvCxnSpPr>
        <p:spPr>
          <a:xfrm xmlns:a="http://schemas.openxmlformats.org/drawingml/2006/main">
            <a:off x="3667125" y="3400425"/>
            <a:ext cx="571500"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568" name="Straight Arrow Connector 322"/>
          <p:cNvCxnSpPr>
            <a:stCxn xmlns:a="http://schemas.openxmlformats.org/drawingml/2006/main" id="90" idx="3"/>
            <a:endCxn xmlns:a="http://schemas.openxmlformats.org/drawingml/2006/main" id="91" idx="1"/>
          </p:cNvCxnSpPr>
          <p:nvPr/>
        </p:nvCxnSpPr>
        <p:spPr>
          <a:xfrm xmlns:a="http://schemas.openxmlformats.org/drawingml/2006/main">
            <a:off x="6334125" y="3400425"/>
            <a:ext cx="571500"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569" name="Straight Arrow Connector 323"/>
          <p:cNvCxnSpPr>
            <a:stCxn xmlns:a="http://schemas.openxmlformats.org/drawingml/2006/main" id="88" idx="3"/>
            <a:endCxn xmlns:a="http://schemas.openxmlformats.org/drawingml/2006/main" id="92" idx="1"/>
          </p:cNvCxnSpPr>
          <p:nvPr/>
        </p:nvCxnSpPr>
        <p:spPr>
          <a:xfrm xmlns:a="http://schemas.openxmlformats.org/drawingml/2006/main">
            <a:off x="8524875" y="1857375"/>
            <a:ext cx="666750" cy="676275"/>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570" name="Straight Arrow Connector 324"/>
          <p:cNvCxnSpPr>
            <a:stCxn xmlns:a="http://schemas.openxmlformats.org/drawingml/2006/main" id="91" idx="3"/>
            <a:endCxn xmlns:a="http://schemas.openxmlformats.org/drawingml/2006/main" id="92" idx="1"/>
          </p:cNvCxnSpPr>
          <p:nvPr/>
        </p:nvCxnSpPr>
        <p:spPr>
          <a:xfrm xmlns:a="http://schemas.openxmlformats.org/drawingml/2006/main" flipV="1">
            <a:off x="8524875" y="2533650"/>
            <a:ext cx="666750" cy="866775"/>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571" name="Straight Arrow Connector 325"/>
          <p:cNvCxnSpPr>
            <a:stCxn xmlns:a="http://schemas.openxmlformats.org/drawingml/2006/main" id="92" idx="2"/>
            <a:endCxn xmlns:a="http://schemas.openxmlformats.org/drawingml/2006/main" id="93" idx="0"/>
          </p:cNvCxnSpPr>
          <p:nvPr/>
        </p:nvCxnSpPr>
        <p:spPr>
          <a:xfrm xmlns:a="http://schemas.openxmlformats.org/drawingml/2006/main">
            <a:off x="10358438" y="3105150"/>
            <a:ext cx="0" cy="180975"/>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572" name="Straight Arrow Connector 326"/>
          <p:cNvCxnSpPr>
            <a:stCxn xmlns:a="http://schemas.openxmlformats.org/drawingml/2006/main" id="93" idx="2"/>
            <a:endCxn xmlns:a="http://schemas.openxmlformats.org/drawingml/2006/main" id="94" idx="0"/>
          </p:cNvCxnSpPr>
          <p:nvPr/>
        </p:nvCxnSpPr>
        <p:spPr>
          <a:xfrm xmlns:a="http://schemas.openxmlformats.org/drawingml/2006/main">
            <a:off x="10358438" y="3810000"/>
            <a:ext cx="0" cy="19050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sp>
        <p:nvSpPr>
          <p:cNvPr id="153" name="hybrid-new-label">
            <a:extLst xmlns:a="http://schemas.openxmlformats.org/drawingml/2006/main">
              <a:ext uri="{FF2B5EF4-FFF2-40B4-BE49-F238E27FC236}">
                <a16:creationId xmlns:a16="http://schemas.microsoft.com/office/drawing/2014/main" id="{6F54866D-9F88-4CC1-8992-9431EC5CE2AF}"/>
              </a:ext>
            </a:extLst>
          </p:cNvPr>
          <p:cNvSpPr>
            <a:spLocks xmlns:a="http://schemas.openxmlformats.org/drawingml/2006/main" noGrp="1"/>
          </p:cNvSpPr>
          <p:nvPr/>
        </p:nvSpPr>
        <p:spPr>
          <a:xfrm xmlns:a="http://schemas.openxmlformats.org/drawingml/2006/main">
            <a:off x="1714500" y="4352925"/>
            <a:ext cx="4524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buNone/>
              <a:defRPr sz="1125" b="1">
                <a:solidFill>
                  <a:srgbClr val="F97316"/>
                </a:solidFill>
                <a:latin typeface="Calibri"/>
                <a:ea typeface="Calibri"/>
                <a:cs typeface="Calibri"/>
              </a:defRPr>
            </a:pPr>
            <a:r>
              <a:rPr sz="1125" b="1">
                <a:solidFill>
                  <a:srgbClr val="F97316"/>
                </a:solidFill>
                <a:latin typeface="Calibri"/>
                <a:ea typeface="Calibri"/>
                <a:cs typeface="Calibri"/>
              </a:rPr>
              <a:t>New direct measured-pT branch</a:t>
            </a:r>
          </a:p>
        </p:txBody>
      </p:sp>
      <p:sp>
        <p:nvSpPr>
          <p:cNvPr id="154" name="hybrid-pt-source">
            <a:extLst xmlns:a="http://schemas.openxmlformats.org/drawingml/2006/main">
              <a:ext uri="{FF2B5EF4-FFF2-40B4-BE49-F238E27FC236}">
                <a16:creationId xmlns:a16="http://schemas.microsoft.com/office/drawing/2014/main" id="{3F0F5FE4-E2B7-471C-B4B2-2A9639FCDCDF}"/>
              </a:ext>
            </a:extLst>
          </p:cNvPr>
          <p:cNvSpPr>
            <a:spLocks xmlns:a="http://schemas.openxmlformats.org/drawingml/2006/main" noGrp="1"/>
          </p:cNvSpPr>
          <p:nvPr/>
        </p:nvSpPr>
        <p:spPr>
          <a:xfrm xmlns:a="http://schemas.openxmlformats.org/drawingml/2006/main">
            <a:off x="1714500" y="4714875"/>
            <a:ext cx="1952625" cy="523875"/>
          </a:xfrm>
          <a:prstGeom xmlns:a="http://schemas.openxmlformats.org/drawingml/2006/main" prst="roundRect">
            <a:avLst>
              <a:gd name="adj" fmla="val 14545"/>
            </a:avLst>
          </a:prstGeom>
          <a:solidFill xmlns:a="http://schemas.openxmlformats.org/drawingml/2006/main">
            <a:srgbClr val="FFF7ED"/>
          </a:solidFill>
          <a:ln xmlns:a="http://schemas.openxmlformats.org/drawingml/2006/main" w="14288">
            <a:solidFill>
              <a:srgbClr val="F97316"/>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Event second-highest</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measured pT</a:t>
            </a:r>
          </a:p>
        </p:txBody>
      </p:sp>
      <p:sp>
        <p:nvSpPr>
          <p:cNvPr id="155" name="hybrid-pt-threshold">
            <a:extLst xmlns:a="http://schemas.openxmlformats.org/drawingml/2006/main">
              <a:ext uri="{FF2B5EF4-FFF2-40B4-BE49-F238E27FC236}">
                <a16:creationId xmlns:a16="http://schemas.microsoft.com/office/drawing/2014/main" id="{19929DEE-DB1D-4407-8056-148F4FD63180}"/>
              </a:ext>
            </a:extLst>
          </p:cNvPr>
          <p:cNvSpPr>
            <a:spLocks xmlns:a="http://schemas.openxmlformats.org/drawingml/2006/main" noGrp="1"/>
          </p:cNvSpPr>
          <p:nvPr/>
        </p:nvSpPr>
        <p:spPr>
          <a:xfrm xmlns:a="http://schemas.openxmlformats.org/drawingml/2006/main">
            <a:off x="4238625" y="4714875"/>
            <a:ext cx="1952625" cy="523875"/>
          </a:xfrm>
          <a:prstGeom xmlns:a="http://schemas.openxmlformats.org/drawingml/2006/main" prst="roundRect">
            <a:avLst>
              <a:gd name="adj" fmla="val 14545"/>
            </a:avLst>
          </a:prstGeom>
          <a:solidFill xmlns:a="http://schemas.openxmlformats.org/drawingml/2006/main">
            <a:srgbClr val="EFF6FF"/>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Measured pT</a:t>
            </a:r>
          </a:p>
          <a:p xmlns:a="http://schemas.openxmlformats.org/drawingml/2006/main">
            <a:pPr>
              <a:buNone/>
              <a:defRPr sz="1050" b="0">
                <a:solidFill>
                  <a:srgbClr val="111827"/>
                </a:solidFill>
                <a:latin typeface="Calibri"/>
                <a:ea typeface="Calibri"/>
                <a:cs typeface="Calibri"/>
              </a:defRPr>
            </a:pPr>
            <a:r>
              <a:rPr sz="1050" b="0">
                <a:solidFill>
                  <a:srgbClr val="111827"/>
                </a:solidFill>
                <a:latin typeface="Calibri"/>
                <a:ea typeface="Calibri"/>
                <a:cs typeface="Calibri"/>
              </a:rPr>
              <a:t>reaches threshold</a:t>
            </a:r>
          </a:p>
        </p:txBody>
      </p:sp>
      <p:sp>
        <p:nvSpPr>
          <p:cNvPr id="156" name="hybrid-or">
            <a:extLst xmlns:a="http://schemas.openxmlformats.org/drawingml/2006/main">
              <a:ext uri="{FF2B5EF4-FFF2-40B4-BE49-F238E27FC236}">
                <a16:creationId xmlns:a16="http://schemas.microsoft.com/office/drawing/2014/main" id="{A433E9BE-6B3D-406F-A777-D683461249D1}"/>
              </a:ext>
            </a:extLst>
          </p:cNvPr>
          <p:cNvSpPr>
            <a:spLocks xmlns:a="http://schemas.openxmlformats.org/drawingml/2006/main" noGrp="1"/>
          </p:cNvSpPr>
          <p:nvPr/>
        </p:nvSpPr>
        <p:spPr>
          <a:xfrm xmlns:a="http://schemas.openxmlformats.org/drawingml/2006/main">
            <a:off x="9191625" y="4714875"/>
            <a:ext cx="809625" cy="523875"/>
          </a:xfrm>
          <a:prstGeom xmlns:a="http://schemas.openxmlformats.org/drawingml/2006/main" prst="roundRect">
            <a:avLst>
              <a:gd name="adj" fmla="val 14545"/>
            </a:avLst>
          </a:prstGeom>
          <a:solidFill xmlns:a="http://schemas.openxmlformats.org/drawingml/2006/main">
            <a:srgbClr val="111827"/>
          </a:solidFill>
          <a:ln xmlns:a="http://schemas.openxmlformats.org/drawingml/2006/main" w="14288">
            <a:solidFill>
              <a:srgbClr val="111827"/>
            </a:solidFill>
          </a:ln>
        </p:spPr>
        <p:txBody>
          <a:bodyPr xmlns:a="http://schemas.openxmlformats.org/drawingml/2006/main" anchor="ctr">
            <a:normAutofit/>
          </a:bodyPr>
          <a:lstStyle xmlns:a="http://schemas.openxmlformats.org/drawingml/2006/main"/>
          <a:p xmlns:a="http://schemas.openxmlformats.org/drawingml/2006/main">
            <a:pPr>
              <a:buNone/>
              <a:defRPr sz="1350" b="1">
                <a:solidFill>
                  <a:srgbClr val="FFFFFF"/>
                </a:solidFill>
                <a:latin typeface="Calibri"/>
                <a:ea typeface="Calibri"/>
                <a:cs typeface="Calibri"/>
              </a:defRPr>
            </a:pPr>
            <a:r>
              <a:rPr sz="1350" b="1">
                <a:solidFill>
                  <a:srgbClr val="FFFFFF"/>
                </a:solidFill>
                <a:latin typeface="Calibri"/>
                <a:ea typeface="Calibri"/>
                <a:cs typeface="Calibri"/>
              </a:rPr>
              <a:t>OR</a:t>
            </a:r>
          </a:p>
        </p:txBody>
      </p:sp>
      <p:sp>
        <p:nvSpPr>
          <p:cNvPr id="157" name="hybrid-final">
            <a:extLst xmlns:a="http://schemas.openxmlformats.org/drawingml/2006/main">
              <a:ext uri="{FF2B5EF4-FFF2-40B4-BE49-F238E27FC236}">
                <a16:creationId xmlns:a16="http://schemas.microsoft.com/office/drawing/2014/main" id="{E01B1D08-28DC-4626-848E-1E4D2BFB55F4}"/>
              </a:ext>
            </a:extLst>
          </p:cNvPr>
          <p:cNvSpPr>
            <a:spLocks xmlns:a="http://schemas.openxmlformats.org/drawingml/2006/main" noGrp="1"/>
          </p:cNvSpPr>
          <p:nvPr/>
        </p:nvSpPr>
        <p:spPr>
          <a:xfrm xmlns:a="http://schemas.openxmlformats.org/drawingml/2006/main">
            <a:off x="10477500" y="4714875"/>
            <a:ext cx="1047750" cy="523875"/>
          </a:xfrm>
          <a:prstGeom xmlns:a="http://schemas.openxmlformats.org/drawingml/2006/main" prst="roundRect">
            <a:avLst>
              <a:gd name="adj" fmla="val 14545"/>
            </a:avLst>
          </a:prstGeom>
          <a:solidFill xmlns:a="http://schemas.openxmlformats.org/drawingml/2006/main">
            <a:srgbClr val="F0FDF4"/>
          </a:solidFill>
          <a:ln xmlns:a="http://schemas.openxmlformats.org/drawingml/2006/main" w="14288">
            <a:solidFill>
              <a:srgbClr val="22C55E"/>
            </a:solidFill>
          </a:ln>
        </p:spPr>
        <p:txBody>
          <a:bodyPr xmlns:a="http://schemas.openxmlformats.org/drawingml/2006/main" anchor="ctr">
            <a:normAutofit/>
          </a:bodyPr>
          <a:lstStyle xmlns:a="http://schemas.openxmlformats.org/drawingml/2006/main"/>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Accept or</a:t>
            </a:r>
          </a:p>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reject event</a:t>
            </a:r>
          </a:p>
        </p:txBody>
      </p:sp>
      <p:sp>
        <p:nvSpPr>
          <p:cNvPr id="158" name="hybrid-budget">
            <a:extLst xmlns:a="http://schemas.openxmlformats.org/drawingml/2006/main">
              <a:ext uri="{FF2B5EF4-FFF2-40B4-BE49-F238E27FC236}">
                <a16:creationId xmlns:a16="http://schemas.microsoft.com/office/drawing/2014/main" id="{DDD2343B-CD78-478E-8EB7-70BEF3363A64}"/>
              </a:ext>
            </a:extLst>
          </p:cNvPr>
          <p:cNvSpPr>
            <a:spLocks xmlns:a="http://schemas.openxmlformats.org/drawingml/2006/main" noGrp="1"/>
          </p:cNvSpPr>
          <p:nvPr/>
        </p:nvSpPr>
        <p:spPr>
          <a:xfrm xmlns:a="http://schemas.openxmlformats.org/drawingml/2006/main">
            <a:off x="5905500" y="5238750"/>
            <a:ext cx="561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buNone/>
              <a:defRPr sz="975" b="1">
                <a:solidFill>
                  <a:srgbClr val="64748B"/>
                </a:solidFill>
                <a:latin typeface="Calibri"/>
                <a:ea typeface="Calibri"/>
                <a:cs typeface="Calibri"/>
              </a:defRPr>
            </a:pPr>
            <a:r>
              <a:rPr sz="975" b="1">
                <a:solidFill>
                  <a:srgbClr val="64748B"/>
                </a:solidFill>
                <a:latin typeface="Calibri"/>
                <a:ea typeface="Calibri"/>
                <a:cs typeface="Calibri"/>
              </a:rPr>
              <a:t>Joint calibration keeps the complete OR at no more than 0.5% background-event FPR</a:t>
            </a:r>
          </a:p>
        </p:txBody>
      </p:sp>
      <p:cxnSp>
        <p:nvCxnSpPr>
          <p:cNvPr id="579" name="Straight Arrow Connector 333"/>
          <p:cNvCxnSpPr>
            <a:stCxn xmlns:a="http://schemas.openxmlformats.org/drawingml/2006/main" id="154" idx="3"/>
            <a:endCxn xmlns:a="http://schemas.openxmlformats.org/drawingml/2006/main" id="155" idx="1"/>
          </p:cNvCxnSpPr>
          <p:nvPr/>
        </p:nvCxnSpPr>
        <p:spPr>
          <a:xfrm xmlns:a="http://schemas.openxmlformats.org/drawingml/2006/main">
            <a:off x="3667125" y="4976813"/>
            <a:ext cx="571500"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580" name="Straight Arrow Connector 334"/>
          <p:cNvCxnSpPr>
            <a:stCxn xmlns:a="http://schemas.openxmlformats.org/drawingml/2006/main" id="155" idx="3"/>
            <a:endCxn xmlns:a="http://schemas.openxmlformats.org/drawingml/2006/main" id="156" idx="1"/>
          </p:cNvCxnSpPr>
          <p:nvPr/>
        </p:nvCxnSpPr>
        <p:spPr>
          <a:xfrm xmlns:a="http://schemas.openxmlformats.org/drawingml/2006/main">
            <a:off x="6191250" y="4976813"/>
            <a:ext cx="3000375"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581" name="Straight Arrow Connector 335"/>
          <p:cNvCxnSpPr>
            <a:stCxn xmlns:a="http://schemas.openxmlformats.org/drawingml/2006/main" id="94" idx="2"/>
            <a:endCxn xmlns:a="http://schemas.openxmlformats.org/drawingml/2006/main" id="156" idx="0"/>
          </p:cNvCxnSpPr>
          <p:nvPr/>
        </p:nvCxnSpPr>
        <p:spPr>
          <a:xfrm xmlns:a="http://schemas.openxmlformats.org/drawingml/2006/main" flipH="1">
            <a:off x="9596438" y="4524375"/>
            <a:ext cx="762000" cy="19050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cxnSp>
        <p:nvCxnSpPr>
          <p:cNvPr id="582" name="Straight Arrow Connector 336"/>
          <p:cNvCxnSpPr>
            <a:stCxn xmlns:a="http://schemas.openxmlformats.org/drawingml/2006/main" id="156" idx="3"/>
            <a:endCxn xmlns:a="http://schemas.openxmlformats.org/drawingml/2006/main" id="157" idx="1"/>
          </p:cNvCxnSpPr>
          <p:nvPr/>
        </p:nvCxnSpPr>
        <p:spPr>
          <a:xfrm xmlns:a="http://schemas.openxmlformats.org/drawingml/2006/main">
            <a:off x="10001250" y="4976813"/>
            <a:ext cx="476250" cy="0"/>
          </a:xfrm>
          <a:prstGeom xmlns:a="http://schemas.openxmlformats.org/drawingml/2006/main" prst="straightConnector1">
            <a:avLst/>
          </a:prstGeom>
          <a:ln xmlns:a="http://schemas.openxmlformats.org/drawingml/2006/main" w="15240">
            <a:solidFill>
              <a:srgbClr val="94A3B8"/>
            </a:solidFill>
            <a:prstDash val="solid"/>
            <a:headEnd type="none" w="med" len="med"/>
            <a:tailEnd type="arrow" w="sm" len="sm"/>
          </a:ln>
        </p:spPr>
      </p:cxnSp>
    </p:spTree>
    <p:extLst>
      <p:ext uri="{BB962C8B-B14F-4D97-AF65-F5344CB8AC3E}">
        <p14:creationId xmlns:p14="http://schemas.microsoft.com/office/powerpoint/2010/main" val="83238599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CONTROLLED MEASURED-pT INPUT STUDY</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82"/>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Both measured-pT inputs produce the strongest result</a:t>
            </a:r>
          </a:p>
        </p:txBody>
      </p:sp>
      <p:cxnSp>
        <p:nvCxnSpPr>
          <p:cNvPr id="144"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40</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Using both inputs supports learning. The direct branch mainly protects high-energy behavior.</a:t>
            </a:r>
          </a:p>
        </p:txBody>
      </p:sp>
      <p:sp>
        <p:nvSpPr>
          <p:cNvPr id="90" name="nn-matrix-title">
            <a:extLst xmlns:a="http://schemas.openxmlformats.org/drawingml/2006/main">
              <a:ext uri="{FF2B5EF4-FFF2-40B4-BE49-F238E27FC236}">
                <a16:creationId xmlns:a16="http://schemas.microsoft.com/office/drawing/2014/main" id="{C3BB86EA-23D8-424B-B980-DB71B6325B04}"/>
              </a:ext>
            </a:extLst>
          </p:cNvPr>
          <p:cNvSpPr>
            <a:spLocks xmlns:a="http://schemas.openxmlformats.org/drawingml/2006/main" noGrp="1"/>
          </p:cNvSpPr>
          <p:nvPr/>
        </p:nvSpPr>
        <p:spPr>
          <a:xfrm xmlns:a="http://schemas.openxmlformats.org/drawingml/2006/main">
            <a:off x="619125" y="1504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500" b="1">
                <a:solidFill>
                  <a:srgbClr val="111827"/>
                </a:solidFill>
                <a:latin typeface="Calibri"/>
                <a:ea typeface="Calibri"/>
                <a:cs typeface="Calibri"/>
              </a:defRPr>
            </a:pPr>
            <a:r>
              <a:rPr sz="1500" b="1">
                <a:solidFill>
                  <a:srgbClr val="111827"/>
                </a:solidFill>
                <a:latin typeface="Calibri"/>
                <a:ea typeface="Calibri"/>
                <a:cs typeface="Calibri"/>
              </a:rPr>
              <a:t>Neural decision only</a:t>
            </a:r>
          </a:p>
        </p:txBody>
      </p:sp>
      <p:sp>
        <p:nvSpPr>
          <p:cNvPr id="91" name="nn-matrix-col-no">
            <a:extLst xmlns:a="http://schemas.openxmlformats.org/drawingml/2006/main">
              <a:ext uri="{FF2B5EF4-FFF2-40B4-BE49-F238E27FC236}">
                <a16:creationId xmlns:a16="http://schemas.microsoft.com/office/drawing/2014/main" id="{7F75AB9A-23BD-42F5-9B31-D584DA463E18}"/>
              </a:ext>
            </a:extLst>
          </p:cNvPr>
          <p:cNvSpPr>
            <a:spLocks xmlns:a="http://schemas.openxmlformats.org/drawingml/2006/main" noGrp="1"/>
          </p:cNvSpPr>
          <p:nvPr/>
        </p:nvSpPr>
        <p:spPr>
          <a:xfrm xmlns:a="http://schemas.openxmlformats.org/drawingml/2006/main">
            <a:off x="2238375" y="198120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Without event pT</a:t>
            </a:r>
          </a:p>
        </p:txBody>
      </p:sp>
      <p:sp>
        <p:nvSpPr>
          <p:cNvPr id="92" name="nn-matrix-col-yes">
            <a:extLst xmlns:a="http://schemas.openxmlformats.org/drawingml/2006/main">
              <a:ext uri="{FF2B5EF4-FFF2-40B4-BE49-F238E27FC236}">
                <a16:creationId xmlns:a16="http://schemas.microsoft.com/office/drawing/2014/main" id="{E0C65B16-36C4-4001-957A-E0F2471F31EE}"/>
              </a:ext>
            </a:extLst>
          </p:cNvPr>
          <p:cNvSpPr>
            <a:spLocks xmlns:a="http://schemas.openxmlformats.org/drawingml/2006/main" noGrp="1"/>
          </p:cNvSpPr>
          <p:nvPr/>
        </p:nvSpPr>
        <p:spPr>
          <a:xfrm xmlns:a="http://schemas.openxmlformats.org/drawingml/2006/main">
            <a:off x="3762375" y="198120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With event pT</a:t>
            </a:r>
          </a:p>
        </p:txBody>
      </p:sp>
      <p:sp>
        <p:nvSpPr>
          <p:cNvPr id="93" name="nn-matrix-row-no">
            <a:extLst xmlns:a="http://schemas.openxmlformats.org/drawingml/2006/main">
              <a:ext uri="{FF2B5EF4-FFF2-40B4-BE49-F238E27FC236}">
                <a16:creationId xmlns:a16="http://schemas.microsoft.com/office/drawing/2014/main" id="{1F815775-5D20-49B6-AD49-30BBF441EC0D}"/>
              </a:ext>
            </a:extLst>
          </p:cNvPr>
          <p:cNvSpPr>
            <a:spLocks xmlns:a="http://schemas.openxmlformats.org/drawingml/2006/main" noGrp="1"/>
          </p:cNvSpPr>
          <p:nvPr/>
        </p:nvSpPr>
        <p:spPr>
          <a:xfrm xmlns:a="http://schemas.openxmlformats.org/drawingml/2006/main">
            <a:off x="619125" y="2533650"/>
            <a:ext cx="142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Without</a:t>
            </a:r>
          </a:p>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member pT</a:t>
            </a:r>
          </a:p>
        </p:txBody>
      </p:sp>
      <p:sp>
        <p:nvSpPr>
          <p:cNvPr id="94" name="nn-matrix-row-yes">
            <a:extLst xmlns:a="http://schemas.openxmlformats.org/drawingml/2006/main">
              <a:ext uri="{FF2B5EF4-FFF2-40B4-BE49-F238E27FC236}">
                <a16:creationId xmlns:a16="http://schemas.microsoft.com/office/drawing/2014/main" id="{E813EF0F-A97D-4258-A214-A7B6E8D268AB}"/>
              </a:ext>
            </a:extLst>
          </p:cNvPr>
          <p:cNvSpPr>
            <a:spLocks xmlns:a="http://schemas.openxmlformats.org/drawingml/2006/main" noGrp="1"/>
          </p:cNvSpPr>
          <p:nvPr/>
        </p:nvSpPr>
        <p:spPr>
          <a:xfrm xmlns:a="http://schemas.openxmlformats.org/drawingml/2006/main">
            <a:off x="619125" y="3543300"/>
            <a:ext cx="142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With</a:t>
            </a:r>
          </a:p>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member pT</a:t>
            </a:r>
          </a:p>
        </p:txBody>
      </p:sp>
      <p:sp>
        <p:nvSpPr>
          <p:cNvPr id="95" name="nn-matrix-none">
            <a:extLst xmlns:a="http://schemas.openxmlformats.org/drawingml/2006/main">
              <a:ext uri="{FF2B5EF4-FFF2-40B4-BE49-F238E27FC236}">
                <a16:creationId xmlns:a16="http://schemas.microsoft.com/office/drawing/2014/main" id="{A3381BDE-C697-4B25-9C90-3F87DD24A21F}"/>
              </a:ext>
            </a:extLst>
          </p:cNvPr>
          <p:cNvSpPr>
            <a:spLocks xmlns:a="http://schemas.openxmlformats.org/drawingml/2006/main" noGrp="1"/>
          </p:cNvSpPr>
          <p:nvPr/>
        </p:nvSpPr>
        <p:spPr>
          <a:xfrm xmlns:a="http://schemas.openxmlformats.org/drawingml/2006/main">
            <a:off x="2238375" y="2476500"/>
            <a:ext cx="1428750" cy="876300"/>
          </a:xfrm>
          <a:prstGeom xmlns:a="http://schemas.openxmlformats.org/drawingml/2006/main" prst="roundRect">
            <a:avLst>
              <a:gd name="adj" fmla="val 8696"/>
            </a:avLst>
          </a:prstGeom>
          <a:solidFill xmlns:a="http://schemas.openxmlformats.org/drawingml/2006/main">
            <a:srgbClr val="BFDBFE"/>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7.38 pp</a:t>
            </a:r>
          </a:p>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above baseline</a:t>
            </a:r>
          </a:p>
        </p:txBody>
      </p:sp>
      <p:sp>
        <p:nvSpPr>
          <p:cNvPr id="96" name="nn-matrix-event">
            <a:extLst xmlns:a="http://schemas.openxmlformats.org/drawingml/2006/main">
              <a:ext uri="{FF2B5EF4-FFF2-40B4-BE49-F238E27FC236}">
                <a16:creationId xmlns:a16="http://schemas.microsoft.com/office/drawing/2014/main" id="{79F377A9-9DE9-476D-808F-A064DDB06A3F}"/>
              </a:ext>
            </a:extLst>
          </p:cNvPr>
          <p:cNvSpPr>
            <a:spLocks xmlns:a="http://schemas.openxmlformats.org/drawingml/2006/main" noGrp="1"/>
          </p:cNvSpPr>
          <p:nvPr/>
        </p:nvSpPr>
        <p:spPr>
          <a:xfrm xmlns:a="http://schemas.openxmlformats.org/drawingml/2006/main">
            <a:off x="3762375" y="2476500"/>
            <a:ext cx="1428750" cy="876300"/>
          </a:xfrm>
          <a:prstGeom xmlns:a="http://schemas.openxmlformats.org/drawingml/2006/main" prst="roundRect">
            <a:avLst>
              <a:gd name="adj" fmla="val 8696"/>
            </a:avLst>
          </a:prstGeom>
          <a:solidFill xmlns:a="http://schemas.openxmlformats.org/drawingml/2006/main">
            <a:srgbClr val="60A5FA"/>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9.54 pp</a:t>
            </a:r>
          </a:p>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above baseline</a:t>
            </a:r>
          </a:p>
        </p:txBody>
      </p:sp>
      <p:sp>
        <p:nvSpPr>
          <p:cNvPr id="97" name="nn-matrix-member">
            <a:extLst xmlns:a="http://schemas.openxmlformats.org/drawingml/2006/main">
              <a:ext uri="{FF2B5EF4-FFF2-40B4-BE49-F238E27FC236}">
                <a16:creationId xmlns:a16="http://schemas.microsoft.com/office/drawing/2014/main" id="{6B64D0E5-DCAE-4123-9D78-EF532FAA7D38}"/>
              </a:ext>
            </a:extLst>
          </p:cNvPr>
          <p:cNvSpPr>
            <a:spLocks xmlns:a="http://schemas.openxmlformats.org/drawingml/2006/main" noGrp="1"/>
          </p:cNvSpPr>
          <p:nvPr/>
        </p:nvSpPr>
        <p:spPr>
          <a:xfrm xmlns:a="http://schemas.openxmlformats.org/drawingml/2006/main">
            <a:off x="2238375" y="3486150"/>
            <a:ext cx="1428750" cy="876300"/>
          </a:xfrm>
          <a:prstGeom xmlns:a="http://schemas.openxmlformats.org/drawingml/2006/main" prst="roundRect">
            <a:avLst>
              <a:gd name="adj" fmla="val 8696"/>
            </a:avLst>
          </a:prstGeom>
          <a:solidFill xmlns:a="http://schemas.openxmlformats.org/drawingml/2006/main">
            <a:srgbClr val="BFDBFE"/>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7.44 pp</a:t>
            </a:r>
          </a:p>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above baseline</a:t>
            </a:r>
          </a:p>
        </p:txBody>
      </p:sp>
      <p:sp>
        <p:nvSpPr>
          <p:cNvPr id="98" name="nn-matrix-both">
            <a:extLst xmlns:a="http://schemas.openxmlformats.org/drawingml/2006/main">
              <a:ext uri="{FF2B5EF4-FFF2-40B4-BE49-F238E27FC236}">
                <a16:creationId xmlns:a16="http://schemas.microsoft.com/office/drawing/2014/main" id="{B999CEEF-8B31-45C5-8E50-B3573A71A400}"/>
              </a:ext>
            </a:extLst>
          </p:cNvPr>
          <p:cNvSpPr>
            <a:spLocks xmlns:a="http://schemas.openxmlformats.org/drawingml/2006/main" noGrp="1"/>
          </p:cNvSpPr>
          <p:nvPr/>
        </p:nvSpPr>
        <p:spPr>
          <a:xfrm xmlns:a="http://schemas.openxmlformats.org/drawingml/2006/main">
            <a:off x="3762375" y="3486150"/>
            <a:ext cx="1428750" cy="876300"/>
          </a:xfrm>
          <a:prstGeom xmlns:a="http://schemas.openxmlformats.org/drawingml/2006/main" prst="roundRect">
            <a:avLst>
              <a:gd name="adj" fmla="val 8696"/>
            </a:avLst>
          </a:prstGeom>
          <a:solidFill xmlns:a="http://schemas.openxmlformats.org/drawingml/2006/main">
            <a:srgbClr val="2563EB"/>
          </a:solidFill>
          <a:ln xmlns:a="http://schemas.openxmlformats.org/drawingml/2006/main" w="14288">
            <a:solidFill>
              <a:srgbClr val="2563EB"/>
            </a:solidFill>
          </a:ln>
        </p:spPr>
        <p:txBody>
          <a:bodyPr xmlns:a="http://schemas.openxmlformats.org/drawingml/2006/main" anchor="ctr">
            <a:normAutofit/>
          </a:bodyPr>
          <a:lstStyle xmlns:a="http://schemas.openxmlformats.org/drawingml/2006/main"/>
          <a:p xmlns:a="http://schemas.openxmlformats.org/drawingml/2006/main">
            <a:pPr>
              <a:buNone/>
              <a:defRPr sz="1275" b="1">
                <a:solidFill>
                  <a:srgbClr val="FFFFFF"/>
                </a:solidFill>
                <a:latin typeface="Calibri"/>
                <a:ea typeface="Calibri"/>
                <a:cs typeface="Calibri"/>
              </a:defRPr>
            </a:pPr>
            <a:r>
              <a:rPr sz="1275" b="1">
                <a:solidFill>
                  <a:srgbClr val="FFFFFF"/>
                </a:solidFill>
                <a:latin typeface="Calibri"/>
                <a:ea typeface="Calibri"/>
                <a:cs typeface="Calibri"/>
              </a:rPr>
              <a:t>10.42 pp</a:t>
            </a:r>
          </a:p>
          <a:p xmlns:a="http://schemas.openxmlformats.org/drawingml/2006/main">
            <a:pPr>
              <a:buNone/>
              <a:defRPr sz="1275" b="1">
                <a:solidFill>
                  <a:srgbClr val="FFFFFF"/>
                </a:solidFill>
                <a:latin typeface="Calibri"/>
                <a:ea typeface="Calibri"/>
                <a:cs typeface="Calibri"/>
              </a:defRPr>
            </a:pPr>
            <a:r>
              <a:rPr sz="1275" b="1">
                <a:solidFill>
                  <a:srgbClr val="FFFFFF"/>
                </a:solidFill>
                <a:latin typeface="Calibri"/>
                <a:ea typeface="Calibri"/>
                <a:cs typeface="Calibri"/>
              </a:rPr>
              <a:t>above baseline</a:t>
            </a:r>
          </a:p>
        </p:txBody>
      </p:sp>
      <p:sp>
        <p:nvSpPr>
          <p:cNvPr id="99" name="or-matrix-title">
            <a:extLst xmlns:a="http://schemas.openxmlformats.org/drawingml/2006/main">
              <a:ext uri="{FF2B5EF4-FFF2-40B4-BE49-F238E27FC236}">
                <a16:creationId xmlns:a16="http://schemas.microsoft.com/office/drawing/2014/main" id="{D35AB549-751F-4DB1-9DEA-ECF50D2A9346}"/>
              </a:ext>
            </a:extLst>
          </p:cNvPr>
          <p:cNvSpPr>
            <a:spLocks xmlns:a="http://schemas.openxmlformats.org/drawingml/2006/main" noGrp="1"/>
          </p:cNvSpPr>
          <p:nvPr/>
        </p:nvSpPr>
        <p:spPr>
          <a:xfrm xmlns:a="http://schemas.openxmlformats.org/drawingml/2006/main">
            <a:off x="6524625" y="1504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500" b="1">
                <a:solidFill>
                  <a:srgbClr val="111827"/>
                </a:solidFill>
                <a:latin typeface="Calibri"/>
                <a:ea typeface="Calibri"/>
                <a:cs typeface="Calibri"/>
              </a:defRPr>
            </a:pPr>
            <a:r>
              <a:rPr sz="1500" b="1">
                <a:solidFill>
                  <a:srgbClr val="111827"/>
                </a:solidFill>
                <a:latin typeface="Calibri"/>
                <a:ea typeface="Calibri"/>
                <a:cs typeface="Calibri"/>
              </a:rPr>
              <a:t>Neural + direct pT branch</a:t>
            </a:r>
          </a:p>
        </p:txBody>
      </p:sp>
      <p:sp>
        <p:nvSpPr>
          <p:cNvPr id="100" name="or-matrix-col-no">
            <a:extLst xmlns:a="http://schemas.openxmlformats.org/drawingml/2006/main">
              <a:ext uri="{FF2B5EF4-FFF2-40B4-BE49-F238E27FC236}">
                <a16:creationId xmlns:a16="http://schemas.microsoft.com/office/drawing/2014/main" id="{BAC2BEF1-9C1F-4E38-A84B-DF19B6DB4118}"/>
              </a:ext>
            </a:extLst>
          </p:cNvPr>
          <p:cNvSpPr>
            <a:spLocks xmlns:a="http://schemas.openxmlformats.org/drawingml/2006/main" noGrp="1"/>
          </p:cNvSpPr>
          <p:nvPr/>
        </p:nvSpPr>
        <p:spPr>
          <a:xfrm xmlns:a="http://schemas.openxmlformats.org/drawingml/2006/main">
            <a:off x="8143875" y="198120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Without event pT</a:t>
            </a:r>
          </a:p>
        </p:txBody>
      </p:sp>
      <p:sp>
        <p:nvSpPr>
          <p:cNvPr id="101" name="or-matrix-col-yes">
            <a:extLst xmlns:a="http://schemas.openxmlformats.org/drawingml/2006/main">
              <a:ext uri="{FF2B5EF4-FFF2-40B4-BE49-F238E27FC236}">
                <a16:creationId xmlns:a16="http://schemas.microsoft.com/office/drawing/2014/main" id="{EA48D219-E17A-4E9F-98CA-CE7B22DFE7A3}"/>
              </a:ext>
            </a:extLst>
          </p:cNvPr>
          <p:cNvSpPr>
            <a:spLocks xmlns:a="http://schemas.openxmlformats.org/drawingml/2006/main" noGrp="1"/>
          </p:cNvSpPr>
          <p:nvPr/>
        </p:nvSpPr>
        <p:spPr>
          <a:xfrm xmlns:a="http://schemas.openxmlformats.org/drawingml/2006/main">
            <a:off x="9667875" y="198120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With event pT</a:t>
            </a:r>
          </a:p>
        </p:txBody>
      </p:sp>
      <p:sp>
        <p:nvSpPr>
          <p:cNvPr id="102" name="or-matrix-row-no">
            <a:extLst xmlns:a="http://schemas.openxmlformats.org/drawingml/2006/main">
              <a:ext uri="{FF2B5EF4-FFF2-40B4-BE49-F238E27FC236}">
                <a16:creationId xmlns:a16="http://schemas.microsoft.com/office/drawing/2014/main" id="{43B56980-436D-4141-ACD7-A046A4F07BE5}"/>
              </a:ext>
            </a:extLst>
          </p:cNvPr>
          <p:cNvSpPr>
            <a:spLocks xmlns:a="http://schemas.openxmlformats.org/drawingml/2006/main" noGrp="1"/>
          </p:cNvSpPr>
          <p:nvPr/>
        </p:nvSpPr>
        <p:spPr>
          <a:xfrm xmlns:a="http://schemas.openxmlformats.org/drawingml/2006/main">
            <a:off x="6524625" y="2533650"/>
            <a:ext cx="142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Without</a:t>
            </a:r>
          </a:p>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member pT</a:t>
            </a:r>
          </a:p>
        </p:txBody>
      </p:sp>
      <p:sp>
        <p:nvSpPr>
          <p:cNvPr id="103" name="or-matrix-row-yes">
            <a:extLst xmlns:a="http://schemas.openxmlformats.org/drawingml/2006/main">
              <a:ext uri="{FF2B5EF4-FFF2-40B4-BE49-F238E27FC236}">
                <a16:creationId xmlns:a16="http://schemas.microsoft.com/office/drawing/2014/main" id="{6FF973BA-67F8-47C6-BF1C-A385DACB99EB}"/>
              </a:ext>
            </a:extLst>
          </p:cNvPr>
          <p:cNvSpPr>
            <a:spLocks xmlns:a="http://schemas.openxmlformats.org/drawingml/2006/main" noGrp="1"/>
          </p:cNvSpPr>
          <p:nvPr/>
        </p:nvSpPr>
        <p:spPr>
          <a:xfrm xmlns:a="http://schemas.openxmlformats.org/drawingml/2006/main">
            <a:off x="6524625" y="3543300"/>
            <a:ext cx="142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With</a:t>
            </a:r>
          </a:p>
          <a:p xmlns:a="http://schemas.openxmlformats.org/drawingml/2006/main">
            <a:pPr>
              <a:buNone/>
              <a:defRPr sz="975" b="1">
                <a:solidFill>
                  <a:srgbClr val="111827"/>
                </a:solidFill>
                <a:latin typeface="Calibri"/>
                <a:ea typeface="Calibri"/>
                <a:cs typeface="Calibri"/>
              </a:defRPr>
            </a:pPr>
            <a:r>
              <a:rPr sz="975" b="1">
                <a:solidFill>
                  <a:srgbClr val="111827"/>
                </a:solidFill>
                <a:latin typeface="Calibri"/>
                <a:ea typeface="Calibri"/>
                <a:cs typeface="Calibri"/>
              </a:rPr>
              <a:t>member pT</a:t>
            </a:r>
          </a:p>
        </p:txBody>
      </p:sp>
      <p:sp>
        <p:nvSpPr>
          <p:cNvPr id="104" name="or-matrix-none">
            <a:extLst xmlns:a="http://schemas.openxmlformats.org/drawingml/2006/main">
              <a:ext uri="{FF2B5EF4-FFF2-40B4-BE49-F238E27FC236}">
                <a16:creationId xmlns:a16="http://schemas.microsoft.com/office/drawing/2014/main" id="{78C7D0F3-E833-4665-9949-F333C0F781E5}"/>
              </a:ext>
            </a:extLst>
          </p:cNvPr>
          <p:cNvSpPr>
            <a:spLocks xmlns:a="http://schemas.openxmlformats.org/drawingml/2006/main" noGrp="1"/>
          </p:cNvSpPr>
          <p:nvPr/>
        </p:nvSpPr>
        <p:spPr>
          <a:xfrm xmlns:a="http://schemas.openxmlformats.org/drawingml/2006/main">
            <a:off x="8143875" y="2476500"/>
            <a:ext cx="1428750" cy="876300"/>
          </a:xfrm>
          <a:prstGeom xmlns:a="http://schemas.openxmlformats.org/drawingml/2006/main" prst="roundRect">
            <a:avLst>
              <a:gd name="adj" fmla="val 8696"/>
            </a:avLst>
          </a:prstGeom>
          <a:solidFill xmlns:a="http://schemas.openxmlformats.org/drawingml/2006/main">
            <a:srgbClr val="BFDBFE"/>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7.35 pp</a:t>
            </a:r>
          </a:p>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above baseline</a:t>
            </a:r>
          </a:p>
        </p:txBody>
      </p:sp>
      <p:sp>
        <p:nvSpPr>
          <p:cNvPr id="105" name="or-matrix-event">
            <a:extLst xmlns:a="http://schemas.openxmlformats.org/drawingml/2006/main">
              <a:ext uri="{FF2B5EF4-FFF2-40B4-BE49-F238E27FC236}">
                <a16:creationId xmlns:a16="http://schemas.microsoft.com/office/drawing/2014/main" id="{5DA7DB98-BCC7-4E7A-B06C-CD9863DBA4DE}"/>
              </a:ext>
            </a:extLst>
          </p:cNvPr>
          <p:cNvSpPr>
            <a:spLocks xmlns:a="http://schemas.openxmlformats.org/drawingml/2006/main" noGrp="1"/>
          </p:cNvSpPr>
          <p:nvPr/>
        </p:nvSpPr>
        <p:spPr>
          <a:xfrm xmlns:a="http://schemas.openxmlformats.org/drawingml/2006/main">
            <a:off x="9667875" y="2476500"/>
            <a:ext cx="1428750" cy="876300"/>
          </a:xfrm>
          <a:prstGeom xmlns:a="http://schemas.openxmlformats.org/drawingml/2006/main" prst="roundRect">
            <a:avLst>
              <a:gd name="adj" fmla="val 8696"/>
            </a:avLst>
          </a:prstGeom>
          <a:solidFill xmlns:a="http://schemas.openxmlformats.org/drawingml/2006/main">
            <a:srgbClr val="60A5FA"/>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7.33 pp</a:t>
            </a:r>
          </a:p>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above baseline</a:t>
            </a:r>
          </a:p>
        </p:txBody>
      </p:sp>
      <p:sp>
        <p:nvSpPr>
          <p:cNvPr id="106" name="or-matrix-member">
            <a:extLst xmlns:a="http://schemas.openxmlformats.org/drawingml/2006/main">
              <a:ext uri="{FF2B5EF4-FFF2-40B4-BE49-F238E27FC236}">
                <a16:creationId xmlns:a16="http://schemas.microsoft.com/office/drawing/2014/main" id="{CFF6E399-22FE-4919-BD24-98F7BD6BBBE4}"/>
              </a:ext>
            </a:extLst>
          </p:cNvPr>
          <p:cNvSpPr>
            <a:spLocks xmlns:a="http://schemas.openxmlformats.org/drawingml/2006/main" noGrp="1"/>
          </p:cNvSpPr>
          <p:nvPr/>
        </p:nvSpPr>
        <p:spPr>
          <a:xfrm xmlns:a="http://schemas.openxmlformats.org/drawingml/2006/main">
            <a:off x="8143875" y="3486150"/>
            <a:ext cx="1428750" cy="876300"/>
          </a:xfrm>
          <a:prstGeom xmlns:a="http://schemas.openxmlformats.org/drawingml/2006/main" prst="roundRect">
            <a:avLst>
              <a:gd name="adj" fmla="val 8696"/>
            </a:avLst>
          </a:prstGeom>
          <a:solidFill xmlns:a="http://schemas.openxmlformats.org/drawingml/2006/main">
            <a:srgbClr val="BFDBFE"/>
          </a:solidFill>
          <a:ln xmlns:a="http://schemas.openxmlformats.org/drawingml/2006/main" w="14288">
            <a:solidFill>
              <a:srgbClr val="3B82F6"/>
            </a:solidFill>
          </a:ln>
        </p:spPr>
        <p:txBody>
          <a:bodyPr xmlns:a="http://schemas.openxmlformats.org/drawingml/2006/main" anchor="ctr">
            <a:normAutofit/>
          </a:bodyPr>
          <a:lstStyle xmlns:a="http://schemas.openxmlformats.org/drawingml/2006/main"/>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6.52 pp</a:t>
            </a:r>
          </a:p>
          <a:p xmlns:a="http://schemas.openxmlformats.org/drawingml/2006/main">
            <a:pPr>
              <a:buNone/>
              <a:defRPr sz="1275" b="1">
                <a:solidFill>
                  <a:srgbClr val="111827"/>
                </a:solidFill>
                <a:latin typeface="Calibri"/>
                <a:ea typeface="Calibri"/>
                <a:cs typeface="Calibri"/>
              </a:defRPr>
            </a:pPr>
            <a:r>
              <a:rPr sz="1275" b="1">
                <a:solidFill>
                  <a:srgbClr val="111827"/>
                </a:solidFill>
                <a:latin typeface="Calibri"/>
                <a:ea typeface="Calibri"/>
                <a:cs typeface="Calibri"/>
              </a:rPr>
              <a:t>above baseline</a:t>
            </a:r>
          </a:p>
        </p:txBody>
      </p:sp>
      <p:sp>
        <p:nvSpPr>
          <p:cNvPr id="107" name="or-matrix-both">
            <a:extLst xmlns:a="http://schemas.openxmlformats.org/drawingml/2006/main">
              <a:ext uri="{FF2B5EF4-FFF2-40B4-BE49-F238E27FC236}">
                <a16:creationId xmlns:a16="http://schemas.microsoft.com/office/drawing/2014/main" id="{9DAB845D-AD64-49B8-A596-1BDA92011FD6}"/>
              </a:ext>
            </a:extLst>
          </p:cNvPr>
          <p:cNvSpPr>
            <a:spLocks xmlns:a="http://schemas.openxmlformats.org/drawingml/2006/main" noGrp="1"/>
          </p:cNvSpPr>
          <p:nvPr/>
        </p:nvSpPr>
        <p:spPr>
          <a:xfrm xmlns:a="http://schemas.openxmlformats.org/drawingml/2006/main">
            <a:off x="9667875" y="3486150"/>
            <a:ext cx="1428750" cy="876300"/>
          </a:xfrm>
          <a:prstGeom xmlns:a="http://schemas.openxmlformats.org/drawingml/2006/main" prst="roundRect">
            <a:avLst>
              <a:gd name="adj" fmla="val 8696"/>
            </a:avLst>
          </a:prstGeom>
          <a:solidFill xmlns:a="http://schemas.openxmlformats.org/drawingml/2006/main">
            <a:srgbClr val="2563EB"/>
          </a:solidFill>
          <a:ln xmlns:a="http://schemas.openxmlformats.org/drawingml/2006/main" w="14288">
            <a:solidFill>
              <a:srgbClr val="2563EB"/>
            </a:solidFill>
          </a:ln>
        </p:spPr>
        <p:txBody>
          <a:bodyPr xmlns:a="http://schemas.openxmlformats.org/drawingml/2006/main" anchor="ctr">
            <a:normAutofit/>
          </a:bodyPr>
          <a:lstStyle xmlns:a="http://schemas.openxmlformats.org/drawingml/2006/main"/>
          <a:p xmlns:a="http://schemas.openxmlformats.org/drawingml/2006/main">
            <a:pPr>
              <a:buNone/>
              <a:defRPr sz="1275" b="1">
                <a:solidFill>
                  <a:srgbClr val="FFFFFF"/>
                </a:solidFill>
                <a:latin typeface="Calibri"/>
                <a:ea typeface="Calibri"/>
                <a:cs typeface="Calibri"/>
              </a:defRPr>
            </a:pPr>
            <a:r>
              <a:rPr sz="1275" b="1">
                <a:solidFill>
                  <a:srgbClr val="FFFFFF"/>
                </a:solidFill>
                <a:latin typeface="Calibri"/>
                <a:ea typeface="Calibri"/>
                <a:cs typeface="Calibri"/>
              </a:rPr>
              <a:t>10.36 pp</a:t>
            </a:r>
          </a:p>
          <a:p xmlns:a="http://schemas.openxmlformats.org/drawingml/2006/main">
            <a:pPr>
              <a:buNone/>
              <a:defRPr sz="1275" b="1">
                <a:solidFill>
                  <a:srgbClr val="FFFFFF"/>
                </a:solidFill>
                <a:latin typeface="Calibri"/>
                <a:ea typeface="Calibri"/>
                <a:cs typeface="Calibri"/>
              </a:defRPr>
            </a:pPr>
            <a:r>
              <a:rPr sz="1275" b="1">
                <a:solidFill>
                  <a:srgbClr val="FFFFFF"/>
                </a:solidFill>
                <a:latin typeface="Calibri"/>
                <a:ea typeface="Calibri"/>
                <a:cs typeface="Calibri"/>
              </a:rPr>
              <a:t>above baseline</a:t>
            </a:r>
          </a:p>
        </p:txBody>
      </p:sp>
      <p:sp>
        <p:nvSpPr>
          <p:cNvPr id="108" name="factorial-caption">
            <a:extLst xmlns:a="http://schemas.openxmlformats.org/drawingml/2006/main">
              <a:ext uri="{FF2B5EF4-FFF2-40B4-BE49-F238E27FC236}">
                <a16:creationId xmlns:a16="http://schemas.microsoft.com/office/drawing/2014/main" id="{E0134797-9FA9-4009-AD36-11B92BC4D709}"/>
              </a:ext>
            </a:extLst>
          </p:cNvPr>
          <p:cNvSpPr>
            <a:spLocks xmlns:a="http://schemas.openxmlformats.org/drawingml/2006/main" noGrp="1"/>
          </p:cNvSpPr>
          <p:nvPr/>
        </p:nvSpPr>
        <p:spPr>
          <a:xfrm xmlns:a="http://schemas.openxmlformats.org/drawingml/2006/main">
            <a:off x="2857500" y="463867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125" b="1">
                <a:solidFill>
                  <a:srgbClr val="64748B"/>
                </a:solidFill>
                <a:latin typeface="Calibri"/>
                <a:ea typeface="Calibri"/>
                <a:cs typeface="Calibri"/>
              </a:defRPr>
            </a:pPr>
            <a:r>
              <a:rPr sz="1125" b="1">
                <a:solidFill>
                  <a:srgbClr val="64748B"/>
                </a:solidFill>
                <a:latin typeface="Calibri"/>
                <a:ea typeface="Calibri"/>
                <a:cs typeface="Calibri"/>
              </a:rPr>
              <a:t>Mean inclusive validation improvement over the baseline across seeds 42, 123 and 456</a:t>
            </a:r>
          </a:p>
        </p:txBody>
      </p:sp>
    </p:spTree>
    <p:extLst>
      <p:ext uri="{BB962C8B-B14F-4D97-AF65-F5344CB8AC3E}">
        <p14:creationId xmlns:p14="http://schemas.microsoft.com/office/powerpoint/2010/main" val="83238599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CONTROLLED pT-CONTEXT STUDY</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474"/>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Seven alternatives to the earlier top-four pT context</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41</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Event activity</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Total event pT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Highest pT outside the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Total pT outside the pair</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Relative structure</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Pair fraction of event pT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Top-four pT concentration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Top-four pT spread</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Pair encoding</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Replace the two member-pT values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with pair sum and balance</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Controlled comparison</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84"/>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Each alternative is tested separately; calorimeter inputs, network, target, loss and event decision stay fixed.</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Historical reference: two member-pT values plus the event second-highest pT</a:t>
            </a:r>
          </a:p>
        </p:txBody>
      </p:sp>
    </p:spTree>
    <p:extLst>
      <p:ext uri="{BB962C8B-B14F-4D97-AF65-F5344CB8AC3E}">
        <p14:creationId xmlns:p14="http://schemas.microsoft.com/office/powerpoint/2010/main" val="196784276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VALIDATION RESULT</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668"/>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Alternative pT context did not improve the top-four reference</a:t>
            </a:r>
          </a:p>
        </p:txBody>
      </p:sp>
      <p:cxnSp>
        <p:nvCxnSpPr>
          <p:cNvPr id="136"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42</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499" y="1523999"/>
            <a:ext cx="5667375" cy="4067165"/>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pPr marL="0" algn="r" defTabSz="914400">
              <a:buNone/>
            </a:pPr>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Mean inclusive signal-sample validation efficiency</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endParaRP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Conclusion</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111827"/>
                </a:solidFill>
                <a:latin typeface="Arial"/>
                <a:ea typeface="Arial"/>
                <a:cs typeface="Arial"/>
              </a:defRPr>
            </a:pPr>
            <a:r>
              <a:rPr sz="1425" b="0">
                <a:solidFill>
                  <a:srgbClr val="111827"/>
                </a:solidFill>
                <a:latin typeface="Arial"/>
                <a:ea typeface="Arial"/>
                <a:cs typeface="Arial"/>
              </a:rPr>
              <a:t>All seven alternatives</a:t>
            </a:r>
          </a:p>
          <a:p xmlns:a="http://schemas.openxmlformats.org/drawingml/2006/main">
            <a:pPr algn="l">
              <a:buNone/>
              <a:defRPr sz="1425" b="0">
                <a:solidFill>
                  <a:srgbClr val="111827"/>
                </a:solidFill>
                <a:latin typeface="Arial"/>
                <a:ea typeface="Arial"/>
                <a:cs typeface="Arial"/>
              </a:defRPr>
            </a:pPr>
            <a:r>
              <a:rPr sz="1425" b="0">
                <a:solidFill>
                  <a:srgbClr val="111827"/>
                </a:solidFill>
                <a:latin typeface="Arial"/>
                <a:ea typeface="Arial"/>
                <a:cs typeface="Arial"/>
              </a:rPr>
              <a:t>remained above the baseline.</a:t>
            </a:r>
          </a:p>
          <a:p xmlns:a="http://schemas.openxmlformats.org/drawingml/2006/main">
            <a:pPr algn="l">
              <a:buNone/>
              <a:defRPr sz="1613" b="0">
                <a:solidFill>
                  <a:srgbClr val="111827"/>
                </a:solidFill>
                <a:latin typeface="Aptos"/>
                <a:ea typeface="Aptos"/>
                <a:cs typeface="Aptos"/>
              </a:defRPr>
            </a:pPr>
            <a:r>
              <a:t/>
            </a:r>
            <a:endParaRPr sz="1425" b="0">
              <a:solidFill>
                <a:srgbClr val="111827"/>
              </a:solidFill>
              <a:latin typeface="Arial"/>
              <a:ea typeface="Arial"/>
              <a:cs typeface="Arial"/>
            </a:endParaRPr>
          </a:p>
          <a:p xmlns:a="http://schemas.openxmlformats.org/drawingml/2006/main">
            <a:pPr algn="l">
              <a:buNone/>
              <a:defRPr sz="1425" b="0">
                <a:solidFill>
                  <a:srgbClr val="111827"/>
                </a:solidFill>
                <a:latin typeface="Arial"/>
                <a:ea typeface="Arial"/>
                <a:cs typeface="Arial"/>
              </a:defRPr>
            </a:pPr>
            <a:r>
              <a:rPr sz="1425" b="0">
                <a:solidFill>
                  <a:srgbClr val="111827"/>
                </a:solidFill>
                <a:latin typeface="Arial"/>
                <a:ea typeface="Arial"/>
                <a:cs typeface="Arial"/>
              </a:rPr>
              <a:t>None exceeded the top-four reference.</a:t>
            </a:r>
          </a:p>
          <a:p xmlns:a="http://schemas.openxmlformats.org/drawingml/2006/main">
            <a:pPr algn="l">
              <a:buNone/>
              <a:defRPr sz="1613" b="0">
                <a:solidFill>
                  <a:srgbClr val="111827"/>
                </a:solidFill>
                <a:latin typeface="Aptos"/>
                <a:ea typeface="Aptos"/>
                <a:cs typeface="Aptos"/>
              </a:defRPr>
            </a:pPr>
            <a:r>
              <a:t/>
            </a:r>
            <a:endParaRPr sz="1425" b="0">
              <a:solidFill>
                <a:srgbClr val="111827"/>
              </a:solidFill>
              <a:latin typeface="Arial"/>
              <a:ea typeface="Arial"/>
              <a:cs typeface="Arial"/>
            </a:endParaRPr>
          </a:p>
          <a:p xmlns:a="http://schemas.openxmlformats.org/drawingml/2006/main">
            <a:pPr algn="l">
              <a:buNone/>
              <a:defRPr sz="1425" b="0">
                <a:solidFill>
                  <a:srgbClr val="111827"/>
                </a:solidFill>
                <a:latin typeface="Arial"/>
                <a:ea typeface="Arial"/>
                <a:cs typeface="Arial"/>
              </a:defRPr>
            </a:pPr>
            <a:r>
              <a:rPr sz="1425" b="0">
                <a:solidFill>
                  <a:srgbClr val="111827"/>
                </a:solidFill>
                <a:latin typeface="Arial"/>
                <a:ea typeface="Arial"/>
                <a:cs typeface="Arial"/>
              </a:rPr>
              <a:t>Closest: pair sum and balance</a:t>
            </a:r>
          </a:p>
          <a:p xmlns:a="http://schemas.openxmlformats.org/drawingml/2006/main">
            <a:pPr algn="l">
              <a:buNone/>
              <a:defRPr sz="1425" b="0">
                <a:solidFill>
                  <a:srgbClr val="111827"/>
                </a:solidFill>
                <a:latin typeface="Arial"/>
                <a:ea typeface="Arial"/>
                <a:cs typeface="Arial"/>
              </a:defRPr>
            </a:pPr>
            <a:r>
              <a:rPr sz="1425" b="0">
                <a:solidFill>
                  <a:srgbClr val="111827"/>
                </a:solidFill>
                <a:latin typeface="Arial"/>
                <a:ea typeface="Arial"/>
                <a:cs typeface="Arial"/>
              </a:rPr>
              <a:t>44.519% vs 44.756%</a:t>
            </a:r>
          </a:p>
          <a:p xmlns:a="http://schemas.openxmlformats.org/drawingml/2006/main">
            <a:pPr algn="l">
              <a:buNone/>
              <a:defRPr sz="1425" b="0">
                <a:solidFill>
                  <a:srgbClr val="111827"/>
                </a:solidFill>
                <a:latin typeface="Arial"/>
                <a:ea typeface="Arial"/>
                <a:cs typeface="Arial"/>
              </a:defRPr>
            </a:pPr>
            <a:r>
              <a:rPr sz="1425" b="0">
                <a:solidFill>
                  <a:srgbClr val="111827"/>
                </a:solidFill>
                <a:latin typeface="Arial"/>
                <a:ea typeface="Arial"/>
                <a:cs typeface="Arial"/>
              </a:rPr>
              <a:t>−0.237 percentage points</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This historical study retained the original pT context before the later all-finite improvement.</a:t>
            </a:r>
          </a:p>
        </p:txBody>
      </p:sp>
      <p:graphicFrame>
        <p:nvGraphicFramePr>
          <p:cNvPr id="148" name="pt-context-validation-ranking"/>
          <p:cNvGraphicFramePr/>
          <p:nvPr/>
        </p:nvGraphicFramePr>
        <p:xfrm>
          <a:off xmlns:a="http://schemas.openxmlformats.org/drawingml/2006/main" x="552450" y="2095500"/>
          <a:ext xmlns:a="http://schemas.openxmlformats.org/drawingml/2006/main" cx="5810250" cy="3524250"/>
        </p:xfrm>
        <a:graphic xmlns:a="http://schemas.openxmlformats.org/drawingml/2006/main">
          <a:graphicData uri="http://schemas.openxmlformats.org/drawingml/2006/chart">
            <c:chart xmlns:r="http://schemas.openxmlformats.org/officeDocument/2006/relationships" xmlns:c="http://schemas.openxmlformats.org/drawingml/2006/chart" r:id="R4fdc289ba0974fdb"/>
          </a:graphicData>
        </a:graphic>
      </p:graphicFrame>
    </p:spTree>
    <p:extLst>
      <p:ext uri="{BB962C8B-B14F-4D97-AF65-F5344CB8AC3E}">
        <p14:creationId xmlns:p14="http://schemas.microsoft.com/office/powerpoint/2010/main" val="83238599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CONTROLLED MEMBER-SHOWER TEST</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Shower width did not improve the reference</a:t>
            </a:r>
          </a:p>
        </p:txBody>
      </p:sp>
      <p:cxnSp>
        <p:nvCxnSpPr>
          <p:cNvPr id="140"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43</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Mean inclusive signal efficiency (%)</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t/>
            </a:r>
            <a:endParaRP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Only one input changed</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One normalized EM2 width per TOB</a:t>
            </a:r>
          </a:p>
          <a:p xmlns:a="http://schemas.openxmlformats.org/drawingml/2006/main">
            <a:pPr algn="l">
              <a:buNone/>
              <a:defRPr sz="1613" b="0">
                <a:solidFill>
                  <a:srgbClr val="111827"/>
                </a:solidFill>
                <a:latin typeface="Aptos"/>
                <a:ea typeface="Aptos"/>
                <a:cs typeface="Aptos"/>
              </a:defRPr>
            </a:pPr>
            <a:r>
              <a:t/>
            </a: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47 → 48 scalar inputs per TOB</a:t>
            </a:r>
          </a:p>
          <a:p xmlns:a="http://schemas.openxmlformats.org/drawingml/2006/main">
            <a:pPr algn="l">
              <a:buNone/>
              <a:defRPr sz="1613" b="0">
                <a:solidFill>
                  <a:srgbClr val="111827"/>
                </a:solidFill>
                <a:latin typeface="Aptos"/>
                <a:ea typeface="Aptos"/>
                <a:cs typeface="Aptos"/>
              </a:defRPr>
            </a:pPr>
            <a:r>
              <a:t>4,357 → 4,373 parameters</a:t>
            </a: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a:r>
          </a:p>
          <a:p xmlns:a="http://schemas.openxmlformats.org/drawingml/2006/main">
            <a:pPr algn="l">
              <a:buNone/>
              <a:defRPr sz="1613" b="0">
                <a:solidFill>
                  <a:srgbClr val="111827"/>
                </a:solidFill>
                <a:latin typeface="Aptos"/>
                <a:ea typeface="Aptos"/>
                <a:cs typeface="Aptos"/>
              </a:defRPr>
            </a:pPr>
            <a:r>
              <a:t>+9.34 points vs baseline</a:t>
            </a: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−0.835 points vs top-four reference</a:t>
            </a: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width beats the baseline, but did not improve the earlier top-four reference.</a:t>
            </a:r>
          </a:p>
        </p:txBody>
      </p:sp>
      <p:graphicFrame>
        <p:nvGraphicFramePr>
          <p:cNvPr id="152" name="member-shower-width-inclusive-v40"/>
          <p:cNvGraphicFramePr/>
          <p:nvPr/>
        </p:nvGraphicFramePr>
        <p:xfrm>
          <a:off xmlns:a="http://schemas.openxmlformats.org/drawingml/2006/main" x="857250" y="2333625"/>
          <a:ext xmlns:a="http://schemas.openxmlformats.org/drawingml/2006/main" cx="4810125" cy="2714625"/>
        </p:xfrm>
        <a:graphic xmlns:a="http://schemas.openxmlformats.org/drawingml/2006/main">
          <a:graphicData uri="http://schemas.openxmlformats.org/drawingml/2006/chart">
            <c:chart xmlns:r="http://schemas.openxmlformats.org/officeDocument/2006/relationships" xmlns:c="http://schemas.openxmlformats.org/drawingml/2006/chart" r:id="R72d2f9c92a0643f4"/>
          </a:graphicData>
        </a:graphic>
      </p:graphicFrame>
    </p:spTree>
    <p:extLst>
      <p:ext uri="{BB962C8B-B14F-4D97-AF65-F5344CB8AC3E}">
        <p14:creationId xmlns:p14="http://schemas.microsoft.com/office/powerpoint/2010/main" val="83238599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tatus-10">
            <a:extLst xmlns:a="http://schemas.openxmlformats.org/drawingml/2006/main">
              <a:ext uri="{FF2B5EF4-FFF2-40B4-BE49-F238E27FC236}">
                <a16:creationId xmlns:a16="http://schemas.microsoft.com/office/drawing/2014/main" id="{E4CB5F6C-CCEC-4B07-B7CC-1740F9B506D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2563EB"/>
                </a:solidFill>
                <a:latin typeface="Aptos"/>
                <a:ea typeface="Aptos"/>
                <a:cs typeface="Aptos"/>
              </a:defRPr>
            </a:pPr>
            <a:r>
              <a:rPr sz="1125" b="1">
                <a:solidFill>
                  <a:srgbClr val="2563EB"/>
                </a:solidFill>
                <a:latin typeface="Aptos"/>
                <a:ea typeface="Aptos"/>
                <a:cs typeface="Aptos"/>
              </a:rPr>
              <a:t>ENERGY-REGION INTERPRETATION</a:t>
            </a:r>
          </a:p>
        </p:txBody>
      </p:sp>
      <p:sp>
        <p:nvSpPr>
          <p:cNvPr id="2" name="title-10">
            <a:extLst xmlns:a="http://schemas.openxmlformats.org/drawingml/2006/main">
              <a:ext uri="{FF2B5EF4-FFF2-40B4-BE49-F238E27FC236}">
                <a16:creationId xmlns:a16="http://schemas.microsoft.com/office/drawing/2014/main" id="{A022C114-B100-4EEB-86A4-85F8DC7F0019}"/>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72"/>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top-four reference already learns shower width</a:t>
            </a:r>
          </a:p>
        </p:txBody>
      </p:sp>
      <p:cxnSp>
        <p:nvCxnSpPr>
          <p:cNvPr id="140" name="header-rule-10"/>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10">
            <a:extLst xmlns:a="http://schemas.openxmlformats.org/drawingml/2006/main">
              <a:ext uri="{FF2B5EF4-FFF2-40B4-BE49-F238E27FC236}">
                <a16:creationId xmlns:a16="http://schemas.microsoft.com/office/drawing/2014/main" id="{C7E5F955-2351-4078-B3FD-4653D7D6CE3C}"/>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44</a:t>
            </a:r>
          </a:p>
        </p:txBody>
      </p:sp>
      <p:sp>
        <p:nvSpPr>
          <p:cNvPr id="5" name="s10-left-box">
            <a:extLst xmlns:a="http://schemas.openxmlformats.org/drawingml/2006/main">
              <a:ext uri="{FF2B5EF4-FFF2-40B4-BE49-F238E27FC236}">
                <a16:creationId xmlns:a16="http://schemas.microsoft.com/office/drawing/2014/main" id="{9B68A844-AED8-4666-AEFB-4D3BF57C988F}"/>
              </a:ext>
            </a:extLst>
          </p:cNvPr>
          <p:cNvSpPr>
            <a:spLocks xmlns:a="http://schemas.openxmlformats.org/drawingml/2006/main" noGrp="1"/>
          </p:cNvSpPr>
          <p:nvPr/>
        </p:nvSpPr>
        <p:spPr>
          <a:xfrm xmlns:a="http://schemas.openxmlformats.org/drawingml/2006/main">
            <a:off x="571500" y="1524000"/>
            <a:ext cx="5238750" cy="3714750"/>
          </a:xfrm>
          <a:prstGeom xmlns:a="http://schemas.openxmlformats.org/drawingml/2006/main" prst="roundRect">
            <a:avLst>
              <a:gd name="adj" fmla="val 2051"/>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10-left-accent">
            <a:extLst xmlns:a="http://schemas.openxmlformats.org/drawingml/2006/main">
              <a:ext uri="{FF2B5EF4-FFF2-40B4-BE49-F238E27FC236}">
                <a16:creationId xmlns:a16="http://schemas.microsoft.com/office/drawing/2014/main" id="{04F0B0C9-1635-4E0C-B316-785970059AC4}"/>
              </a:ext>
            </a:extLst>
          </p:cNvPr>
          <p:cNvSpPr>
            <a:spLocks xmlns:a="http://schemas.openxmlformats.org/drawingml/2006/main" noGrp="1"/>
          </p:cNvSpPr>
          <p:nvPr/>
        </p:nvSpPr>
        <p:spPr>
          <a:xfrm xmlns:a="http://schemas.openxmlformats.org/drawingml/2006/main">
            <a:off x="571500" y="1524000"/>
            <a:ext cx="66675" cy="3714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10-left-heading">
            <a:extLst xmlns:a="http://schemas.openxmlformats.org/drawingml/2006/main">
              <a:ext uri="{FF2B5EF4-FFF2-40B4-BE49-F238E27FC236}">
                <a16:creationId xmlns:a16="http://schemas.microsoft.com/office/drawing/2014/main" id="{7570AEC5-9784-46B7-99CB-7FC7DC8366DE}"/>
              </a:ext>
            </a:extLst>
          </p:cNvPr>
          <p:cNvSpPr>
            <a:spLocks xmlns:a="http://schemas.openxmlformats.org/drawingml/2006/main" noGrp="1"/>
          </p:cNvSpPr>
          <p:nvPr/>
        </p:nvSpPr>
        <p:spPr>
          <a:xfrm xmlns:a="http://schemas.openxmlformats.org/drawingml/2006/main">
            <a:off x="78105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Mean change by energy region</a:t>
            </a:r>
          </a:p>
        </p:txBody>
      </p:sp>
      <p:sp>
        <p:nvSpPr>
          <p:cNvPr id="8" name="s10-left-body">
            <a:extLst xmlns:a="http://schemas.openxmlformats.org/drawingml/2006/main">
              <a:ext uri="{FF2B5EF4-FFF2-40B4-BE49-F238E27FC236}">
                <a16:creationId xmlns:a16="http://schemas.microsoft.com/office/drawing/2014/main" id="{8885D497-3D18-400C-96CF-C03ED9E61946}"/>
              </a:ext>
            </a:extLst>
          </p:cNvPr>
          <p:cNvSpPr>
            <a:spLocks xmlns:a="http://schemas.openxmlformats.org/drawingml/2006/main" noGrp="1"/>
          </p:cNvSpPr>
          <p:nvPr/>
        </p:nvSpPr>
        <p:spPr>
          <a:xfrm xmlns:a="http://schemas.openxmlformats.org/drawingml/2006/main">
            <a:off x="78105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t/>
            </a:r>
            <a:endParaRPr/>
          </a:p>
        </p:txBody>
      </p:sp>
      <p:sp>
        <p:nvSpPr>
          <p:cNvPr id="9" name="s10-right-box">
            <a:extLst xmlns:a="http://schemas.openxmlformats.org/drawingml/2006/main">
              <a:ext uri="{FF2B5EF4-FFF2-40B4-BE49-F238E27FC236}">
                <a16:creationId xmlns:a16="http://schemas.microsoft.com/office/drawing/2014/main" id="{06BE1875-E203-4B18-B9E0-9A6C095DDC99}"/>
              </a:ext>
            </a:extLst>
          </p:cNvPr>
          <p:cNvSpPr>
            <a:spLocks xmlns:a="http://schemas.openxmlformats.org/drawingml/2006/main" noGrp="1"/>
          </p:cNvSpPr>
          <p:nvPr/>
        </p:nvSpPr>
        <p:spPr>
          <a:xfrm xmlns:a="http://schemas.openxmlformats.org/drawingml/2006/main">
            <a:off x="6381750" y="1524000"/>
            <a:ext cx="5238750" cy="3714750"/>
          </a:xfrm>
          <a:prstGeom xmlns:a="http://schemas.openxmlformats.org/drawingml/2006/main" prst="roundRect">
            <a:avLst>
              <a:gd name="adj" fmla="val 2051"/>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10-right-accent">
            <a:extLst xmlns:a="http://schemas.openxmlformats.org/drawingml/2006/main">
              <a:ext uri="{FF2B5EF4-FFF2-40B4-BE49-F238E27FC236}">
                <a16:creationId xmlns:a16="http://schemas.microsoft.com/office/drawing/2014/main" id="{56921B8C-9F65-4A0A-B737-7FDE4793A163}"/>
              </a:ext>
            </a:extLst>
          </p:cNvPr>
          <p:cNvSpPr>
            <a:spLocks xmlns:a="http://schemas.openxmlformats.org/drawingml/2006/main" noGrp="1"/>
          </p:cNvSpPr>
          <p:nvPr/>
        </p:nvSpPr>
        <p:spPr>
          <a:xfrm xmlns:a="http://schemas.openxmlformats.org/drawingml/2006/main">
            <a:off x="6381750" y="1524000"/>
            <a:ext cx="66675" cy="3714750"/>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10-right-heading">
            <a:extLst xmlns:a="http://schemas.openxmlformats.org/drawingml/2006/main">
              <a:ext uri="{FF2B5EF4-FFF2-40B4-BE49-F238E27FC236}">
                <a16:creationId xmlns:a16="http://schemas.microsoft.com/office/drawing/2014/main" id="{087CB34F-CD67-4C50-8E56-26BC49F81F30}"/>
              </a:ext>
            </a:extLst>
          </p:cNvPr>
          <p:cNvSpPr>
            <a:spLocks xmlns:a="http://schemas.openxmlformats.org/drawingml/2006/main" noGrp="1"/>
          </p:cNvSpPr>
          <p:nvPr/>
        </p:nvSpPr>
        <p:spPr>
          <a:xfrm xmlns:a="http://schemas.openxmlformats.org/drawingml/2006/main">
            <a:off x="6591300" y="169545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Interpretation</a:t>
            </a:r>
          </a:p>
        </p:txBody>
      </p:sp>
      <p:sp>
        <p:nvSpPr>
          <p:cNvPr id="12" name="s10-right-body">
            <a:extLst xmlns:a="http://schemas.openxmlformats.org/drawingml/2006/main">
              <a:ext uri="{FF2B5EF4-FFF2-40B4-BE49-F238E27FC236}">
                <a16:creationId xmlns:a16="http://schemas.microsoft.com/office/drawing/2014/main" id="{8C171036-9E76-4733-BD4D-EB10CFC08118}"/>
              </a:ext>
            </a:extLst>
          </p:cNvPr>
          <p:cNvSpPr>
            <a:spLocks xmlns:a="http://schemas.openxmlformats.org/drawingml/2006/main" noGrp="1"/>
          </p:cNvSpPr>
          <p:nvPr/>
        </p:nvSpPr>
        <p:spPr>
          <a:xfrm xmlns:a="http://schemas.openxmlformats.org/drawingml/2006/main">
            <a:off x="6591300" y="2114550"/>
            <a:ext cx="4838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Versus baseline</a:t>
            </a:r>
          </a:p>
          <a:p xmlns:a="http://schemas.openxmlformats.org/drawingml/2006/main">
            <a:pPr algn="l">
              <a:buNone/>
              <a:defRPr sz="1613" b="0">
                <a:solidFill>
                  <a:srgbClr val="111827"/>
                </a:solidFill>
                <a:latin typeface="Aptos"/>
                <a:ea typeface="Aptos"/>
                <a:cs typeface="Aptos"/>
              </a:defRPr>
            </a:pPr>
            <a:r>
              <a:t>Positive in every energy region</a:t>
            </a: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
            </a:r>
          </a:p>
          <a:p xmlns:a="http://schemas.openxmlformats.org/drawingml/2006/main">
            <a:pPr algn="l">
              <a:buNone/>
              <a:defRPr sz="1613" b="0">
                <a:solidFill>
                  <a:srgbClr val="111827"/>
                </a:solidFill>
                <a:latin typeface="Aptos"/>
                <a:ea typeface="Aptos"/>
                <a:cs typeface="Aptos"/>
              </a:defRPr>
            </a:pPr>
            <a:r>
              <a:t>Versus top-four reference</a:t>
            </a: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Lower overall</a:t>
            </a:r>
          </a:p>
          <a:p xmlns:a="http://schemas.openxmlformats.org/drawingml/2006/main">
            <a:pPr algn="l">
              <a:buNone/>
              <a:defRPr sz="1613" b="0">
                <a:solidFill>
                  <a:srgbClr val="111827"/>
                </a:solidFill>
                <a:latin typeface="Aptos"/>
                <a:ea typeface="Aptos"/>
                <a:cs typeface="Aptos"/>
              </a:defRPr>
            </a:pPr>
            <a:r>
              <a:t/>
            </a:r>
            <a:endParaRPr sz="1613" b="0">
              <a:solidFill>
                <a:srgbClr val="111827"/>
              </a:solidFill>
              <a:latin typeface="Aptos"/>
              <a:ea typeface="Aptos"/>
              <a:cs typeface="Aptos"/>
            </a:endParaRP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High-energy difference</a:t>
            </a:r>
          </a:p>
          <a:p xmlns:a="http://schemas.openxmlformats.org/drawingml/2006/main">
            <a:pPr algn="l">
              <a:buNone/>
              <a:defRPr sz="1613" b="0">
                <a:solidFill>
                  <a:srgbClr val="111827"/>
                </a:solidFill>
                <a:latin typeface="Aptos"/>
                <a:ea typeface="Aptos"/>
                <a:cs typeface="Aptos"/>
              </a:defRPr>
            </a:pPr>
            <a:r>
              <a:t>Only +0.05 points</a:t>
            </a:r>
            <a:endParaRPr sz="1613" b="0">
              <a:solidFill>
                <a:srgbClr val="111827"/>
              </a:solidFill>
              <a:latin typeface="Aptos"/>
              <a:ea typeface="Aptos"/>
              <a:cs typeface="Aptos"/>
            </a:endParaRPr>
          </a:p>
        </p:txBody>
      </p:sp>
      <p:sp>
        <p:nvSpPr>
          <p:cNvPr id="13" name="s10-close">
            <a:extLst xmlns:a="http://schemas.openxmlformats.org/drawingml/2006/main">
              <a:ext uri="{FF2B5EF4-FFF2-40B4-BE49-F238E27FC236}">
                <a16:creationId xmlns:a16="http://schemas.microsoft.com/office/drawing/2014/main" id="{82DF2F76-66F8-42DC-BB0D-DAABBF038D9F}"/>
              </a:ext>
            </a:extLst>
          </p:cNvPr>
          <p:cNvSpPr>
            <a:spLocks xmlns:a="http://schemas.openxmlformats.org/drawingml/2006/main" noGrp="1"/>
          </p:cNvSpPr>
          <p:nvPr/>
        </p:nvSpPr>
        <p:spPr>
          <a:xfrm xmlns:a="http://schemas.openxmlformats.org/drawingml/2006/main">
            <a:off x="904875" y="5572125"/>
            <a:ext cx="10382250" cy="666750"/>
          </a:xfrm>
          <a:prstGeom xmlns:a="http://schemas.openxmlformats.org/drawingml/2006/main" prst="roundRect">
            <a:avLst>
              <a:gd name="adj" fmla="val 11429"/>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10-close-text">
            <a:extLst xmlns:a="http://schemas.openxmlformats.org/drawingml/2006/main">
              <a:ext uri="{FF2B5EF4-FFF2-40B4-BE49-F238E27FC236}">
                <a16:creationId xmlns:a16="http://schemas.microsoft.com/office/drawing/2014/main" id="{5CC741AF-CBDF-48AA-BCFB-C34CEC2A5946}"/>
              </a:ext>
            </a:extLst>
          </p:cNvPr>
          <p:cNvSpPr>
            <a:spLocks xmlns:a="http://schemas.openxmlformats.org/drawingml/2006/main" noGrp="1"/>
          </p:cNvSpPr>
          <p:nvPr/>
        </p:nvSpPr>
        <p:spPr>
          <a:xfrm xmlns:a="http://schemas.openxmlformats.org/drawingml/2006/main">
            <a:off x="1190625" y="57531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The feature added no complementary gain to the earlier reference model.</a:t>
            </a:r>
          </a:p>
        </p:txBody>
      </p:sp>
      <p:graphicFrame>
        <p:nvGraphicFramePr>
          <p:cNvPr id="152" name="member-shower-width-regions-v40"/>
          <p:cNvGraphicFramePr/>
          <p:nvPr/>
        </p:nvGraphicFramePr>
        <p:xfrm>
          <a:off xmlns:a="http://schemas.openxmlformats.org/drawingml/2006/main" x="762000" y="2571750"/>
          <a:ext xmlns:a="http://schemas.openxmlformats.org/drawingml/2006/main" cx="5286375" cy="2619375"/>
        </p:xfrm>
        <a:graphic xmlns:a="http://schemas.openxmlformats.org/drawingml/2006/main">
          <a:graphicData uri="http://schemas.openxmlformats.org/drawingml/2006/chart">
            <c:chart xmlns:r="http://schemas.openxmlformats.org/officeDocument/2006/relationships" xmlns:c="http://schemas.openxmlformats.org/drawingml/2006/chart" r:id="R44148015640541ae"/>
          </a:graphicData>
        </a:graphic>
      </p:graphicFrame>
    </p:spTree>
    <p:extLst>
      <p:ext uri="{BB962C8B-B14F-4D97-AF65-F5344CB8AC3E}">
        <p14:creationId xmlns:p14="http://schemas.microsoft.com/office/powerpoint/2010/main" val="83238599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FROZEN FINAL-EVALUATION CANDIDATE</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The all-finite candidate is now frozen</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45</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Earlier top-four reference</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Keep four TOBs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Score at most six pairs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44.57% signal</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Selected all-finite method</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Keep every finite TOB</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Score every unordered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47.24% signal</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Same background limit</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124 / 24,835 events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0.4993% FPR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+2.67 percentage points</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Frozen reporting rule</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457"/>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No prediction ensemble. Report each seed separately, then the arithmetic mean and seed spread.</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Epochs 17, 18 and 20 and all seed-specific thresholds are locked before final evaluation.</a:t>
            </a:r>
          </a:p>
        </p:txBody>
      </p:sp>
    </p:spTree>
    <p:extLst>
      <p:ext uri="{BB962C8B-B14F-4D97-AF65-F5344CB8AC3E}">
        <p14:creationId xmlns:p14="http://schemas.microsoft.com/office/powerpoint/2010/main" val="196784276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CONTROLLED ARCHITECTURE TESTS</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609"/>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More complex pair combination did not improve the parent</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46</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Ordered shared parent</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Shared member encoders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Ordered pair head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44.57%</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Symmetric fusion</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Exchange-invariant combination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44.24%</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No promotion</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Whole-pair MLP</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One flat network over the pair</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42.48%</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No promotion</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Conclusion</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079"/>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The later gain came from the pair population and event-balanced training, not a more complex pair-combining network.</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The retained ordered architecture is reused by the 47.24% all-finite leader.</a:t>
            </a:r>
          </a:p>
        </p:txBody>
      </p:sp>
    </p:spTree>
    <p:extLst>
      <p:ext uri="{BB962C8B-B14F-4D97-AF65-F5344CB8AC3E}">
        <p14:creationId xmlns:p14="http://schemas.microsoft.com/office/powerpoint/2010/main" val="196784276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tatus-8">
            <a:extLst xmlns:a="http://schemas.openxmlformats.org/drawingml/2006/main">
              <a:ext uri="{FF2B5EF4-FFF2-40B4-BE49-F238E27FC236}">
                <a16:creationId xmlns:a16="http://schemas.microsoft.com/office/drawing/2014/main" id="{88F7488A-4FB0-468D-8866-E72E295BB32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B42318"/>
                </a:solidFill>
                <a:latin typeface="Aptos"/>
                <a:ea typeface="Aptos"/>
                <a:cs typeface="Aptos"/>
              </a:defRPr>
            </a:pPr>
            <a:r>
              <a:rPr sz="1125" b="1">
                <a:solidFill>
                  <a:srgbClr val="B42318"/>
                </a:solidFill>
                <a:latin typeface="Aptos"/>
                <a:ea typeface="Aptos"/>
                <a:cs typeface="Aptos"/>
              </a:rPr>
              <a:t>LATER ENGINEERING STEP</a:t>
            </a:r>
          </a:p>
        </p:txBody>
      </p:sp>
      <p:sp>
        <p:nvSpPr>
          <p:cNvPr id="2" name="title-8">
            <a:extLst xmlns:a="http://schemas.openxmlformats.org/drawingml/2006/main">
              <a:ext uri="{FF2B5EF4-FFF2-40B4-BE49-F238E27FC236}">
                <a16:creationId xmlns:a16="http://schemas.microsoft.com/office/drawing/2014/main" id="{4422802B-6306-413E-BB83-45679055D7A6}"/>
              </a:ext>
            </a:extLst>
          </p:cNvPr>
          <p:cNvSpPr>
            <a:spLocks xmlns:a="http://schemas.openxmlformats.org/drawingml/2006/main" noGrp="1"/>
          </p:cNvSpPr>
          <p:nvPr/>
        </p:nvSpPr>
        <p:spPr>
          <a:xfrm xmlns:a="http://schemas.openxmlformats.org/drawingml/2006/main">
            <a:off x="514350" y="514350"/>
            <a:ext cx="11163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432"/>
          </a:bodyPr>
          <a:lstStyle xmlns:a="http://schemas.openxmlformats.org/drawingml/2006/main"/>
          <a:p xmlns:a="http://schemas.openxmlformats.org/drawingml/2006/main">
            <a:pPr algn="l">
              <a:buNone/>
              <a:defRPr sz="3600" b="1">
                <a:solidFill>
                  <a:srgbClr val="111827"/>
                </a:solidFill>
                <a:latin typeface="Aptos"/>
                <a:ea typeface="Aptos"/>
                <a:cs typeface="Aptos"/>
              </a:defRPr>
            </a:pPr>
            <a:r>
              <a:rPr sz="3600" b="1">
                <a:solidFill>
                  <a:srgbClr val="111827"/>
                </a:solidFill>
                <a:latin typeface="Aptos"/>
                <a:ea typeface="Aptos"/>
                <a:cs typeface="Aptos"/>
              </a:rPr>
              <a:t>Assess hardware after the scientific model is selected</a:t>
            </a:r>
          </a:p>
        </p:txBody>
      </p:sp>
      <p:cxnSp>
        <p:nvCxnSpPr>
          <p:cNvPr id="131" name="header-rule-8"/>
          <p:cNvCxnSpPr/>
          <p:nvPr/>
        </p:nvCxnSpPr>
        <p:spPr>
          <a:xfrm xmlns:a="http://schemas.openxmlformats.org/drawingml/2006/main">
            <a:off x="514350" y="1228725"/>
            <a:ext cx="11163300" cy="0"/>
          </a:xfrm>
          <a:prstGeom xmlns:a="http://schemas.openxmlformats.org/drawingml/2006/main" prst="straightConnector1">
            <a:avLst/>
          </a:prstGeom>
          <a:ln xmlns:a="http://schemas.openxmlformats.org/drawingml/2006/main" w="9525">
            <a:solidFill>
              <a:srgbClr val="D7DDE5"/>
            </a:solidFill>
            <a:prstDash val="solid"/>
          </a:ln>
        </p:spPr>
      </p:cxnSp>
      <p:sp>
        <p:nvSpPr>
          <p:cNvPr id="4" name="footer-8">
            <a:extLst xmlns:a="http://schemas.openxmlformats.org/drawingml/2006/main">
              <a:ext uri="{FF2B5EF4-FFF2-40B4-BE49-F238E27FC236}">
                <a16:creationId xmlns:a16="http://schemas.microsoft.com/office/drawing/2014/main" id="{6A99E4B4-C6E6-48B9-949C-0B64EAC0C9D0}"/>
              </a:ext>
            </a:extLst>
          </p:cNvPr>
          <p:cNvSpPr>
            <a:spLocks xmlns:a="http://schemas.openxmlformats.org/drawingml/2006/main" noGrp="1"/>
          </p:cNvSpPr>
          <p:nvPr/>
        </p:nvSpPr>
        <p:spPr>
          <a:xfrm xmlns:a="http://schemas.openxmlformats.org/drawingml/2006/main">
            <a:off x="1122045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buNone/>
              <a:defRPr sz="1050" b="0">
                <a:solidFill>
                  <a:srgbClr val="5B6472"/>
                </a:solidFill>
                <a:latin typeface="Aptos"/>
                <a:ea typeface="Aptos"/>
                <a:cs typeface="Aptos"/>
              </a:defRPr>
            </a:pPr>
            <a:r>
              <a:rPr sz="1050" b="0">
                <a:solidFill>
                  <a:srgbClr val="5B6472"/>
                </a:solidFill>
                <a:latin typeface="Aptos"/>
                <a:ea typeface="Aptos"/>
                <a:cs typeface="Aptos"/>
              </a:rPr>
              <a:t>47</a:t>
            </a:r>
          </a:p>
        </p:txBody>
      </p:sp>
      <p:sp>
        <p:nvSpPr>
          <p:cNvPr id="5" name="s8-base-box">
            <a:extLst xmlns:a="http://schemas.openxmlformats.org/drawingml/2006/main">
              <a:ext uri="{FF2B5EF4-FFF2-40B4-BE49-F238E27FC236}">
                <a16:creationId xmlns:a16="http://schemas.microsoft.com/office/drawing/2014/main" id="{924153E2-8309-4779-8AE0-D19AE1316CBE}"/>
              </a:ext>
            </a:extLst>
          </p:cNvPr>
          <p:cNvSpPr>
            <a:spLocks xmlns:a="http://schemas.openxmlformats.org/drawingml/2006/main" noGrp="1"/>
          </p:cNvSpPr>
          <p:nvPr/>
        </p:nvSpPr>
        <p:spPr>
          <a:xfrm xmlns:a="http://schemas.openxmlformats.org/drawingml/2006/main">
            <a:off x="571500" y="1476375"/>
            <a:ext cx="3333750" cy="3000375"/>
          </a:xfrm>
          <a:prstGeom xmlns:a="http://schemas.openxmlformats.org/drawingml/2006/main" prst="roundRect">
            <a:avLst>
              <a:gd name="adj" fmla="val 2540"/>
            </a:avLst>
          </a:prstGeom>
          <a:solidFill xmlns:a="http://schemas.openxmlformats.org/drawingml/2006/main">
            <a:srgbClr val="F4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8-base-accent">
            <a:extLst xmlns:a="http://schemas.openxmlformats.org/drawingml/2006/main">
              <a:ext uri="{FF2B5EF4-FFF2-40B4-BE49-F238E27FC236}">
                <a16:creationId xmlns:a16="http://schemas.microsoft.com/office/drawing/2014/main" id="{9FEC6531-6732-4541-A4D2-EEBF16E4EA93}"/>
              </a:ext>
            </a:extLst>
          </p:cNvPr>
          <p:cNvSpPr>
            <a:spLocks xmlns:a="http://schemas.openxmlformats.org/drawingml/2006/main" noGrp="1"/>
          </p:cNvSpPr>
          <p:nvPr/>
        </p:nvSpPr>
        <p:spPr>
          <a:xfrm xmlns:a="http://schemas.openxmlformats.org/drawingml/2006/main">
            <a:off x="571500" y="1476375"/>
            <a:ext cx="66675" cy="3000375"/>
          </a:xfrm>
          <a:prstGeom xmlns:a="http://schemas.openxmlformats.org/drawingml/2006/main" prst="rect">
            <a:avLst/>
          </a:prstGeom>
          <a:solidFill xmlns:a="http://schemas.openxmlformats.org/drawingml/2006/main">
            <a:srgbClr val="5B6472"/>
          </a:solidFill>
          <a:ln xmlns:a="http://schemas.openxmlformats.org/drawingml/2006/main" w="9525">
            <a:solidFill>
              <a:srgbClr val="5B647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8-base-heading">
            <a:extLst xmlns:a="http://schemas.openxmlformats.org/drawingml/2006/main">
              <a:ext uri="{FF2B5EF4-FFF2-40B4-BE49-F238E27FC236}">
                <a16:creationId xmlns:a16="http://schemas.microsoft.com/office/drawing/2014/main" id="{1D046479-6721-4914-B44D-F9296716BBD9}"/>
              </a:ext>
            </a:extLst>
          </p:cNvPr>
          <p:cNvSpPr>
            <a:spLocks xmlns:a="http://schemas.openxmlformats.org/drawingml/2006/main" noGrp="1"/>
          </p:cNvSpPr>
          <p:nvPr/>
        </p:nvSpPr>
        <p:spPr>
          <a:xfrm xmlns:a="http://schemas.openxmlformats.org/drawingml/2006/main">
            <a:off x="78105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Current position</a:t>
            </a:r>
          </a:p>
        </p:txBody>
      </p:sp>
      <p:sp>
        <p:nvSpPr>
          <p:cNvPr id="8" name="s8-base-body">
            <a:extLst xmlns:a="http://schemas.openxmlformats.org/drawingml/2006/main">
              <a:ext uri="{FF2B5EF4-FFF2-40B4-BE49-F238E27FC236}">
                <a16:creationId xmlns:a16="http://schemas.microsoft.com/office/drawing/2014/main" id="{7468A1AB-BCE2-4886-979B-49395FC0D0F1}"/>
              </a:ext>
            </a:extLst>
          </p:cNvPr>
          <p:cNvSpPr>
            <a:spLocks xmlns:a="http://schemas.openxmlformats.org/drawingml/2006/main" noGrp="1"/>
          </p:cNvSpPr>
          <p:nvPr/>
        </p:nvSpPr>
        <p:spPr>
          <a:xfrm xmlns:a="http://schemas.openxmlformats.org/drawingml/2006/main">
            <a:off x="78105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No binding input, parameter, operation or latency limit has been provided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Scientific comparisons can proceed</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No candidate is rejected only for an assumed limit</a:t>
            </a:r>
          </a:p>
        </p:txBody>
      </p:sp>
      <p:sp>
        <p:nvSpPr>
          <p:cNvPr id="9" name="s8-nn-box">
            <a:extLst xmlns:a="http://schemas.openxmlformats.org/drawingml/2006/main">
              <a:ext uri="{FF2B5EF4-FFF2-40B4-BE49-F238E27FC236}">
                <a16:creationId xmlns:a16="http://schemas.microsoft.com/office/drawing/2014/main" id="{49C0CB99-BDCC-459B-A42A-9095DDD199F1}"/>
              </a:ext>
            </a:extLst>
          </p:cNvPr>
          <p:cNvSpPr>
            <a:spLocks xmlns:a="http://schemas.openxmlformats.org/drawingml/2006/main" noGrp="1"/>
          </p:cNvSpPr>
          <p:nvPr/>
        </p:nvSpPr>
        <p:spPr>
          <a:xfrm xmlns:a="http://schemas.openxmlformats.org/drawingml/2006/main">
            <a:off x="4429125" y="1476375"/>
            <a:ext cx="3333750" cy="3000375"/>
          </a:xfrm>
          <a:prstGeom xmlns:a="http://schemas.openxmlformats.org/drawingml/2006/main" prst="roundRect">
            <a:avLst>
              <a:gd name="adj" fmla="val 2540"/>
            </a:avLst>
          </a:prstGeom>
          <a:solidFill xmlns:a="http://schemas.openxmlformats.org/drawingml/2006/main">
            <a:srgbClr val="EAF1FF"/>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8-nn-accent">
            <a:extLst xmlns:a="http://schemas.openxmlformats.org/drawingml/2006/main">
              <a:ext uri="{FF2B5EF4-FFF2-40B4-BE49-F238E27FC236}">
                <a16:creationId xmlns:a16="http://schemas.microsoft.com/office/drawing/2014/main" id="{DB677189-9D0D-45FD-8A8E-73C691D24FDB}"/>
              </a:ext>
            </a:extLst>
          </p:cNvPr>
          <p:cNvSpPr>
            <a:spLocks xmlns:a="http://schemas.openxmlformats.org/drawingml/2006/main" noGrp="1"/>
          </p:cNvSpPr>
          <p:nvPr/>
        </p:nvSpPr>
        <p:spPr>
          <a:xfrm xmlns:a="http://schemas.openxmlformats.org/drawingml/2006/main">
            <a:off x="4429125" y="1476375"/>
            <a:ext cx="66675" cy="300037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8-nn-heading">
            <a:extLst xmlns:a="http://schemas.openxmlformats.org/drawingml/2006/main">
              <a:ext uri="{FF2B5EF4-FFF2-40B4-BE49-F238E27FC236}">
                <a16:creationId xmlns:a16="http://schemas.microsoft.com/office/drawing/2014/main" id="{2FC2464A-CE2A-4719-A337-ACB598F5085B}"/>
              </a:ext>
            </a:extLst>
          </p:cNvPr>
          <p:cNvSpPr>
            <a:spLocks xmlns:a="http://schemas.openxmlformats.org/drawingml/2006/main" noGrp="1"/>
          </p:cNvSpPr>
          <p:nvPr/>
        </p:nvSpPr>
        <p:spPr>
          <a:xfrm xmlns:a="http://schemas.openxmlformats.org/drawingml/2006/main">
            <a:off x="4638675"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What we still record</a:t>
            </a:r>
          </a:p>
        </p:txBody>
      </p:sp>
      <p:sp>
        <p:nvSpPr>
          <p:cNvPr id="12" name="s8-nn-body">
            <a:extLst xmlns:a="http://schemas.openxmlformats.org/drawingml/2006/main">
              <a:ext uri="{FF2B5EF4-FFF2-40B4-BE49-F238E27FC236}">
                <a16:creationId xmlns:a16="http://schemas.microsoft.com/office/drawing/2014/main" id="{F5650C65-EBAE-4F4C-BE73-DD9F364DA5DB}"/>
              </a:ext>
            </a:extLst>
          </p:cNvPr>
          <p:cNvSpPr>
            <a:spLocks xmlns:a="http://schemas.openxmlformats.org/drawingml/2006/main" noGrp="1"/>
          </p:cNvSpPr>
          <p:nvPr/>
        </p:nvSpPr>
        <p:spPr>
          <a:xfrm xmlns:a="http://schemas.openxmlformats.org/drawingml/2006/main">
            <a:off x="4638675"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Input dimension</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Parameter count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Approximate multiplications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Four-TOB encoder cost</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Six pair evaluations and aggregation</a:t>
            </a:r>
          </a:p>
        </p:txBody>
      </p:sp>
      <p:sp>
        <p:nvSpPr>
          <p:cNvPr id="13" name="s8-pair-box">
            <a:extLst xmlns:a="http://schemas.openxmlformats.org/drawingml/2006/main">
              <a:ext uri="{FF2B5EF4-FFF2-40B4-BE49-F238E27FC236}">
                <a16:creationId xmlns:a16="http://schemas.microsoft.com/office/drawing/2014/main" id="{0B492413-2947-4611-9513-F33EB45628E7}"/>
              </a:ext>
            </a:extLst>
          </p:cNvPr>
          <p:cNvSpPr>
            <a:spLocks xmlns:a="http://schemas.openxmlformats.org/drawingml/2006/main" noGrp="1"/>
          </p:cNvSpPr>
          <p:nvPr/>
        </p:nvSpPr>
        <p:spPr>
          <a:xfrm xmlns:a="http://schemas.openxmlformats.org/drawingml/2006/main">
            <a:off x="8286750" y="1476375"/>
            <a:ext cx="3333750" cy="3000375"/>
          </a:xfrm>
          <a:prstGeom xmlns:a="http://schemas.openxmlformats.org/drawingml/2006/main" prst="roundRect">
            <a:avLst>
              <a:gd name="adj" fmla="val 2540"/>
            </a:avLst>
          </a:prstGeom>
          <a:solidFill xmlns:a="http://schemas.openxmlformats.org/drawingml/2006/main">
            <a:srgbClr val="E6F7FA"/>
          </a:solidFill>
          <a:ln xmlns:a="http://schemas.openxmlformats.org/drawingml/2006/main" w="9525">
            <a:solidFill>
              <a:srgbClr val="D7DDE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8-pair-accent">
            <a:extLst xmlns:a="http://schemas.openxmlformats.org/drawingml/2006/main">
              <a:ext uri="{FF2B5EF4-FFF2-40B4-BE49-F238E27FC236}">
                <a16:creationId xmlns:a16="http://schemas.microsoft.com/office/drawing/2014/main" id="{1BC1927F-EA9F-4F30-958E-A6C76C0DE3EB}"/>
              </a:ext>
            </a:extLst>
          </p:cNvPr>
          <p:cNvSpPr>
            <a:spLocks xmlns:a="http://schemas.openxmlformats.org/drawingml/2006/main" noGrp="1"/>
          </p:cNvSpPr>
          <p:nvPr/>
        </p:nvSpPr>
        <p:spPr>
          <a:xfrm xmlns:a="http://schemas.openxmlformats.org/drawingml/2006/main">
            <a:off x="8286750" y="1476375"/>
            <a:ext cx="66675" cy="3000375"/>
          </a:xfrm>
          <a:prstGeom xmlns:a="http://schemas.openxmlformats.org/drawingml/2006/main" prst="rect">
            <a:avLst/>
          </a:prstGeom>
          <a:solidFill xmlns:a="http://schemas.openxmlformats.org/drawingml/2006/main">
            <a:srgbClr val="0E7490"/>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8-pair-heading">
            <a:extLst xmlns:a="http://schemas.openxmlformats.org/drawingml/2006/main">
              <a:ext uri="{FF2B5EF4-FFF2-40B4-BE49-F238E27FC236}">
                <a16:creationId xmlns:a16="http://schemas.microsoft.com/office/drawing/2014/main" id="{64EDDCC8-CA08-411B-A80B-BB6903ADFD76}"/>
              </a:ext>
            </a:extLst>
          </p:cNvPr>
          <p:cNvSpPr>
            <a:spLocks xmlns:a="http://schemas.openxmlformats.org/drawingml/2006/main" noGrp="1"/>
          </p:cNvSpPr>
          <p:nvPr/>
        </p:nvSpPr>
        <p:spPr>
          <a:xfrm xmlns:a="http://schemas.openxmlformats.org/drawingml/2006/main">
            <a:off x="8496300" y="16478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827"/>
                </a:solidFill>
                <a:latin typeface="Aptos"/>
                <a:ea typeface="Aptos"/>
                <a:cs typeface="Aptos"/>
              </a:defRPr>
            </a:pPr>
            <a:r>
              <a:rPr sz="1875" b="1">
                <a:solidFill>
                  <a:srgbClr val="111827"/>
                </a:solidFill>
                <a:latin typeface="Aptos"/>
                <a:ea typeface="Aptos"/>
                <a:cs typeface="Aptos"/>
              </a:rPr>
              <a:t>When limits arrive</a:t>
            </a:r>
          </a:p>
        </p:txBody>
      </p:sp>
      <p:sp>
        <p:nvSpPr>
          <p:cNvPr id="16" name="s8-pair-body">
            <a:extLst xmlns:a="http://schemas.openxmlformats.org/drawingml/2006/main">
              <a:ext uri="{FF2B5EF4-FFF2-40B4-BE49-F238E27FC236}">
                <a16:creationId xmlns:a16="http://schemas.microsoft.com/office/drawing/2014/main" id="{65956C2D-0897-46F4-84A0-06020C9962CA}"/>
              </a:ext>
            </a:extLst>
          </p:cNvPr>
          <p:cNvSpPr>
            <a:spLocks xmlns:a="http://schemas.openxmlformats.org/drawingml/2006/main" noGrp="1"/>
          </p:cNvSpPr>
          <p:nvPr/>
        </p:nvSpPr>
        <p:spPr>
          <a:xfrm xmlns:a="http://schemas.openxmlformats.org/drawingml/2006/main">
            <a:off x="8496300" y="2066925"/>
            <a:ext cx="2933700" cy="2276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Assess firmware feasibility</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Compress or quantize promising models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Measure latency and resources</a:t>
            </a:r>
          </a:p>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Retest retained candidates fairly</a:t>
            </a:r>
          </a:p>
        </p:txBody>
      </p:sp>
      <p:sp>
        <p:nvSpPr>
          <p:cNvPr id="17" name="s8-band">
            <a:extLst xmlns:a="http://schemas.openxmlformats.org/drawingml/2006/main">
              <a:ext uri="{FF2B5EF4-FFF2-40B4-BE49-F238E27FC236}">
                <a16:creationId xmlns:a16="http://schemas.microsoft.com/office/drawing/2014/main" id="{2F93FF50-DDD7-414D-A2F1-C75295EC78C0}"/>
              </a:ext>
            </a:extLst>
          </p:cNvPr>
          <p:cNvSpPr>
            <a:spLocks xmlns:a="http://schemas.openxmlformats.org/drawingml/2006/main" noGrp="1"/>
          </p:cNvSpPr>
          <p:nvPr/>
        </p:nvSpPr>
        <p:spPr>
          <a:xfrm xmlns:a="http://schemas.openxmlformats.org/drawingml/2006/main">
            <a:off x="571500" y="4857750"/>
            <a:ext cx="11049000" cy="1123950"/>
          </a:xfrm>
          <a:prstGeom xmlns:a="http://schemas.openxmlformats.org/drawingml/2006/main" prst="roundRect">
            <a:avLst>
              <a:gd name="adj" fmla="val 6780"/>
            </a:avLst>
          </a:prstGeom>
          <a:solidFill xmlns:a="http://schemas.openxmlformats.org/drawingml/2006/main">
            <a:srgbClr val="EAF1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8-band-head">
            <a:extLst xmlns:a="http://schemas.openxmlformats.org/drawingml/2006/main">
              <a:ext uri="{FF2B5EF4-FFF2-40B4-BE49-F238E27FC236}">
                <a16:creationId xmlns:a16="http://schemas.microsoft.com/office/drawing/2014/main" id="{D154450D-2F39-44E4-8BA4-0D0A8FB8B404}"/>
              </a:ext>
            </a:extLst>
          </p:cNvPr>
          <p:cNvSpPr>
            <a:spLocks xmlns:a="http://schemas.openxmlformats.org/drawingml/2006/main" noGrp="1"/>
          </p:cNvSpPr>
          <p:nvPr/>
        </p:nvSpPr>
        <p:spPr>
          <a:xfrm xmlns:a="http://schemas.openxmlformats.org/drawingml/2006/main">
            <a:off x="809625" y="5048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buNone/>
              <a:defRPr sz="1800" b="1">
                <a:solidFill>
                  <a:srgbClr val="2563EB"/>
                </a:solidFill>
                <a:latin typeface="Aptos"/>
                <a:ea typeface="Aptos"/>
                <a:cs typeface="Aptos"/>
              </a:defRPr>
            </a:pPr>
            <a:r>
              <a:rPr sz="1800" b="1">
                <a:solidFill>
                  <a:srgbClr val="2563EB"/>
                </a:solidFill>
                <a:latin typeface="Aptos"/>
                <a:ea typeface="Aptos"/>
                <a:cs typeface="Aptos"/>
              </a:rPr>
              <a:t>Final boundary</a:t>
            </a:r>
          </a:p>
        </p:txBody>
      </p:sp>
      <p:sp>
        <p:nvSpPr>
          <p:cNvPr id="19" name="s8-band-body">
            <a:extLst xmlns:a="http://schemas.openxmlformats.org/drawingml/2006/main">
              <a:ext uri="{FF2B5EF4-FFF2-40B4-BE49-F238E27FC236}">
                <a16:creationId xmlns:a16="http://schemas.microsoft.com/office/drawing/2014/main" id="{0C6DE7E9-6D05-434D-9511-60127BC0618E}"/>
              </a:ext>
            </a:extLst>
          </p:cNvPr>
          <p:cNvSpPr>
            <a:spLocks xmlns:a="http://schemas.openxmlformats.org/drawingml/2006/main" noGrp="1"/>
          </p:cNvSpPr>
          <p:nvPr/>
        </p:nvSpPr>
        <p:spPr>
          <a:xfrm xmlns:a="http://schemas.openxmlformats.org/drawingml/2006/main">
            <a:off x="3000375" y="50292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84"/>
          </a:bodyPr>
          <a:lstStyle xmlns:a="http://schemas.openxmlformats.org/drawingml/2006/main"/>
          <a:p xmlns:a="http://schemas.openxmlformats.org/drawingml/2006/main">
            <a:pPr algn="l">
              <a:buNone/>
              <a:defRPr sz="1650" b="1">
                <a:solidFill>
                  <a:srgbClr val="111827"/>
                </a:solidFill>
                <a:latin typeface="Aptos"/>
                <a:ea typeface="Aptos"/>
                <a:cs typeface="Aptos"/>
              </a:defRPr>
            </a:pPr>
            <a:r>
              <a:rPr sz="1650" b="1">
                <a:solidFill>
                  <a:srgbClr val="111827"/>
                </a:solidFill>
                <a:latin typeface="Aptos"/>
                <a:ea typeface="Aptos"/>
                <a:cs typeface="Aptos"/>
              </a:rPr>
              <a:t>The study selects the best scientific pair model first, then assesses hardware feasibility using explicit limits.</a:t>
            </a:r>
          </a:p>
        </p:txBody>
      </p:sp>
      <p:sp>
        <p:nvSpPr>
          <p:cNvPr id="20" name="s8-thresh">
            <a:extLst xmlns:a="http://schemas.openxmlformats.org/drawingml/2006/main">
              <a:ext uri="{FF2B5EF4-FFF2-40B4-BE49-F238E27FC236}">
                <a16:creationId xmlns:a16="http://schemas.microsoft.com/office/drawing/2014/main" id="{1DAA0E41-C3FA-4690-BA71-C7A29D45E4C7}"/>
              </a:ext>
            </a:extLst>
          </p:cNvPr>
          <p:cNvSpPr>
            <a:spLocks xmlns:a="http://schemas.openxmlformats.org/drawingml/2006/main" noGrp="1"/>
          </p:cNvSpPr>
          <p:nvPr/>
        </p:nvSpPr>
        <p:spPr>
          <a:xfrm xmlns:a="http://schemas.openxmlformats.org/drawingml/2006/main">
            <a:off x="3000375" y="550545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45"/>
          </a:bodyPr>
          <a:lstStyle xmlns:a="http://schemas.openxmlformats.org/drawingml/2006/main"/>
          <a:p xmlns:a="http://schemas.openxmlformats.org/drawingml/2006/main">
            <a:pPr algn="l">
              <a:buNone/>
              <a:defRPr sz="1613" b="0">
                <a:solidFill>
                  <a:srgbClr val="111827"/>
                </a:solidFill>
                <a:latin typeface="Aptos"/>
                <a:ea typeface="Aptos"/>
                <a:cs typeface="Aptos"/>
              </a:defRPr>
            </a:pPr>
            <a:r>
              <a:rPr sz="1613" b="0">
                <a:solidFill>
                  <a:srgbClr val="111827"/>
                </a:solidFill>
                <a:latin typeface="Aptos"/>
                <a:ea typeface="Aptos"/>
                <a:cs typeface="Aptos"/>
              </a:rPr>
              <a:t>First establish the scientific result; then optimize against explicit hardware limits.</a:t>
            </a:r>
          </a:p>
        </p:txBody>
      </p:sp>
    </p:spTree>
    <p:extLst>
      <p:ext uri="{BB962C8B-B14F-4D97-AF65-F5344CB8AC3E}">
        <p14:creationId xmlns:p14="http://schemas.microsoft.com/office/powerpoint/2010/main" val="19678427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2026-09-16T18:39:04.7570000Z</dcterms:created>
  <dcterms:modified xsi:type="dcterms:W3CDTF">2026-09-16T18:39:04.7570000Z</dcterms:modified>
</coreProperties>
</file>